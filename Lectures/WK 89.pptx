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3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32" r:id="rId2"/>
    <p:sldMasterId id="2147483724" r:id="rId3"/>
    <p:sldMasterId id="2147483716" r:id="rId4"/>
    <p:sldMasterId id="2147483755" r:id="rId5"/>
  </p:sldMasterIdLst>
  <p:notesMasterIdLst>
    <p:notesMasterId r:id="rId82"/>
  </p:notesMasterIdLst>
  <p:sldIdLst>
    <p:sldId id="256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2" r:id="rId47"/>
    <p:sldId id="343" r:id="rId48"/>
    <p:sldId id="344" r:id="rId49"/>
    <p:sldId id="345" r:id="rId50"/>
    <p:sldId id="346" r:id="rId51"/>
    <p:sldId id="347" r:id="rId52"/>
    <p:sldId id="348" r:id="rId53"/>
    <p:sldId id="349" r:id="rId54"/>
    <p:sldId id="350" r:id="rId55"/>
    <p:sldId id="351" r:id="rId56"/>
    <p:sldId id="352" r:id="rId57"/>
    <p:sldId id="353" r:id="rId58"/>
    <p:sldId id="354" r:id="rId59"/>
    <p:sldId id="355" r:id="rId60"/>
    <p:sldId id="356" r:id="rId61"/>
    <p:sldId id="357" r:id="rId62"/>
    <p:sldId id="358" r:id="rId63"/>
    <p:sldId id="359" r:id="rId64"/>
    <p:sldId id="360" r:id="rId65"/>
    <p:sldId id="361" r:id="rId66"/>
    <p:sldId id="362" r:id="rId67"/>
    <p:sldId id="363" r:id="rId68"/>
    <p:sldId id="364" r:id="rId69"/>
    <p:sldId id="365" r:id="rId70"/>
    <p:sldId id="366" r:id="rId71"/>
    <p:sldId id="367" r:id="rId72"/>
    <p:sldId id="368" r:id="rId73"/>
    <p:sldId id="369" r:id="rId74"/>
    <p:sldId id="370" r:id="rId75"/>
    <p:sldId id="371" r:id="rId76"/>
    <p:sldId id="372" r:id="rId77"/>
    <p:sldId id="373" r:id="rId78"/>
    <p:sldId id="374" r:id="rId79"/>
    <p:sldId id="375" r:id="rId80"/>
    <p:sldId id="273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55F"/>
    <a:srgbClr val="777777"/>
    <a:srgbClr val="666699"/>
    <a:srgbClr val="C0C0C0"/>
    <a:srgbClr val="66FFCC"/>
    <a:srgbClr val="99FFCC"/>
    <a:srgbClr val="7F9BB2"/>
    <a:srgbClr val="00CC66"/>
    <a:srgbClr val="404040"/>
    <a:srgbClr val="E78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877" autoAdjust="0"/>
    <p:restoredTop sz="92173" autoAdjust="0"/>
  </p:normalViewPr>
  <p:slideViewPr>
    <p:cSldViewPr snapToGrid="0">
      <p:cViewPr varScale="1">
        <p:scale>
          <a:sx n="64" d="100"/>
          <a:sy n="64" d="100"/>
        </p:scale>
        <p:origin x="32" y="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viewProps" Target="viewProps.xml"/><Relationship Id="rId89" Type="http://schemas.openxmlformats.org/officeDocument/2006/relationships/customXml" Target="../customXml/item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5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presProps" Target="presProps.xml"/><Relationship Id="rId88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customXml" Target="../customXml/item1.xml"/><Relationship Id="rId61" Type="http://schemas.openxmlformats.org/officeDocument/2006/relationships/slide" Target="slides/slide56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6" name="Shape 1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" name="Shape 15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4" name="Shape 16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3" name="Shape 2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8" name="Shape 23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7" name="Shape 2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9" name="Shape 25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5" name="Shape 2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1" name="Shape 2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7" name="Shape 2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2" name="Shape 2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7" name="Shape 2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2" name="Shape 2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8" name="Shape 2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3" name="Shape 30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8" name="Shape 3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4" name="Shape 31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0" name="Shape 3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5" name="Shape 3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0" name="Shape 35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5" name="Shape 3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1" name="Shape 3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8" name="Shape 4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a test of the boundary conditions on the loop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42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1" name="Shape 42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 of functions hiding previous work to simplify code should be introduced here.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B20B9-A0AD-4C29-9EAD-90052B40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3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4033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4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8673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3972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4985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B20B9-A0AD-4C29-9EAD-90052B40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96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69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70633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733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736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9929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47255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B20B9-A0AD-4C29-9EAD-90052B40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844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800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170" y="365126"/>
            <a:ext cx="8713630" cy="1040342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72873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3048" y="365125"/>
            <a:ext cx="8702339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17634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79718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42538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07590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FB20B9-A0AD-4C29-9EAD-90052B40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01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190625" y="1151930"/>
            <a:ext cx="9810750" cy="2321719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90625" y="3536156"/>
            <a:ext cx="9810750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531"/>
            </a:lvl1pPr>
            <a:lvl2pPr marL="0" indent="0" algn="ctr">
              <a:spcBef>
                <a:spcPts val="0"/>
              </a:spcBef>
              <a:buSzTx/>
              <a:buNone/>
              <a:defRPr sz="2531"/>
            </a:lvl2pPr>
            <a:lvl3pPr marL="0" indent="0" algn="ctr">
              <a:spcBef>
                <a:spcPts val="0"/>
              </a:spcBef>
              <a:buSzTx/>
              <a:buNone/>
              <a:defRPr sz="2531"/>
            </a:lvl3pPr>
            <a:lvl4pPr marL="0" indent="0" algn="ctr">
              <a:spcBef>
                <a:spcPts val="0"/>
              </a:spcBef>
              <a:buSzTx/>
              <a:buNone/>
              <a:defRPr sz="2531"/>
            </a:lvl4pPr>
            <a:lvl5pPr marL="0" indent="0" algn="ctr">
              <a:spcBef>
                <a:spcPts val="0"/>
              </a:spcBef>
              <a:buSzTx/>
              <a:buNone/>
              <a:defRPr sz="253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1821888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1946672"/>
            <a:ext cx="9810750" cy="4018359"/>
          </a:xfrm>
          <a:prstGeom prst="rect">
            <a:avLst/>
          </a:prstGeom>
        </p:spPr>
        <p:txBody>
          <a:bodyPr/>
          <a:lstStyle>
            <a:lvl1pPr>
              <a:spcBef>
                <a:spcPts val="1687"/>
              </a:spcBef>
            </a:lvl1pPr>
            <a:lvl2pPr>
              <a:spcBef>
                <a:spcPts val="1687"/>
              </a:spcBef>
            </a:lvl2pPr>
            <a:lvl3pPr>
              <a:spcBef>
                <a:spcPts val="1687"/>
              </a:spcBef>
            </a:lvl3pPr>
            <a:lvl4pPr>
              <a:spcBef>
                <a:spcPts val="1687"/>
              </a:spcBef>
            </a:lvl4pPr>
            <a:lvl5pPr>
              <a:spcBef>
                <a:spcPts val="1687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369938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1946672"/>
            <a:ext cx="9810750" cy="4018359"/>
          </a:xfrm>
          <a:prstGeom prst="rect">
            <a:avLst/>
          </a:prstGeom>
        </p:spPr>
        <p:txBody>
          <a:bodyPr numCol="2" spcCol="523240" anchor="t"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8772010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55454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3476910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623026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1190625" y="2089547"/>
            <a:ext cx="9810750" cy="267890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560679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Image"/>
          <p:cNvSpPr>
            <a:spLocks noGrp="1"/>
          </p:cNvSpPr>
          <p:nvPr>
            <p:ph type="pic" sz="half" idx="21"/>
          </p:nvPr>
        </p:nvSpPr>
        <p:spPr>
          <a:xfrm>
            <a:off x="2286000" y="1151930"/>
            <a:ext cx="7620000" cy="3545301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xfrm>
            <a:off x="1190625" y="5179219"/>
            <a:ext cx="9810750" cy="119657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5679382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Image"/>
          <p:cNvSpPr>
            <a:spLocks noGrp="1"/>
          </p:cNvSpPr>
          <p:nvPr>
            <p:ph type="pic" sz="half" idx="21"/>
          </p:nvPr>
        </p:nvSpPr>
        <p:spPr>
          <a:xfrm>
            <a:off x="2286000" y="1151930"/>
            <a:ext cx="7620000" cy="3545301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79" name="Title Text"/>
          <p:cNvSpPr txBox="1">
            <a:spLocks noGrp="1"/>
          </p:cNvSpPr>
          <p:nvPr>
            <p:ph type="title"/>
          </p:nvPr>
        </p:nvSpPr>
        <p:spPr>
          <a:xfrm>
            <a:off x="1190625" y="5179219"/>
            <a:ext cx="9810750" cy="119657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731242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Image"/>
          <p:cNvSpPr>
            <a:spLocks noGrp="1"/>
          </p:cNvSpPr>
          <p:nvPr>
            <p:ph type="pic" sz="half" idx="21"/>
          </p:nvPr>
        </p:nvSpPr>
        <p:spPr>
          <a:xfrm>
            <a:off x="6679406" y="1134070"/>
            <a:ext cx="3952875" cy="4449897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595312" y="991195"/>
            <a:ext cx="5500688" cy="2321719"/>
          </a:xfrm>
          <a:prstGeom prst="rect">
            <a:avLst/>
          </a:prstGeom>
        </p:spPr>
        <p:txBody>
          <a:bodyPr anchor="b"/>
          <a:lstStyle>
            <a:lvl1pPr>
              <a:defRPr sz="4922"/>
            </a:lvl1pPr>
          </a:lstStyle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95312" y="3366492"/>
            <a:ext cx="5500688" cy="232171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391"/>
            </a:lvl1pPr>
            <a:lvl2pPr marL="0" indent="0" algn="ctr">
              <a:spcBef>
                <a:spcPts val="0"/>
              </a:spcBef>
              <a:buSzTx/>
              <a:buNone/>
              <a:defRPr sz="2391"/>
            </a:lvl2pPr>
            <a:lvl3pPr marL="0" indent="0" algn="ctr">
              <a:spcBef>
                <a:spcPts val="0"/>
              </a:spcBef>
              <a:buSzTx/>
              <a:buNone/>
              <a:defRPr sz="2391"/>
            </a:lvl3pPr>
            <a:lvl4pPr marL="0" indent="0" algn="ctr">
              <a:spcBef>
                <a:spcPts val="0"/>
              </a:spcBef>
              <a:buSzTx/>
              <a:buNone/>
              <a:defRPr sz="2391"/>
            </a:lvl4pPr>
            <a:lvl5pPr marL="0" indent="0" algn="ctr">
              <a:spcBef>
                <a:spcPts val="0"/>
              </a:spcBef>
              <a:buSzTx/>
              <a:buNone/>
              <a:defRPr sz="239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5107223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Image"/>
          <p:cNvSpPr>
            <a:spLocks noGrp="1"/>
          </p:cNvSpPr>
          <p:nvPr>
            <p:ph type="pic" sz="half" idx="21"/>
          </p:nvPr>
        </p:nvSpPr>
        <p:spPr>
          <a:xfrm>
            <a:off x="6679406" y="1134070"/>
            <a:ext cx="3952875" cy="4449897"/>
          </a:xfrm>
          <a:prstGeom prst="rect">
            <a:avLst/>
          </a:prstGeom>
          <a:ln w="25400"/>
          <a:effectLst>
            <a:reflection stA="50000" endPos="40000" dir="5400000" sy="-100000" algn="bl" rotWithShape="0"/>
          </a:effectLst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595312" y="991195"/>
            <a:ext cx="5500688" cy="2321719"/>
          </a:xfrm>
          <a:prstGeom prst="rect">
            <a:avLst/>
          </a:prstGeom>
        </p:spPr>
        <p:txBody>
          <a:bodyPr anchor="b"/>
          <a:lstStyle>
            <a:lvl1pPr>
              <a:defRPr sz="4922"/>
            </a:lvl1pPr>
          </a:lstStyle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95312" y="3366492"/>
            <a:ext cx="5500688" cy="232171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391"/>
            </a:lvl1pPr>
            <a:lvl2pPr marL="0" indent="0" algn="ctr">
              <a:spcBef>
                <a:spcPts val="0"/>
              </a:spcBef>
              <a:buSzTx/>
              <a:buNone/>
              <a:defRPr sz="2391"/>
            </a:lvl2pPr>
            <a:lvl3pPr marL="0" indent="0" algn="ctr">
              <a:spcBef>
                <a:spcPts val="0"/>
              </a:spcBef>
              <a:buSzTx/>
              <a:buNone/>
              <a:defRPr sz="2391"/>
            </a:lvl3pPr>
            <a:lvl4pPr marL="0" indent="0" algn="ctr">
              <a:spcBef>
                <a:spcPts val="0"/>
              </a:spcBef>
              <a:buSzTx/>
              <a:buNone/>
              <a:defRPr sz="2391"/>
            </a:lvl4pPr>
            <a:lvl5pPr marL="0" indent="0" algn="ctr">
              <a:spcBef>
                <a:spcPts val="0"/>
              </a:spcBef>
              <a:buSzTx/>
              <a:buNone/>
              <a:defRPr sz="239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914299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Image"/>
          <p:cNvSpPr>
            <a:spLocks noGrp="1"/>
          </p:cNvSpPr>
          <p:nvPr>
            <p:ph type="pic" sz="quarter" idx="21"/>
          </p:nvPr>
        </p:nvSpPr>
        <p:spPr>
          <a:xfrm>
            <a:off x="6727031" y="1785938"/>
            <a:ext cx="3845719" cy="4329267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endParaRPr/>
          </a:p>
        </p:txBody>
      </p: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90625" y="1946672"/>
            <a:ext cx="4726781" cy="4018359"/>
          </a:xfrm>
          <a:prstGeom prst="rect">
            <a:avLst/>
          </a:prstGeom>
        </p:spPr>
        <p:txBody>
          <a:bodyPr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4851340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190625" y="1946672"/>
            <a:ext cx="4726781" cy="4018359"/>
          </a:xfrm>
          <a:prstGeom prst="rect">
            <a:avLst/>
          </a:prstGeom>
        </p:spPr>
        <p:txBody>
          <a:bodyPr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631381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86625" y="1946672"/>
            <a:ext cx="3714750" cy="4018359"/>
          </a:xfrm>
          <a:prstGeom prst="rect">
            <a:avLst/>
          </a:prstGeom>
        </p:spPr>
        <p:txBody>
          <a:bodyPr/>
          <a:lstStyle>
            <a:lvl1pPr marL="571002" indent="-347767">
              <a:spcBef>
                <a:spcPts val="2672"/>
              </a:spcBef>
              <a:defRPr sz="2250"/>
            </a:lvl1pPr>
            <a:lvl2pPr marL="883530" indent="-347767">
              <a:spcBef>
                <a:spcPts val="2672"/>
              </a:spcBef>
              <a:defRPr sz="2250"/>
            </a:lvl2pPr>
            <a:lvl3pPr marL="1196057" indent="-347767">
              <a:spcBef>
                <a:spcPts val="2672"/>
              </a:spcBef>
              <a:defRPr sz="2250"/>
            </a:lvl3pPr>
            <a:lvl4pPr marL="1508585" indent="-347767">
              <a:spcBef>
                <a:spcPts val="2672"/>
              </a:spcBef>
              <a:defRPr sz="2250"/>
            </a:lvl4pPr>
            <a:lvl5pPr marL="1821113" indent="-347767">
              <a:spcBef>
                <a:spcPts val="2672"/>
              </a:spcBef>
              <a:defRPr sz="22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649491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04/09/2022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04/09/2022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26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04/09/2022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98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04/09/2022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8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190625" y="892969"/>
            <a:ext cx="9810750" cy="5072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190625" y="178594"/>
            <a:ext cx="9810750" cy="171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29312" y="6471314"/>
            <a:ext cx="291747" cy="29738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266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82A9C-6FFB-44DB-BC4B-013020A6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92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</p:sldLayoutIdLst>
  <p:transition spd="med"/>
  <p:txStyles>
    <p:titleStyle>
      <a:lvl1pPr marL="0" marR="0" indent="0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160729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321457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482186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642915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803643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964372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125101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285829" algn="ctr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906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titleStyle>
    <p:bodyStyle>
      <a:lvl1pPr marL="625056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937584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1250112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1562640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1875168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2125190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2375212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2625235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2875257" marR="0" indent="-401822" algn="l" defTabSz="410751" rtl="0" latinLnBrk="0">
        <a:lnSpc>
          <a:spcPct val="100000"/>
        </a:lnSpc>
        <a:spcBef>
          <a:spcPts val="3375"/>
        </a:spcBef>
        <a:spcAft>
          <a:spcPts val="0"/>
        </a:spcAft>
        <a:buClrTx/>
        <a:buSzPct val="171000"/>
        <a:buFontTx/>
        <a:buChar char="•"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bodyStyle>
    <p:otherStyle>
      <a:lvl1pPr marL="0" marR="0" indent="0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160729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321457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482186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642915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803643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964372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125101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285829" algn="ct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66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0BEDC7DD-9485-6F49-9598-637045E70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13631" cy="106218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Professor David Flynn</a:t>
            </a:r>
            <a:br>
              <a:rPr lang="en-GB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2721121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Catch All- EN2083 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atch all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catch all</a:t>
            </a:r>
          </a:p>
        </p:txBody>
      </p:sp>
      <p:sp>
        <p:nvSpPr>
          <p:cNvPr id="138" name="ongoing bits and pieces 🙂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ongoing bits and pieces </a:t>
            </a:r>
            <a:r>
              <a:rPr>
                <a:latin typeface="Apple Color Emoji"/>
                <a:ea typeface="Apple Color Emoji"/>
                <a:cs typeface="Apple Color Emoji"/>
                <a:sym typeface="Apple Color Emoji"/>
              </a:rPr>
              <a:t>🙂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bitwise operation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operations</a:t>
            </a:r>
          </a:p>
        </p:txBody>
      </p:sp>
      <p:sp>
        <p:nvSpPr>
          <p:cNvPr id="141" name="colloquially referred to as bit bashing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colloquially referred to as bit bashing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minder, conversions"/>
          <p:cNvSpPr txBox="1">
            <a:spLocks noGrp="1"/>
          </p:cNvSpPr>
          <p:nvPr>
            <p:ph type="title"/>
          </p:nvPr>
        </p:nvSpPr>
        <p:spPr>
          <a:xfrm>
            <a:off x="162877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R</a:t>
            </a:r>
            <a:r>
              <a:rPr dirty="0" err="1"/>
              <a:t>eminder</a:t>
            </a:r>
            <a:r>
              <a:rPr dirty="0"/>
              <a:t>, conversions</a:t>
            </a:r>
          </a:p>
        </p:txBody>
      </p:sp>
      <p:sp>
        <p:nvSpPr>
          <p:cNvPr id="144" name="everything is ultimately binary, but we assume integers which we can display in binary or hex :…"/>
          <p:cNvSpPr txBox="1">
            <a:spLocks noGrp="1"/>
          </p:cNvSpPr>
          <p:nvPr>
            <p:ph type="body" idx="1"/>
          </p:nvPr>
        </p:nvSpPr>
        <p:spPr>
          <a:xfrm>
            <a:off x="200025" y="1946672"/>
            <a:ext cx="1199197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everything is ultimately binary, but we assume integers which we can display in binary or hex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x = int('01101010',2)        </a:t>
            </a:r>
            <a:r>
              <a:rPr dirty="0">
                <a:solidFill>
                  <a:srgbClr val="0433FF"/>
                </a:solidFill>
              </a:rPr>
              <a:t># binary string to int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print(x)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print('dec {0} bin {0:b} hex {0:x}'.format(x))</a:t>
            </a:r>
            <a:endParaRPr dirty="0">
              <a:solidFill>
                <a:srgbClr val="FF2600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>
              <a:solidFill>
                <a:srgbClr val="FF2600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FF2600"/>
                </a:solidFill>
              </a:rPr>
              <a:t># dec 106 bin 1101010 hex 6a </a:t>
            </a:r>
            <a:endParaRPr dirty="0">
              <a:solidFill>
                <a:srgbClr val="0433FF"/>
              </a:solidFill>
            </a:endParaRPr>
          </a:p>
          <a:p>
            <a:pPr marL="401822"/>
            <a:r>
              <a:rPr dirty="0"/>
              <a:t>no idea if this is stored as 8 bits, 16 bits, or a more complex object (probably the latter)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ingle ascii charac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single ascii characters</a:t>
            </a:r>
          </a:p>
        </p:txBody>
      </p:sp>
      <p:sp>
        <p:nvSpPr>
          <p:cNvPr id="149" name="it is possible to consider a small (8 bit) integer as an ascii character :…"/>
          <p:cNvSpPr txBox="1">
            <a:spLocks noGrp="1"/>
          </p:cNvSpPr>
          <p:nvPr>
            <p:ph type="body" idx="1"/>
          </p:nvPr>
        </p:nvSpPr>
        <p:spPr>
          <a:xfrm>
            <a:off x="466725" y="1727597"/>
            <a:ext cx="947737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it is possible to consider a small (8 bit) integer as an ascii character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x = int('01101010',2)     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print(x)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</a:t>
            </a:r>
            <a:r>
              <a:rPr dirty="0" err="1"/>
              <a:t>chr</a:t>
            </a:r>
            <a:r>
              <a:rPr dirty="0"/>
              <a:t>(x))</a:t>
            </a:r>
            <a:endParaRPr dirty="0">
              <a:solidFill>
                <a:srgbClr val="FF2600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decimal 106 character 'j' </a:t>
            </a:r>
          </a:p>
          <a:p>
            <a:pPr marL="401822"/>
            <a:r>
              <a:rPr dirty="0"/>
              <a:t>and the other way around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x = </a:t>
            </a:r>
            <a:r>
              <a:rPr dirty="0" err="1"/>
              <a:t>ord</a:t>
            </a:r>
            <a:r>
              <a:rPr dirty="0"/>
              <a:t>('j')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print(x)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# 106   </a:t>
            </a:r>
            <a:r>
              <a:rPr dirty="0"/>
              <a:t>   </a:t>
            </a:r>
          </a:p>
          <a:p>
            <a:pPr marL="401822"/>
            <a:r>
              <a:rPr dirty="0"/>
              <a:t>(</a:t>
            </a:r>
            <a:r>
              <a:rPr sz="2531" dirty="0" err="1">
                <a:latin typeface="Courier"/>
                <a:ea typeface="Courier"/>
                <a:cs typeface="Courier"/>
                <a:sym typeface="Courier"/>
              </a:rPr>
              <a:t>ord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()</a:t>
            </a:r>
            <a:r>
              <a:rPr dirty="0"/>
              <a:t>, </a:t>
            </a:r>
            <a:r>
              <a:rPr sz="2531" dirty="0" err="1">
                <a:latin typeface="Courier"/>
                <a:ea typeface="Courier"/>
                <a:cs typeface="Courier"/>
                <a:sym typeface="Courier"/>
              </a:rPr>
              <a:t>unichar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()</a:t>
            </a:r>
            <a:r>
              <a:rPr dirty="0"/>
              <a:t> for Unicode)</a:t>
            </a:r>
          </a:p>
        </p:txBody>
      </p:sp>
      <p:pic>
        <p:nvPicPr>
          <p:cNvPr id="150" name="Screenshot 2019-10-18 at 10.24.02.png" descr="Screenshot 2019-10-18 at 10.24.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918" y="2589609"/>
            <a:ext cx="2634259" cy="39290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itwise opera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bitwise operators</a:t>
            </a:r>
          </a:p>
        </p:txBody>
      </p:sp>
      <p:sp>
        <p:nvSpPr>
          <p:cNvPr id="155" name="Python has operators for logical bit-operations which can be applied to integers. For example,        y = x &amp; 0177     forms the bit-wise AND of x and 0177, effectively retaining only the last seven bits of x in y. (0177 = 001 111 111)"/>
          <p:cNvSpPr txBox="1">
            <a:spLocks noGrp="1"/>
          </p:cNvSpPr>
          <p:nvPr>
            <p:ph type="body" idx="1"/>
          </p:nvPr>
        </p:nvSpPr>
        <p:spPr>
          <a:xfrm>
            <a:off x="557212" y="1746647"/>
            <a:ext cx="11077575" cy="4018359"/>
          </a:xfrm>
          <a:prstGeom prst="rect">
            <a:avLst/>
          </a:prstGeom>
        </p:spPr>
        <p:txBody>
          <a:bodyPr/>
          <a:lstStyle/>
          <a:p>
            <a:pPr marL="937584"/>
            <a:r>
              <a:rPr dirty="0"/>
              <a:t>Python has operators for logical bit-operations which can be applied to integers. For example,</a:t>
            </a:r>
            <a:br>
              <a:rPr sz="2531" dirty="0">
                <a:latin typeface="Courier"/>
                <a:ea typeface="Courier"/>
                <a:cs typeface="Courier"/>
                <a:sym typeface="Courier"/>
              </a:rPr>
            </a:br>
            <a:br>
              <a:rPr sz="2531" dirty="0">
                <a:latin typeface="Courier"/>
                <a:ea typeface="Courier"/>
                <a:cs typeface="Courier"/>
                <a:sym typeface="Courier"/>
              </a:rPr>
            </a:b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     	y = x &amp; 0177</a:t>
            </a:r>
            <a:br>
              <a:rPr sz="2531" dirty="0">
                <a:latin typeface="Courier"/>
                <a:ea typeface="Courier"/>
                <a:cs typeface="Courier"/>
                <a:sym typeface="Courier"/>
              </a:rPr>
            </a:b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			</a:t>
            </a:r>
            <a:br>
              <a:rPr sz="2531" dirty="0">
                <a:latin typeface="Courier"/>
                <a:ea typeface="Courier"/>
                <a:cs typeface="Courier"/>
                <a:sym typeface="Courier"/>
              </a:rPr>
            </a:br>
            <a:r>
              <a:rPr dirty="0"/>
              <a:t>forms the bit-wise AND of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dirty="0"/>
              <a:t> and 0177, effectively retaining only the last seven bits of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rPr dirty="0"/>
              <a:t> in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y</a:t>
            </a:r>
            <a:r>
              <a:rPr dirty="0"/>
              <a:t>. (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0177 = 001 111 111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Other operators include…"/>
          <p:cNvSpPr txBox="1">
            <a:spLocks noGrp="1"/>
          </p:cNvSpPr>
          <p:nvPr>
            <p:ph type="body" idx="1"/>
          </p:nvPr>
        </p:nvSpPr>
        <p:spPr>
          <a:xfrm>
            <a:off x="2514600" y="1216819"/>
            <a:ext cx="9810750" cy="5072063"/>
          </a:xfrm>
          <a:prstGeom prst="rect">
            <a:avLst/>
          </a:prstGeom>
        </p:spPr>
        <p:txBody>
          <a:bodyPr/>
          <a:lstStyle/>
          <a:p>
            <a:pPr marL="937584">
              <a:lnSpc>
                <a:spcPct val="70000"/>
              </a:lnSpc>
            </a:pPr>
            <a:r>
              <a:rPr dirty="0"/>
              <a:t>Other operators include</a:t>
            </a:r>
          </a:p>
          <a:p>
            <a:pPr marL="0" indent="0">
              <a:lnSpc>
                <a:spcPct val="70000"/>
              </a:lnSpc>
              <a:buSzTx/>
              <a:buNone/>
            </a:pPr>
            <a:r>
              <a:rPr dirty="0"/>
              <a:t>      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|	</a:t>
            </a:r>
            <a:r>
              <a:rPr sz="2531" dirty="0" err="1">
                <a:solidFill>
                  <a:srgbClr val="773F9B"/>
                </a:solidFill>
                <a:latin typeface="Courier"/>
                <a:ea typeface="Courier"/>
                <a:cs typeface="Courier"/>
                <a:sym typeface="Courier"/>
              </a:rPr>
              <a:t>bitor</a:t>
            </a:r>
            <a:r>
              <a:rPr sz="2531" dirty="0">
                <a:solidFill>
                  <a:srgbClr val="773F9B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dirty="0"/>
              <a:t>inclusive OR</a:t>
            </a:r>
          </a:p>
          <a:p>
            <a:pPr marL="0" indent="0">
              <a:lnSpc>
                <a:spcPct val="70000"/>
              </a:lnSpc>
              <a:buSzTx/>
              <a:buNone/>
            </a:pPr>
            <a:r>
              <a:rPr dirty="0"/>
              <a:t>      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^	</a:t>
            </a:r>
            <a:r>
              <a:rPr sz="2531" dirty="0" err="1">
                <a:solidFill>
                  <a:srgbClr val="773F9B"/>
                </a:solidFill>
                <a:latin typeface="Courier"/>
                <a:ea typeface="Courier"/>
                <a:cs typeface="Courier"/>
                <a:sym typeface="Courier"/>
              </a:rPr>
              <a:t>xor</a:t>
            </a:r>
            <a:r>
              <a:rPr dirty="0"/>
              <a:t>         (circumflex) exclusive </a:t>
            </a:r>
            <a:r>
              <a:rPr dirty="0">
                <a:solidFill>
                  <a:srgbClr val="773F9B"/>
                </a:solidFill>
              </a:rPr>
              <a:t>OR</a:t>
            </a:r>
          </a:p>
          <a:p>
            <a:pPr marL="0" indent="0">
              <a:lnSpc>
                <a:spcPct val="70000"/>
              </a:lnSpc>
              <a:buSzTx/>
              <a:buNone/>
            </a:pPr>
            <a:r>
              <a:rPr dirty="0"/>
              <a:t>      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~	</a:t>
            </a:r>
            <a:r>
              <a:rPr sz="2531" dirty="0" err="1">
                <a:solidFill>
                  <a:srgbClr val="773F9B"/>
                </a:solidFill>
                <a:latin typeface="Courier"/>
                <a:ea typeface="Courier"/>
                <a:cs typeface="Courier"/>
                <a:sym typeface="Courier"/>
              </a:rPr>
              <a:t>compl</a:t>
            </a:r>
            <a:r>
              <a:rPr dirty="0"/>
              <a:t>     (tilde) 1's complement</a:t>
            </a:r>
          </a:p>
          <a:p>
            <a:pPr marL="0" indent="0">
              <a:lnSpc>
                <a:spcPct val="70000"/>
              </a:lnSpc>
              <a:buSzTx/>
              <a:buNone/>
            </a:pPr>
            <a:r>
              <a:rPr dirty="0"/>
              <a:t>      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!	</a:t>
            </a:r>
            <a:r>
              <a:rPr sz="2531" dirty="0">
                <a:solidFill>
                  <a:srgbClr val="773F9B"/>
                </a:solidFill>
                <a:latin typeface="Courier"/>
                <a:ea typeface="Courier"/>
                <a:cs typeface="Courier"/>
                <a:sym typeface="Courier"/>
              </a:rPr>
              <a:t>not</a:t>
            </a:r>
            <a:r>
              <a:rPr dirty="0"/>
              <a:t>       	logical NOT</a:t>
            </a:r>
          </a:p>
          <a:p>
            <a:pPr marL="0" indent="0">
              <a:lnSpc>
                <a:spcPct val="70000"/>
              </a:lnSpc>
              <a:buSzTx/>
              <a:buNone/>
            </a:pPr>
            <a:r>
              <a:rPr dirty="0"/>
              <a:t>      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&lt;&lt;</a:t>
            </a:r>
            <a:r>
              <a:rPr dirty="0"/>
              <a:t>      			left shift (as in x&lt;&lt;2)</a:t>
            </a:r>
          </a:p>
          <a:p>
            <a:pPr marL="0" indent="0">
              <a:lnSpc>
                <a:spcPct val="70000"/>
              </a:lnSpc>
              <a:buSzTx/>
              <a:buNone/>
            </a:pPr>
            <a:r>
              <a:rPr dirty="0"/>
              <a:t>      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&gt;&gt;</a:t>
            </a:r>
            <a:r>
              <a:rPr dirty="0"/>
              <a:t>      			right shift  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examples :…"/>
          <p:cNvSpPr txBox="1">
            <a:spLocks noGrp="1"/>
          </p:cNvSpPr>
          <p:nvPr>
            <p:ph type="body" idx="1"/>
          </p:nvPr>
        </p:nvSpPr>
        <p:spPr>
          <a:xfrm>
            <a:off x="485775" y="513159"/>
            <a:ext cx="11706225" cy="6572250"/>
          </a:xfrm>
          <a:prstGeom prst="rect">
            <a:avLst/>
          </a:prstGeom>
        </p:spPr>
        <p:txBody>
          <a:bodyPr/>
          <a:lstStyle/>
          <a:p>
            <a:pPr marL="937584">
              <a:lnSpc>
                <a:spcPct val="70000"/>
              </a:lnSpc>
            </a:pPr>
            <a:r>
              <a:rPr sz="2200" dirty="0"/>
              <a:t>examples :</a:t>
            </a:r>
          </a:p>
          <a:p>
            <a:pPr marL="0" indent="0">
              <a:buSzTx/>
              <a:buNone/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a = 60            </a:t>
            </a:r>
            <a:r>
              <a:rPr sz="2200" dirty="0">
                <a:solidFill>
                  <a:srgbClr val="0433FF"/>
                </a:solidFill>
              </a:rPr>
              <a:t># 60 = 0011 1100 </a:t>
            </a:r>
            <a:r>
              <a:rPr sz="2200" dirty="0"/>
              <a:t>b = 13            </a:t>
            </a:r>
            <a:r>
              <a:rPr sz="2200" dirty="0">
                <a:solidFill>
                  <a:srgbClr val="0433FF"/>
                </a:solidFill>
              </a:rPr>
              <a:t># 13 = 0000 1101</a:t>
            </a:r>
            <a:r>
              <a:rPr sz="2200" dirty="0"/>
              <a:t> </a:t>
            </a:r>
          </a:p>
          <a:p>
            <a:pPr marL="0" indent="0">
              <a:buSzTx/>
              <a:buNone/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c = a &amp; b;        </a:t>
            </a:r>
            <a:r>
              <a:rPr sz="2200" dirty="0">
                <a:solidFill>
                  <a:srgbClr val="0433FF"/>
                </a:solidFill>
              </a:rPr>
              <a:t># 12 = 0000 1100</a:t>
            </a:r>
            <a:br>
              <a:rPr sz="2200" dirty="0">
                <a:solidFill>
                  <a:srgbClr val="0433FF"/>
                </a:solidFill>
              </a:rPr>
            </a:br>
            <a:r>
              <a:rPr sz="2200" dirty="0"/>
              <a:t>c = a | b;        </a:t>
            </a:r>
            <a:r>
              <a:rPr sz="2200" dirty="0">
                <a:solidFill>
                  <a:srgbClr val="0433FF"/>
                </a:solidFill>
              </a:rPr>
              <a:t># 61 = 0011 1101 </a:t>
            </a:r>
            <a:br>
              <a:rPr sz="2200" dirty="0"/>
            </a:br>
            <a:r>
              <a:rPr sz="2200" dirty="0"/>
              <a:t>c = a ^ b;        </a:t>
            </a:r>
            <a:r>
              <a:rPr sz="2200" dirty="0">
                <a:solidFill>
                  <a:srgbClr val="0433FF"/>
                </a:solidFill>
              </a:rPr>
              <a:t># 49 = 0011 0001</a:t>
            </a:r>
            <a:br>
              <a:rPr sz="2200" dirty="0">
                <a:solidFill>
                  <a:srgbClr val="0433FF"/>
                </a:solidFill>
              </a:rPr>
            </a:br>
            <a:r>
              <a:rPr sz="2200" dirty="0"/>
              <a:t>c = ~a;          </a:t>
            </a:r>
            <a:r>
              <a:rPr sz="2200" dirty="0">
                <a:solidFill>
                  <a:srgbClr val="0433FF"/>
                </a:solidFill>
              </a:rPr>
              <a:t># -61 = 1100 0011</a:t>
            </a:r>
            <a:br>
              <a:rPr sz="2200" dirty="0">
                <a:solidFill>
                  <a:srgbClr val="0433FF"/>
                </a:solidFill>
              </a:rPr>
            </a:br>
            <a:r>
              <a:rPr sz="2200" dirty="0"/>
              <a:t>c = a &lt;&lt; 2;      </a:t>
            </a:r>
            <a:r>
              <a:rPr sz="2200" dirty="0">
                <a:solidFill>
                  <a:srgbClr val="0433FF"/>
                </a:solidFill>
              </a:rPr>
              <a:t># 240 = 1111 0000</a:t>
            </a:r>
            <a:br>
              <a:rPr sz="2200" dirty="0">
                <a:solidFill>
                  <a:srgbClr val="0433FF"/>
                </a:solidFill>
              </a:rPr>
            </a:br>
            <a:r>
              <a:rPr sz="2200" dirty="0"/>
              <a:t>c = a &gt;&gt; 2;       </a:t>
            </a:r>
            <a:r>
              <a:rPr sz="2200" dirty="0">
                <a:solidFill>
                  <a:srgbClr val="0433FF"/>
                </a:solidFill>
              </a:rPr>
              <a:t># 15 = 0000 1111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masking"/>
          <p:cNvSpPr txBox="1">
            <a:spLocks noGrp="1"/>
          </p:cNvSpPr>
          <p:nvPr>
            <p:ph type="title"/>
          </p:nvPr>
        </p:nvSpPr>
        <p:spPr>
          <a:xfrm>
            <a:off x="1190625" y="-69056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M</a:t>
            </a:r>
            <a:r>
              <a:rPr dirty="0"/>
              <a:t>asking</a:t>
            </a:r>
          </a:p>
        </p:txBody>
      </p:sp>
      <p:sp>
        <p:nvSpPr>
          <p:cNvPr id="162" name="you very commonly want to set, clear to flip a single bit in a binary value :…"/>
          <p:cNvSpPr txBox="1">
            <a:spLocks noGrp="1"/>
          </p:cNvSpPr>
          <p:nvPr>
            <p:ph type="body" idx="1"/>
          </p:nvPr>
        </p:nvSpPr>
        <p:spPr>
          <a:xfrm>
            <a:off x="90487" y="1508629"/>
            <a:ext cx="12011025" cy="4867168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 dirty="0"/>
              <a:t>you very commonly want to set, clear to flip a single bit in a binary value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# returns integer with bit at 'offset' set to 1.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def </a:t>
            </a:r>
            <a:r>
              <a:rPr sz="2200" dirty="0" err="1"/>
              <a:t>setBit</a:t>
            </a:r>
            <a:r>
              <a:rPr sz="2200" dirty="0"/>
              <a:t>(</a:t>
            </a:r>
            <a:r>
              <a:rPr sz="2200" dirty="0" err="1"/>
              <a:t>int_type</a:t>
            </a:r>
            <a:r>
              <a:rPr sz="2200" dirty="0"/>
              <a:t>, offset):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mask = 1 &lt;&lt; offset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return(</a:t>
            </a:r>
            <a:r>
              <a:rPr sz="2200" dirty="0" err="1"/>
              <a:t>int_type</a:t>
            </a:r>
            <a:r>
              <a:rPr sz="2200" dirty="0"/>
              <a:t> | mask)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# returns integer with the bit at 'offset' cleared.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def </a:t>
            </a:r>
            <a:r>
              <a:rPr sz="2200" dirty="0" err="1"/>
              <a:t>clearBit</a:t>
            </a:r>
            <a:r>
              <a:rPr sz="2200" dirty="0"/>
              <a:t>(</a:t>
            </a:r>
            <a:r>
              <a:rPr sz="2200" dirty="0" err="1"/>
              <a:t>int_type</a:t>
            </a:r>
            <a:r>
              <a:rPr sz="2200" dirty="0"/>
              <a:t>, offset):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mask = ~(1 &lt;&lt; offset)         </a:t>
            </a:r>
            <a:r>
              <a:rPr sz="2200" dirty="0">
                <a:solidFill>
                  <a:srgbClr val="0433FF"/>
                </a:solidFill>
              </a:rPr>
              <a:t># note inversion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return(</a:t>
            </a:r>
            <a:r>
              <a:rPr sz="2200" dirty="0" err="1"/>
              <a:t>int_type</a:t>
            </a:r>
            <a:r>
              <a:rPr sz="2200" dirty="0"/>
              <a:t> &amp; mask)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# returns integer with the bit at 'offset' inverted.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def </a:t>
            </a:r>
            <a:r>
              <a:rPr sz="2200" dirty="0" err="1"/>
              <a:t>toggleBit</a:t>
            </a:r>
            <a:r>
              <a:rPr sz="2200" dirty="0"/>
              <a:t>(</a:t>
            </a:r>
            <a:r>
              <a:rPr sz="2200" dirty="0" err="1"/>
              <a:t>int_type</a:t>
            </a:r>
            <a:r>
              <a:rPr sz="2200" dirty="0"/>
              <a:t>, offset):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mask = 1 &lt;&lt; offset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return(</a:t>
            </a:r>
            <a:r>
              <a:rPr sz="2200" dirty="0" err="1"/>
              <a:t>int_type</a:t>
            </a:r>
            <a:r>
              <a:rPr sz="2200" dirty="0"/>
              <a:t> ^ mask)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omplex bit bash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C</a:t>
            </a:r>
            <a:r>
              <a:rPr dirty="0" err="1"/>
              <a:t>omplex</a:t>
            </a:r>
            <a:r>
              <a:rPr dirty="0"/>
              <a:t> bit bashing</a:t>
            </a:r>
          </a:p>
        </p:txBody>
      </p:sp>
      <p:sp>
        <p:nvSpPr>
          <p:cNvPr id="167" name="but rotating bits is harder, because you don't know how many bits are actually stored in your variable:…"/>
          <p:cNvSpPr txBox="1">
            <a:spLocks noGrp="1"/>
          </p:cNvSpPr>
          <p:nvPr>
            <p:ph type="body" idx="1"/>
          </p:nvPr>
        </p:nvSpPr>
        <p:spPr>
          <a:xfrm>
            <a:off x="295275" y="1651504"/>
            <a:ext cx="11725275" cy="4867168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but rotating bits is harder, because you don't know how many bits are actually stored in your variable: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Rotate left: 0b1001 --&gt; 0b0011 by r but in 16 bits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rol</a:t>
            </a:r>
            <a:r>
              <a:rPr dirty="0"/>
              <a:t> = (</a:t>
            </a:r>
            <a:r>
              <a:rPr dirty="0" err="1"/>
              <a:t>val</a:t>
            </a:r>
            <a:r>
              <a:rPr dirty="0"/>
              <a:t> &lt;&lt; r%16) &amp; (2**16-1) |                 \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((</a:t>
            </a:r>
            <a:r>
              <a:rPr dirty="0" err="1"/>
              <a:t>val</a:t>
            </a:r>
            <a:r>
              <a:rPr dirty="0"/>
              <a:t> &amp; (2**16-1)) &gt;&gt; (16-(r%16)))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Rotate right: 0b1001 --&gt; 0b1100 by r in 16 bits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ror</a:t>
            </a:r>
            <a:r>
              <a:rPr dirty="0"/>
              <a:t> = ((</a:t>
            </a:r>
            <a:r>
              <a:rPr dirty="0" err="1"/>
              <a:t>val</a:t>
            </a:r>
            <a:r>
              <a:rPr dirty="0"/>
              <a:t> &amp; (2**16-1)) &gt;&gt; r%16) |               \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(</a:t>
            </a:r>
            <a:r>
              <a:rPr dirty="0" err="1"/>
              <a:t>val</a:t>
            </a:r>
            <a:r>
              <a:rPr dirty="0"/>
              <a:t> &lt;&lt; (16-(r%16)) &amp; (2**16-1))</a:t>
            </a:r>
          </a:p>
          <a:p>
            <a:pPr marL="401822"/>
            <a:r>
              <a:rPr dirty="0"/>
              <a:t>ouch - let's look a bit more closely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val"/>
          <p:cNvSpPr txBox="1"/>
          <p:nvPr/>
        </p:nvSpPr>
        <p:spPr>
          <a:xfrm>
            <a:off x="10879939" y="1095391"/>
            <a:ext cx="557846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</a:rPr>
              <a:t>val</a:t>
            </a:r>
          </a:p>
        </p:txBody>
      </p:sp>
      <p:graphicFrame>
        <p:nvGraphicFramePr>
          <p:cNvPr id="172" name="Table"/>
          <p:cNvGraphicFramePr/>
          <p:nvPr>
            <p:extLst>
              <p:ext uri="{D42A27DB-BD31-4B8C-83A1-F6EECF244321}">
                <p14:modId xmlns:p14="http://schemas.microsoft.com/office/powerpoint/2010/main" val="2557667782"/>
              </p:ext>
            </p:extLst>
          </p:nvPr>
        </p:nvGraphicFramePr>
        <p:xfrm>
          <a:off x="3970778" y="1124167"/>
          <a:ext cx="5733952" cy="392738"/>
        </p:xfrm>
        <a:graphic>
          <a:graphicData uri="http://schemas.openxmlformats.org/drawingml/2006/table">
            <a:tbl>
              <a:tblPr bandRow="1"/>
              <a:tblGrid>
                <a:gridCol w="35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2738"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3" name="Connection Line"/>
          <p:cNvSpPr/>
          <p:nvPr/>
        </p:nvSpPr>
        <p:spPr>
          <a:xfrm>
            <a:off x="4171635" y="2360128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019"/>
                </a:moveTo>
                <a:cubicBezTo>
                  <a:pt x="8271" y="-5400"/>
                  <a:pt x="15471" y="-5340"/>
                  <a:pt x="2160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14" name="Connection Line"/>
          <p:cNvSpPr/>
          <p:nvPr/>
        </p:nvSpPr>
        <p:spPr>
          <a:xfrm>
            <a:off x="4528643" y="2360128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019"/>
                </a:moveTo>
                <a:cubicBezTo>
                  <a:pt x="8271" y="-5400"/>
                  <a:pt x="15471" y="-5340"/>
                  <a:pt x="2160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15" name="Connection Line"/>
          <p:cNvSpPr/>
          <p:nvPr/>
        </p:nvSpPr>
        <p:spPr>
          <a:xfrm>
            <a:off x="4885651" y="2360128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019"/>
                </a:moveTo>
                <a:cubicBezTo>
                  <a:pt x="8271" y="-5400"/>
                  <a:pt x="15471" y="-5340"/>
                  <a:pt x="2160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16" name="Connection Line"/>
          <p:cNvSpPr/>
          <p:nvPr/>
        </p:nvSpPr>
        <p:spPr>
          <a:xfrm>
            <a:off x="5242658" y="2360128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019"/>
                </a:moveTo>
                <a:cubicBezTo>
                  <a:pt x="8271" y="-5400"/>
                  <a:pt x="15471" y="-5340"/>
                  <a:pt x="2160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177" name="... x3..."/>
          <p:cNvSpPr txBox="1"/>
          <p:nvPr/>
        </p:nvSpPr>
        <p:spPr>
          <a:xfrm>
            <a:off x="6352009" y="2271990"/>
            <a:ext cx="801502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/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  <a:latin typeface="Gill Sans"/>
                <a:sym typeface="Gill Sans"/>
              </a:rPr>
              <a:t>... x3...</a:t>
            </a:r>
          </a:p>
        </p:txBody>
      </p:sp>
      <p:sp>
        <p:nvSpPr>
          <p:cNvPr id="217" name="Connection Line"/>
          <p:cNvSpPr/>
          <p:nvPr/>
        </p:nvSpPr>
        <p:spPr>
          <a:xfrm>
            <a:off x="8075686" y="2360128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019"/>
                </a:moveTo>
                <a:cubicBezTo>
                  <a:pt x="8271" y="-5400"/>
                  <a:pt x="15471" y="-5340"/>
                  <a:pt x="2160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18" name="Connection Line"/>
          <p:cNvSpPr/>
          <p:nvPr/>
        </p:nvSpPr>
        <p:spPr>
          <a:xfrm>
            <a:off x="8432694" y="2360128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019"/>
                </a:moveTo>
                <a:cubicBezTo>
                  <a:pt x="8271" y="-5400"/>
                  <a:pt x="15471" y="-5340"/>
                  <a:pt x="2160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19" name="Connection Line"/>
          <p:cNvSpPr/>
          <p:nvPr/>
        </p:nvSpPr>
        <p:spPr>
          <a:xfrm>
            <a:off x="8789700" y="2360128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019"/>
                </a:moveTo>
                <a:cubicBezTo>
                  <a:pt x="8271" y="-5400"/>
                  <a:pt x="15471" y="-5340"/>
                  <a:pt x="2160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20" name="Connection Line"/>
          <p:cNvSpPr/>
          <p:nvPr/>
        </p:nvSpPr>
        <p:spPr>
          <a:xfrm>
            <a:off x="9146708" y="2360128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019"/>
                </a:moveTo>
                <a:cubicBezTo>
                  <a:pt x="8271" y="-5400"/>
                  <a:pt x="15471" y="-5340"/>
                  <a:pt x="2160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graphicFrame>
        <p:nvGraphicFramePr>
          <p:cNvPr id="182" name="Table"/>
          <p:cNvGraphicFramePr/>
          <p:nvPr>
            <p:extLst>
              <p:ext uri="{D42A27DB-BD31-4B8C-83A1-F6EECF244321}">
                <p14:modId xmlns:p14="http://schemas.microsoft.com/office/powerpoint/2010/main" val="2244080703"/>
              </p:ext>
            </p:extLst>
          </p:nvPr>
        </p:nvGraphicFramePr>
        <p:xfrm>
          <a:off x="3970232" y="1703495"/>
          <a:ext cx="5733952" cy="392738"/>
        </p:xfrm>
        <a:graphic>
          <a:graphicData uri="http://schemas.openxmlformats.org/drawingml/2006/table">
            <a:tbl>
              <a:tblPr bandRow="1"/>
              <a:tblGrid>
                <a:gridCol w="35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2738"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3" name="2**16-1"/>
          <p:cNvSpPr txBox="1"/>
          <p:nvPr/>
        </p:nvSpPr>
        <p:spPr>
          <a:xfrm>
            <a:off x="10267548" y="1701508"/>
            <a:ext cx="1205459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</a:rPr>
              <a:t>2**16-1</a:t>
            </a:r>
          </a:p>
        </p:txBody>
      </p:sp>
      <p:sp>
        <p:nvSpPr>
          <p:cNvPr id="184" name="x x x x"/>
          <p:cNvSpPr txBox="1"/>
          <p:nvPr/>
        </p:nvSpPr>
        <p:spPr>
          <a:xfrm>
            <a:off x="2608710" y="1095391"/>
            <a:ext cx="1205459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</a:rPr>
              <a:t>x x x x</a:t>
            </a:r>
          </a:p>
        </p:txBody>
      </p:sp>
      <p:sp>
        <p:nvSpPr>
          <p:cNvPr id="185" name="0 0 0 0"/>
          <p:cNvSpPr txBox="1"/>
          <p:nvPr/>
        </p:nvSpPr>
        <p:spPr>
          <a:xfrm>
            <a:off x="2608710" y="1701508"/>
            <a:ext cx="1205459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</a:rPr>
              <a:t>0 0 0 0</a:t>
            </a:r>
          </a:p>
        </p:txBody>
      </p:sp>
      <p:graphicFrame>
        <p:nvGraphicFramePr>
          <p:cNvPr id="186" name="Table"/>
          <p:cNvGraphicFramePr/>
          <p:nvPr>
            <p:extLst>
              <p:ext uri="{D42A27DB-BD31-4B8C-83A1-F6EECF244321}">
                <p14:modId xmlns:p14="http://schemas.microsoft.com/office/powerpoint/2010/main" val="1068778106"/>
              </p:ext>
            </p:extLst>
          </p:nvPr>
        </p:nvGraphicFramePr>
        <p:xfrm>
          <a:off x="3964182" y="2622067"/>
          <a:ext cx="5733952" cy="392738"/>
        </p:xfrm>
        <a:graphic>
          <a:graphicData uri="http://schemas.openxmlformats.org/drawingml/2006/table">
            <a:tbl>
              <a:tblPr bandRow="1"/>
              <a:tblGrid>
                <a:gridCol w="35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2738"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7" name="val&lt;&lt;3%16"/>
          <p:cNvSpPr txBox="1"/>
          <p:nvPr/>
        </p:nvSpPr>
        <p:spPr>
          <a:xfrm>
            <a:off x="9938860" y="2620079"/>
            <a:ext cx="1529266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</a:rPr>
              <a:t>val&lt;&lt;3%16</a:t>
            </a:r>
          </a:p>
        </p:txBody>
      </p:sp>
      <p:sp>
        <p:nvSpPr>
          <p:cNvPr id="188" name="x 0 0 1"/>
          <p:cNvSpPr txBox="1"/>
          <p:nvPr/>
        </p:nvSpPr>
        <p:spPr>
          <a:xfrm>
            <a:off x="2602659" y="2620079"/>
            <a:ext cx="1205459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</a:rPr>
              <a:t>x 0 0 1</a:t>
            </a:r>
          </a:p>
        </p:txBody>
      </p:sp>
      <p:graphicFrame>
        <p:nvGraphicFramePr>
          <p:cNvPr id="189" name="Table"/>
          <p:cNvGraphicFramePr/>
          <p:nvPr>
            <p:extLst>
              <p:ext uri="{D42A27DB-BD31-4B8C-83A1-F6EECF244321}">
                <p14:modId xmlns:p14="http://schemas.microsoft.com/office/powerpoint/2010/main" val="1834025108"/>
              </p:ext>
            </p:extLst>
          </p:nvPr>
        </p:nvGraphicFramePr>
        <p:xfrm>
          <a:off x="3967207" y="3183450"/>
          <a:ext cx="5733952" cy="392738"/>
        </p:xfrm>
        <a:graphic>
          <a:graphicData uri="http://schemas.openxmlformats.org/drawingml/2006/table">
            <a:tbl>
              <a:tblPr bandRow="1"/>
              <a:tblGrid>
                <a:gridCol w="35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2738"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 dirty="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0" name="⇧ &amp; 2**16-1"/>
          <p:cNvSpPr txBox="1"/>
          <p:nvPr/>
        </p:nvSpPr>
        <p:spPr>
          <a:xfrm>
            <a:off x="9954089" y="3214184"/>
            <a:ext cx="1498809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1687" kern="0">
                <a:solidFill>
                  <a:srgbClr val="000000"/>
                </a:solidFill>
              </a:rPr>
              <a:t>⇧ &amp; 2**16-1</a:t>
            </a:r>
          </a:p>
        </p:txBody>
      </p:sp>
      <p:sp>
        <p:nvSpPr>
          <p:cNvPr id="191" name="0 0 0 0"/>
          <p:cNvSpPr txBox="1"/>
          <p:nvPr/>
        </p:nvSpPr>
        <p:spPr>
          <a:xfrm>
            <a:off x="2605685" y="3181463"/>
            <a:ext cx="1205459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</a:rPr>
              <a:t>0 0 0 0</a:t>
            </a:r>
          </a:p>
        </p:txBody>
      </p:sp>
      <p:graphicFrame>
        <p:nvGraphicFramePr>
          <p:cNvPr id="192" name="Table"/>
          <p:cNvGraphicFramePr/>
          <p:nvPr>
            <p:extLst>
              <p:ext uri="{D42A27DB-BD31-4B8C-83A1-F6EECF244321}">
                <p14:modId xmlns:p14="http://schemas.microsoft.com/office/powerpoint/2010/main" val="622985792"/>
              </p:ext>
            </p:extLst>
          </p:nvPr>
        </p:nvGraphicFramePr>
        <p:xfrm>
          <a:off x="3970086" y="4021655"/>
          <a:ext cx="5733952" cy="392738"/>
        </p:xfrm>
        <a:graphic>
          <a:graphicData uri="http://schemas.openxmlformats.org/drawingml/2006/table">
            <a:tbl>
              <a:tblPr bandRow="1"/>
              <a:tblGrid>
                <a:gridCol w="35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2738"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3" name="val &amp; 2**16-1"/>
          <p:cNvSpPr txBox="1"/>
          <p:nvPr/>
        </p:nvSpPr>
        <p:spPr>
          <a:xfrm>
            <a:off x="9734147" y="4047679"/>
            <a:ext cx="1760098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1687" kern="0">
                <a:solidFill>
                  <a:srgbClr val="000000"/>
                </a:solidFill>
              </a:rPr>
              <a:t>val &amp; 2**16-1</a:t>
            </a:r>
          </a:p>
        </p:txBody>
      </p:sp>
      <p:sp>
        <p:nvSpPr>
          <p:cNvPr id="194" name="0 0 0 0"/>
          <p:cNvSpPr txBox="1"/>
          <p:nvPr/>
        </p:nvSpPr>
        <p:spPr>
          <a:xfrm>
            <a:off x="2608563" y="4019667"/>
            <a:ext cx="1205459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</a:rPr>
              <a:t>0 0 0 0</a:t>
            </a:r>
          </a:p>
        </p:txBody>
      </p:sp>
      <p:graphicFrame>
        <p:nvGraphicFramePr>
          <p:cNvPr id="195" name="Table"/>
          <p:cNvGraphicFramePr/>
          <p:nvPr>
            <p:extLst>
              <p:ext uri="{D42A27DB-BD31-4B8C-83A1-F6EECF244321}">
                <p14:modId xmlns:p14="http://schemas.microsoft.com/office/powerpoint/2010/main" val="2043437111"/>
              </p:ext>
            </p:extLst>
          </p:nvPr>
        </p:nvGraphicFramePr>
        <p:xfrm>
          <a:off x="3990117" y="4962634"/>
          <a:ext cx="5733952" cy="392738"/>
        </p:xfrm>
        <a:graphic>
          <a:graphicData uri="http://schemas.openxmlformats.org/drawingml/2006/table">
            <a:tbl>
              <a:tblPr bandRow="1"/>
              <a:tblGrid>
                <a:gridCol w="35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2738"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FF26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6" name="0 0 0 0"/>
          <p:cNvSpPr txBox="1"/>
          <p:nvPr/>
        </p:nvSpPr>
        <p:spPr>
          <a:xfrm>
            <a:off x="2628595" y="4960647"/>
            <a:ext cx="1205459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</a:rPr>
              <a:t>0 0 0 0</a:t>
            </a:r>
          </a:p>
        </p:txBody>
      </p:sp>
      <p:sp>
        <p:nvSpPr>
          <p:cNvPr id="197" name="⇧ &gt;&gt;(16-3)"/>
          <p:cNvSpPr txBox="1"/>
          <p:nvPr/>
        </p:nvSpPr>
        <p:spPr>
          <a:xfrm>
            <a:off x="10030576" y="4993124"/>
            <a:ext cx="1368966" cy="33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24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1687" kern="0">
                <a:solidFill>
                  <a:srgbClr val="000000"/>
                </a:solidFill>
              </a:rPr>
              <a:t>⇧ &gt;&gt;(16-3)</a:t>
            </a:r>
          </a:p>
        </p:txBody>
      </p:sp>
      <p:sp>
        <p:nvSpPr>
          <p:cNvPr id="221" name="Connection Line"/>
          <p:cNvSpPr/>
          <p:nvPr/>
        </p:nvSpPr>
        <p:spPr>
          <a:xfrm>
            <a:off x="4171635" y="4685451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16019"/>
                </a:moveTo>
                <a:cubicBezTo>
                  <a:pt x="13329" y="-5400"/>
                  <a:pt x="6129" y="-5340"/>
                  <a:pt x="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22" name="Connection Line"/>
          <p:cNvSpPr/>
          <p:nvPr/>
        </p:nvSpPr>
        <p:spPr>
          <a:xfrm>
            <a:off x="4528643" y="4685451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16019"/>
                </a:moveTo>
                <a:cubicBezTo>
                  <a:pt x="13329" y="-5400"/>
                  <a:pt x="6129" y="-5340"/>
                  <a:pt x="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23" name="Connection Line"/>
          <p:cNvSpPr/>
          <p:nvPr/>
        </p:nvSpPr>
        <p:spPr>
          <a:xfrm>
            <a:off x="4885651" y="4685451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16019"/>
                </a:moveTo>
                <a:cubicBezTo>
                  <a:pt x="13329" y="-5400"/>
                  <a:pt x="6129" y="-5340"/>
                  <a:pt x="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24" name="Connection Line"/>
          <p:cNvSpPr/>
          <p:nvPr/>
        </p:nvSpPr>
        <p:spPr>
          <a:xfrm>
            <a:off x="5242658" y="4685451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16019"/>
                </a:moveTo>
                <a:cubicBezTo>
                  <a:pt x="13329" y="-5400"/>
                  <a:pt x="6129" y="-5340"/>
                  <a:pt x="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02" name="... x13..."/>
          <p:cNvSpPr txBox="1"/>
          <p:nvPr/>
        </p:nvSpPr>
        <p:spPr>
          <a:xfrm>
            <a:off x="6283080" y="4597314"/>
            <a:ext cx="939361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/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  <a:latin typeface="Gill Sans"/>
                <a:sym typeface="Gill Sans"/>
              </a:rPr>
              <a:t>... x13...</a:t>
            </a:r>
          </a:p>
        </p:txBody>
      </p:sp>
      <p:sp>
        <p:nvSpPr>
          <p:cNvPr id="225" name="Connection Line"/>
          <p:cNvSpPr/>
          <p:nvPr/>
        </p:nvSpPr>
        <p:spPr>
          <a:xfrm>
            <a:off x="8075686" y="4685451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16019"/>
                </a:moveTo>
                <a:cubicBezTo>
                  <a:pt x="13329" y="-5400"/>
                  <a:pt x="6129" y="-5340"/>
                  <a:pt x="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26" name="Connection Line"/>
          <p:cNvSpPr/>
          <p:nvPr/>
        </p:nvSpPr>
        <p:spPr>
          <a:xfrm>
            <a:off x="8432694" y="4685451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16019"/>
                </a:moveTo>
                <a:cubicBezTo>
                  <a:pt x="13329" y="-5400"/>
                  <a:pt x="6129" y="-5340"/>
                  <a:pt x="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27" name="Connection Line"/>
          <p:cNvSpPr/>
          <p:nvPr/>
        </p:nvSpPr>
        <p:spPr>
          <a:xfrm>
            <a:off x="8789700" y="4685451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16019"/>
                </a:moveTo>
                <a:cubicBezTo>
                  <a:pt x="13329" y="-5400"/>
                  <a:pt x="6129" y="-5340"/>
                  <a:pt x="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28" name="Connection Line"/>
          <p:cNvSpPr/>
          <p:nvPr/>
        </p:nvSpPr>
        <p:spPr>
          <a:xfrm>
            <a:off x="9146708" y="4685451"/>
            <a:ext cx="328892" cy="2334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16019"/>
                </a:moveTo>
                <a:cubicBezTo>
                  <a:pt x="13329" y="-5400"/>
                  <a:pt x="6129" y="-5340"/>
                  <a:pt x="0" y="16200"/>
                </a:cubicBezTo>
              </a:path>
            </a:pathLst>
          </a:custGeom>
          <a:ln w="50800">
            <a:solidFill>
              <a:srgbClr val="C82506"/>
            </a:solidFill>
            <a:miter lim="400000"/>
            <a:headEnd type="triangle"/>
          </a:ln>
        </p:spPr>
        <p:txBody>
          <a:bodyPr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207" name="... finally combine by bitwise or..."/>
          <p:cNvSpPr txBox="1"/>
          <p:nvPr/>
        </p:nvSpPr>
        <p:spPr>
          <a:xfrm>
            <a:off x="4900490" y="5526001"/>
            <a:ext cx="3704540" cy="39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3000"/>
            </a:lvl1pPr>
          </a:lstStyle>
          <a:p>
            <a:pPr algn="ctr" defTabSz="410751" hangingPunct="0"/>
            <a:r>
              <a:rPr sz="2109" kern="0">
                <a:solidFill>
                  <a:srgbClr val="000000"/>
                </a:solidFill>
                <a:latin typeface="Gill Sans"/>
                <a:sym typeface="Gill Sans"/>
              </a:rPr>
              <a:t>... finally combine by bitwise or...</a:t>
            </a:r>
          </a:p>
        </p:txBody>
      </p:sp>
      <p:graphicFrame>
        <p:nvGraphicFramePr>
          <p:cNvPr id="208" name="Table"/>
          <p:cNvGraphicFramePr/>
          <p:nvPr>
            <p:extLst>
              <p:ext uri="{D42A27DB-BD31-4B8C-83A1-F6EECF244321}">
                <p14:modId xmlns:p14="http://schemas.microsoft.com/office/powerpoint/2010/main" val="609437564"/>
              </p:ext>
            </p:extLst>
          </p:nvPr>
        </p:nvGraphicFramePr>
        <p:xfrm>
          <a:off x="3990117" y="6256449"/>
          <a:ext cx="5733952" cy="392738"/>
        </p:xfrm>
        <a:graphic>
          <a:graphicData uri="http://schemas.openxmlformats.org/drawingml/2006/table">
            <a:tbl>
              <a:tblPr bandRow="1"/>
              <a:tblGrid>
                <a:gridCol w="35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3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2738"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rgbClr val="049900"/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800">
                          <a:solidFill>
                            <a:schemeClr val="accent3">
                              <a:hueOff val="914337"/>
                              <a:satOff val="31515"/>
                              <a:lumOff val="-30790"/>
                            </a:schemeClr>
                          </a:solidFill>
                          <a:latin typeface="Helvetica Light"/>
                          <a:ea typeface="Helvetica Light"/>
                          <a:cs typeface="Helvetica Light"/>
                          <a:sym typeface="Helvetica Light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12700">
                      <a:solidFill>
                        <a:srgbClr val="3797C6"/>
                      </a:solidFill>
                      <a:miter lim="400000"/>
                    </a:lnL>
                    <a:lnR w="12700">
                      <a:solidFill>
                        <a:srgbClr val="3797C6"/>
                      </a:solidFill>
                      <a:miter lim="400000"/>
                    </a:lnR>
                    <a:lnT w="12700">
                      <a:solidFill>
                        <a:srgbClr val="3797C6"/>
                      </a:solidFill>
                      <a:miter lim="400000"/>
                    </a:lnT>
                    <a:lnB w="12700">
                      <a:solidFill>
                        <a:srgbClr val="3797C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9" name="Bitwise rotate left by 3 - considering high order bits"/>
          <p:cNvSpPr txBox="1"/>
          <p:nvPr/>
        </p:nvSpPr>
        <p:spPr>
          <a:xfrm>
            <a:off x="2957754" y="208813"/>
            <a:ext cx="7950896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 dirty="0">
                <a:solidFill>
                  <a:srgbClr val="000000"/>
                </a:solidFill>
                <a:latin typeface="Gill Sans"/>
                <a:sym typeface="Gill Sans"/>
              </a:rPr>
              <a:t>Bitwise rotate left by 3 - considering high order bits</a:t>
            </a:r>
          </a:p>
        </p:txBody>
      </p:sp>
      <p:sp>
        <p:nvSpPr>
          <p:cNvPr id="210" name="higher  bits"/>
          <p:cNvSpPr txBox="1"/>
          <p:nvPr/>
        </p:nvSpPr>
        <p:spPr>
          <a:xfrm>
            <a:off x="2635521" y="5658509"/>
            <a:ext cx="1139736" cy="980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higher </a:t>
            </a:r>
            <a:br>
              <a:rPr sz="2953" kern="0">
                <a:solidFill>
                  <a:srgbClr val="000000"/>
                </a:solidFill>
                <a:latin typeface="Gill Sans"/>
                <a:sym typeface="Gill Sans"/>
              </a:rPr>
            </a:br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bits</a:t>
            </a:r>
          </a:p>
        </p:txBody>
      </p:sp>
      <p:pic>
        <p:nvPicPr>
          <p:cNvPr id="211" name="Line Line" descr="Line Lin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990873" y="5316048"/>
            <a:ext cx="429032" cy="28108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interfacing with reality"/>
          <p:cNvSpPr txBox="1">
            <a:spLocks noGrp="1"/>
          </p:cNvSpPr>
          <p:nvPr>
            <p:ph type="title"/>
          </p:nvPr>
        </p:nvSpPr>
        <p:spPr>
          <a:xfrm>
            <a:off x="1866900" y="-43946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dirty="0"/>
              <a:t>interfacing with reality</a:t>
            </a:r>
          </a:p>
        </p:txBody>
      </p:sp>
      <p:sp>
        <p:nvSpPr>
          <p:cNvPr id="231" name="to link to real hardware, usually use ctypes:…"/>
          <p:cNvSpPr txBox="1">
            <a:spLocks noGrp="1"/>
          </p:cNvSpPr>
          <p:nvPr>
            <p:ph type="body" idx="1"/>
          </p:nvPr>
        </p:nvSpPr>
        <p:spPr>
          <a:xfrm>
            <a:off x="104776" y="1670554"/>
            <a:ext cx="8648700" cy="4867168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000" dirty="0"/>
              <a:t>to link to real hardware, usually use </a:t>
            </a:r>
            <a:r>
              <a:rPr sz="2000" dirty="0" err="1">
                <a:latin typeface="Courier"/>
                <a:ea typeface="Courier"/>
                <a:cs typeface="Courier"/>
                <a:sym typeface="Courier"/>
              </a:rPr>
              <a:t>ctypes</a:t>
            </a:r>
            <a:r>
              <a:rPr sz="2000" dirty="0"/>
              <a:t>: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# import </a:t>
            </a:r>
            <a:r>
              <a:rPr sz="2000" dirty="0" err="1"/>
              <a:t>ctypes</a:t>
            </a:r>
            <a:endParaRPr sz="2000" dirty="0"/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c_uint8 = ctypes.c_uint8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class </a:t>
            </a:r>
            <a:r>
              <a:rPr sz="2000" dirty="0" err="1"/>
              <a:t>Flags_bits</a:t>
            </a:r>
            <a:r>
              <a:rPr sz="2000" dirty="0"/>
              <a:t>( </a:t>
            </a:r>
            <a:r>
              <a:rPr sz="2000" dirty="0" err="1"/>
              <a:t>ctypes.LittleEndianStructure</a:t>
            </a:r>
            <a:r>
              <a:rPr sz="2000" dirty="0"/>
              <a:t> ):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_fields_ = [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           ("logout",     c_uint8, 1 ),  # </a:t>
            </a:r>
            <a:r>
              <a:rPr sz="2000" dirty="0" err="1"/>
              <a:t>asByte</a:t>
            </a:r>
            <a:r>
              <a:rPr sz="2000" dirty="0"/>
              <a:t> &amp; 1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           ("</a:t>
            </a:r>
            <a:r>
              <a:rPr sz="2000" dirty="0" err="1"/>
              <a:t>userswitch</a:t>
            </a:r>
            <a:r>
              <a:rPr sz="2000" dirty="0"/>
              <a:t>", c_uint8, 1 ),  # </a:t>
            </a:r>
            <a:r>
              <a:rPr sz="2000" dirty="0" err="1"/>
              <a:t>asByte</a:t>
            </a:r>
            <a:r>
              <a:rPr sz="2000" dirty="0"/>
              <a:t> &amp; 2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           ("suspend",    c_uint8, 1 ),  # </a:t>
            </a:r>
            <a:r>
              <a:rPr sz="2000" dirty="0" err="1"/>
              <a:t>asByte</a:t>
            </a:r>
            <a:r>
              <a:rPr sz="2000" dirty="0"/>
              <a:t> &amp; 4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           ("idle",       c_uint8, 1 ),  # </a:t>
            </a:r>
            <a:r>
              <a:rPr sz="2000" dirty="0" err="1"/>
              <a:t>asByte</a:t>
            </a:r>
            <a:r>
              <a:rPr sz="2000" dirty="0"/>
              <a:t> &amp; 8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            ]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class Flags( </a:t>
            </a:r>
            <a:r>
              <a:rPr sz="2000" dirty="0" err="1"/>
              <a:t>ctypes.Union</a:t>
            </a:r>
            <a:r>
              <a:rPr sz="2000" dirty="0"/>
              <a:t> ):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 _anonymous_ = ("bit",)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 _fields_ = [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             ("bit",    </a:t>
            </a:r>
            <a:r>
              <a:rPr sz="2000" dirty="0" err="1"/>
              <a:t>Flags_bits</a:t>
            </a:r>
            <a:r>
              <a:rPr sz="2000" dirty="0"/>
              <a:t> ),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             ("</a:t>
            </a:r>
            <a:r>
              <a:rPr sz="2000" dirty="0" err="1"/>
              <a:t>asByte</a:t>
            </a:r>
            <a:r>
              <a:rPr sz="2000" dirty="0"/>
              <a:t>", c_uint8    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000" dirty="0"/>
              <a:t>               ]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48158-0DA3-4662-8893-FC42E4D99B9E}"/>
              </a:ext>
            </a:extLst>
          </p:cNvPr>
          <p:cNvSpPr txBox="1"/>
          <p:nvPr/>
        </p:nvSpPr>
        <p:spPr>
          <a:xfrm>
            <a:off x="8753476" y="2013407"/>
            <a:ext cx="3495675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flags = Flags()</a:t>
            </a:r>
          </a:p>
          <a:p>
            <a:r>
              <a:rPr lang="en-GB" dirty="0" err="1">
                <a:solidFill>
                  <a:schemeClr val="accent1"/>
                </a:solidFill>
              </a:rPr>
              <a:t>flags.asByte</a:t>
            </a:r>
            <a:r>
              <a:rPr lang="en-GB" dirty="0">
                <a:solidFill>
                  <a:schemeClr val="accent1"/>
                </a:solidFill>
              </a:rPr>
              <a:t> = 0x2  # -&gt;0010</a:t>
            </a:r>
          </a:p>
          <a:p>
            <a:endParaRPr lang="en-GB" dirty="0">
              <a:solidFill>
                <a:schemeClr val="accent1"/>
              </a:solidFill>
            </a:endParaRPr>
          </a:p>
          <a:p>
            <a:r>
              <a:rPr lang="en-GB" dirty="0">
                <a:solidFill>
                  <a:schemeClr val="accent1"/>
                </a:solidFill>
              </a:rPr>
              <a:t>print( "logout: %</a:t>
            </a:r>
            <a:r>
              <a:rPr lang="en-GB" dirty="0" err="1">
                <a:solidFill>
                  <a:schemeClr val="accent1"/>
                </a:solidFill>
              </a:rPr>
              <a:t>i</a:t>
            </a:r>
            <a:r>
              <a:rPr lang="en-GB" dirty="0">
                <a:solidFill>
                  <a:schemeClr val="accent1"/>
                </a:solidFill>
              </a:rPr>
              <a:t>"      % </a:t>
            </a:r>
            <a:r>
              <a:rPr lang="en-GB" dirty="0" err="1">
                <a:solidFill>
                  <a:schemeClr val="accent1"/>
                </a:solidFill>
              </a:rPr>
              <a:t>flags.bit.logout</a:t>
            </a:r>
            <a:r>
              <a:rPr lang="en-GB" dirty="0">
                <a:solidFill>
                  <a:schemeClr val="accent1"/>
                </a:solidFill>
              </a:rPr>
              <a:t>   )</a:t>
            </a:r>
          </a:p>
          <a:p>
            <a:r>
              <a:rPr lang="en-GB" dirty="0">
                <a:solidFill>
                  <a:schemeClr val="accent1"/>
                </a:solidFill>
              </a:rPr>
              <a:t># `bit` is defined as anonymous field, so its fields can also be accessed directly:</a:t>
            </a:r>
          </a:p>
          <a:p>
            <a:r>
              <a:rPr lang="en-GB" dirty="0">
                <a:solidFill>
                  <a:schemeClr val="accent1"/>
                </a:solidFill>
              </a:rPr>
              <a:t>print( "logout: %</a:t>
            </a:r>
            <a:r>
              <a:rPr lang="en-GB" dirty="0" err="1">
                <a:solidFill>
                  <a:schemeClr val="accent1"/>
                </a:solidFill>
              </a:rPr>
              <a:t>i</a:t>
            </a:r>
            <a:r>
              <a:rPr lang="en-GB" dirty="0">
                <a:solidFill>
                  <a:schemeClr val="accent1"/>
                </a:solidFill>
              </a:rPr>
              <a:t>"      % </a:t>
            </a:r>
            <a:r>
              <a:rPr lang="en-GB" dirty="0" err="1">
                <a:solidFill>
                  <a:schemeClr val="accent1"/>
                </a:solidFill>
              </a:rPr>
              <a:t>flags.logout</a:t>
            </a:r>
            <a:r>
              <a:rPr lang="en-GB" dirty="0">
                <a:solidFill>
                  <a:schemeClr val="accent1"/>
                </a:solidFill>
              </a:rPr>
              <a:t>     )</a:t>
            </a:r>
          </a:p>
          <a:p>
            <a:r>
              <a:rPr lang="en-GB" dirty="0">
                <a:solidFill>
                  <a:schemeClr val="accent1"/>
                </a:solidFill>
              </a:rPr>
              <a:t>print( "</a:t>
            </a:r>
            <a:r>
              <a:rPr lang="en-GB" dirty="0" err="1">
                <a:solidFill>
                  <a:schemeClr val="accent1"/>
                </a:solidFill>
              </a:rPr>
              <a:t>userswitch</a:t>
            </a:r>
            <a:r>
              <a:rPr lang="en-GB" dirty="0">
                <a:solidFill>
                  <a:schemeClr val="accent1"/>
                </a:solidFill>
              </a:rPr>
              <a:t>:  %</a:t>
            </a:r>
            <a:r>
              <a:rPr lang="en-GB" dirty="0" err="1">
                <a:solidFill>
                  <a:schemeClr val="accent1"/>
                </a:solidFill>
              </a:rPr>
              <a:t>i</a:t>
            </a:r>
            <a:r>
              <a:rPr lang="en-GB" dirty="0">
                <a:solidFill>
                  <a:schemeClr val="accent1"/>
                </a:solidFill>
              </a:rPr>
              <a:t>" % </a:t>
            </a:r>
            <a:r>
              <a:rPr lang="en-GB" dirty="0" err="1">
                <a:solidFill>
                  <a:schemeClr val="accent1"/>
                </a:solidFill>
              </a:rPr>
              <a:t>flags.userswitch</a:t>
            </a:r>
            <a:r>
              <a:rPr lang="en-GB" dirty="0">
                <a:solidFill>
                  <a:schemeClr val="accent1"/>
                </a:solidFill>
              </a:rPr>
              <a:t> )</a:t>
            </a:r>
          </a:p>
          <a:p>
            <a:r>
              <a:rPr lang="en-GB" dirty="0">
                <a:solidFill>
                  <a:schemeClr val="accent1"/>
                </a:solidFill>
              </a:rPr>
              <a:t>print( "suspend   :  %</a:t>
            </a:r>
            <a:r>
              <a:rPr lang="en-GB" dirty="0" err="1">
                <a:solidFill>
                  <a:schemeClr val="accent1"/>
                </a:solidFill>
              </a:rPr>
              <a:t>i</a:t>
            </a:r>
            <a:r>
              <a:rPr lang="en-GB" dirty="0">
                <a:solidFill>
                  <a:schemeClr val="accent1"/>
                </a:solidFill>
              </a:rPr>
              <a:t>" % </a:t>
            </a:r>
            <a:r>
              <a:rPr lang="en-GB" dirty="0" err="1">
                <a:solidFill>
                  <a:schemeClr val="accent1"/>
                </a:solidFill>
              </a:rPr>
              <a:t>flags.suspend</a:t>
            </a:r>
            <a:r>
              <a:rPr lang="en-GB" dirty="0">
                <a:solidFill>
                  <a:schemeClr val="accent1"/>
                </a:solidFill>
              </a:rPr>
              <a:t>    )</a:t>
            </a:r>
          </a:p>
          <a:p>
            <a:r>
              <a:rPr lang="en-GB" dirty="0">
                <a:solidFill>
                  <a:schemeClr val="accent1"/>
                </a:solidFill>
              </a:rPr>
              <a:t>print( "idle  : %</a:t>
            </a:r>
            <a:r>
              <a:rPr lang="en-GB" dirty="0" err="1">
                <a:solidFill>
                  <a:schemeClr val="accent1"/>
                </a:solidFill>
              </a:rPr>
              <a:t>i</a:t>
            </a:r>
            <a:r>
              <a:rPr lang="en-GB" dirty="0">
                <a:solidFill>
                  <a:schemeClr val="accent1"/>
                </a:solidFill>
              </a:rPr>
              <a:t>"      % </a:t>
            </a:r>
            <a:r>
              <a:rPr lang="en-GB" dirty="0" err="1">
                <a:solidFill>
                  <a:schemeClr val="accent1"/>
                </a:solidFill>
              </a:rPr>
              <a:t>flags.idle</a:t>
            </a:r>
            <a:r>
              <a:rPr lang="en-GB" dirty="0">
                <a:solidFill>
                  <a:schemeClr val="accent1"/>
                </a:solidFill>
              </a:rPr>
              <a:t>       )ouch - let's look a bit more closely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interfacing with reality"/>
          <p:cNvSpPr txBox="1">
            <a:spLocks noGrp="1"/>
          </p:cNvSpPr>
          <p:nvPr>
            <p:ph type="title"/>
          </p:nvPr>
        </p:nvSpPr>
        <p:spPr>
          <a:xfrm>
            <a:off x="1905000" y="-136922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dirty="0"/>
              <a:t>interfacing with reality</a:t>
            </a:r>
          </a:p>
        </p:txBody>
      </p:sp>
      <p:sp>
        <p:nvSpPr>
          <p:cNvPr id="236" name="ctypes can match fixed bit length variables one to another.…"/>
          <p:cNvSpPr txBox="1">
            <a:spLocks noGrp="1"/>
          </p:cNvSpPr>
          <p:nvPr>
            <p:ph type="body" idx="1"/>
          </p:nvPr>
        </p:nvSpPr>
        <p:spPr>
          <a:xfrm>
            <a:off x="152401" y="1270504"/>
            <a:ext cx="12039599" cy="4867168"/>
          </a:xfrm>
          <a:prstGeom prst="rect">
            <a:avLst/>
          </a:prstGeom>
        </p:spPr>
        <p:txBody>
          <a:bodyPr anchor="t"/>
          <a:lstStyle/>
          <a:p>
            <a:pPr marL="344418" indent="-344418"/>
            <a:r>
              <a:rPr sz="2531" dirty="0" err="1">
                <a:latin typeface="Courier"/>
                <a:ea typeface="Courier"/>
                <a:cs typeface="Courier"/>
                <a:sym typeface="Courier"/>
              </a:rPr>
              <a:t>ctypes</a:t>
            </a:r>
            <a:r>
              <a:rPr sz="2531" dirty="0"/>
              <a:t> </a:t>
            </a:r>
            <a:r>
              <a:rPr dirty="0"/>
              <a:t>can match fixed bit length variables one to another.</a:t>
            </a:r>
            <a:r>
              <a:rPr sz="2531" dirty="0"/>
              <a:t> 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531" dirty="0"/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flags = Flags()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flags.asByte</a:t>
            </a:r>
            <a:r>
              <a:rPr dirty="0"/>
              <a:t> = 0x2  # -&gt;0010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 "logout:      {}".format(</a:t>
            </a:r>
            <a:r>
              <a:rPr dirty="0" err="1"/>
              <a:t>flags.bit.logout</a:t>
            </a:r>
            <a:r>
              <a:rPr dirty="0"/>
              <a:t>))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 "logout:      {}".format(</a:t>
            </a:r>
            <a:r>
              <a:rPr dirty="0" err="1"/>
              <a:t>flags.logout</a:t>
            </a:r>
            <a:r>
              <a:rPr dirty="0"/>
              <a:t>    ))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 "</a:t>
            </a:r>
            <a:r>
              <a:rPr dirty="0" err="1"/>
              <a:t>userswitch</a:t>
            </a:r>
            <a:r>
              <a:rPr dirty="0"/>
              <a:t>:  {}".format(</a:t>
            </a:r>
            <a:r>
              <a:rPr dirty="0" err="1"/>
              <a:t>flags.userswitch</a:t>
            </a:r>
            <a:r>
              <a:rPr dirty="0"/>
              <a:t>))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 "suspend   :  {}".format(</a:t>
            </a:r>
            <a:r>
              <a:rPr dirty="0" err="1"/>
              <a:t>flags.suspend</a:t>
            </a:r>
            <a:r>
              <a:rPr dirty="0"/>
              <a:t>   ))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 "idle  :      {}".format(</a:t>
            </a:r>
            <a:r>
              <a:rPr dirty="0" err="1"/>
              <a:t>flags.idle</a:t>
            </a:r>
            <a:r>
              <a:rPr dirty="0"/>
              <a:t>      ))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logout:      0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logout:      0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userswitch</a:t>
            </a:r>
            <a:r>
              <a:rPr dirty="0"/>
              <a:t>:  1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suspend   :  0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idle  :      0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Advanced Plotting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Advanced Plotting</a:t>
            </a:r>
          </a:p>
        </p:txBody>
      </p:sp>
      <p:sp>
        <p:nvSpPr>
          <p:cNvPr id="241" name="practical advice with plotting package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practical advice with plotting package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otting with np arrays"/>
          <p:cNvSpPr txBox="1">
            <a:spLocks noGrp="1"/>
          </p:cNvSpPr>
          <p:nvPr>
            <p:ph type="title"/>
          </p:nvPr>
        </p:nvSpPr>
        <p:spPr>
          <a:xfrm>
            <a:off x="1571625" y="-19194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P</a:t>
            </a:r>
            <a:r>
              <a:rPr dirty="0"/>
              <a:t>lotting with np arrays</a:t>
            </a:r>
          </a:p>
        </p:txBody>
      </p:sp>
      <p:sp>
        <p:nvSpPr>
          <p:cNvPr id="244" name="reminder of how to do plotting with numpy arrays and the matplotlib library:…"/>
          <p:cNvSpPr txBox="1">
            <a:spLocks noGrp="1"/>
          </p:cNvSpPr>
          <p:nvPr>
            <p:ph type="body" idx="1"/>
          </p:nvPr>
        </p:nvSpPr>
        <p:spPr>
          <a:xfrm>
            <a:off x="352426" y="1727597"/>
            <a:ext cx="9125546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reminder of how to do plotting with </a:t>
            </a:r>
            <a:r>
              <a:rPr dirty="0" err="1"/>
              <a:t>numpy</a:t>
            </a:r>
            <a:r>
              <a:rPr dirty="0"/>
              <a:t> arrays and the matplotlib library: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import </a:t>
            </a:r>
            <a:r>
              <a:rPr dirty="0" err="1"/>
              <a:t>numpy</a:t>
            </a:r>
            <a:r>
              <a:rPr dirty="0"/>
              <a:t> as np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import </a:t>
            </a:r>
            <a:r>
              <a:rPr dirty="0" err="1"/>
              <a:t>matplotlib.pyplot</a:t>
            </a:r>
            <a:r>
              <a:rPr dirty="0"/>
              <a:t> as ppt</a:t>
            </a:r>
            <a:r>
              <a:rPr dirty="0">
                <a:solidFill>
                  <a:srgbClr val="0433FF"/>
                </a:solidFill>
              </a:rPr>
              <a:t>  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pi = </a:t>
            </a:r>
            <a:r>
              <a:rPr dirty="0" err="1"/>
              <a:t>np.pi</a:t>
            </a:r>
            <a:endParaRPr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xvals</a:t>
            </a:r>
            <a:r>
              <a:rPr dirty="0"/>
              <a:t> = </a:t>
            </a:r>
            <a:r>
              <a:rPr dirty="0" err="1"/>
              <a:t>np.linspace</a:t>
            </a:r>
            <a:r>
              <a:rPr dirty="0"/>
              <a:t>(0.0, 2*pi, 9)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yvals</a:t>
            </a:r>
            <a:r>
              <a:rPr dirty="0"/>
              <a:t> = </a:t>
            </a:r>
            <a:r>
              <a:rPr dirty="0" err="1"/>
              <a:t>np.sin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)            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ppt.plot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, </a:t>
            </a:r>
            <a:r>
              <a:rPr dirty="0" err="1"/>
              <a:t>yvals</a:t>
            </a:r>
            <a:r>
              <a:rPr dirty="0"/>
              <a:t>)             </a:t>
            </a:r>
            <a:endParaRPr dirty="0">
              <a:solidFill>
                <a:srgbClr val="0433FF"/>
              </a:solidFill>
            </a:endParaRPr>
          </a:p>
          <a:p>
            <a:pPr marL="401822"/>
            <a:r>
              <a:rPr dirty="0"/>
              <a:t>create an array of x-</a:t>
            </a:r>
            <a:r>
              <a:rPr dirty="0" err="1"/>
              <a:t>coords</a:t>
            </a:r>
            <a:r>
              <a:rPr dirty="0"/>
              <a:t>.</a:t>
            </a:r>
            <a:br>
              <a:rPr dirty="0"/>
            </a:br>
            <a:r>
              <a:rPr dirty="0"/>
              <a:t>calculate the y-</a:t>
            </a:r>
            <a:r>
              <a:rPr dirty="0" err="1"/>
              <a:t>coords</a:t>
            </a:r>
            <a:r>
              <a:rPr dirty="0"/>
              <a:t>.</a:t>
            </a:r>
            <a:br>
              <a:rPr dirty="0"/>
            </a:br>
            <a:r>
              <a:rPr dirty="0"/>
              <a:t>plot.</a:t>
            </a:r>
          </a:p>
        </p:txBody>
      </p:sp>
      <p:pic>
        <p:nvPicPr>
          <p:cNvPr id="245" name="Screenshot 2019-10-17 at 11.48.20.png" descr="Screenshot 2019-10-17 at 11.48.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588" y="3017257"/>
            <a:ext cx="3580754" cy="22864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multiple plo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M</a:t>
            </a:r>
            <a:r>
              <a:rPr dirty="0" err="1"/>
              <a:t>ultiple</a:t>
            </a:r>
            <a:r>
              <a:rPr dirty="0"/>
              <a:t> plots</a:t>
            </a:r>
          </a:p>
        </p:txBody>
      </p:sp>
      <p:sp>
        <p:nvSpPr>
          <p:cNvPr id="250" name="plotting two traces with same x-coord, plots on the same plot:…"/>
          <p:cNvSpPr txBox="1">
            <a:spLocks noGrp="1"/>
          </p:cNvSpPr>
          <p:nvPr>
            <p:ph type="body" idx="1"/>
          </p:nvPr>
        </p:nvSpPr>
        <p:spPr>
          <a:xfrm>
            <a:off x="0" y="1518047"/>
            <a:ext cx="9516071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plotting two traces with same x-</a:t>
            </a:r>
            <a:r>
              <a:rPr dirty="0" err="1"/>
              <a:t>coord</a:t>
            </a:r>
            <a:r>
              <a:rPr dirty="0"/>
              <a:t>, plots on the same plot: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pi = </a:t>
            </a:r>
            <a:r>
              <a:rPr dirty="0" err="1"/>
              <a:t>np.pi</a:t>
            </a:r>
            <a:endParaRPr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xvals</a:t>
            </a:r>
            <a:r>
              <a:rPr dirty="0"/>
              <a:t> = </a:t>
            </a:r>
            <a:r>
              <a:rPr dirty="0" err="1"/>
              <a:t>np.linspace</a:t>
            </a:r>
            <a:r>
              <a:rPr dirty="0"/>
              <a:t>(0.0, 2*pi, 9)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yvals</a:t>
            </a:r>
            <a:r>
              <a:rPr dirty="0"/>
              <a:t> = </a:t>
            </a:r>
            <a:r>
              <a:rPr dirty="0" err="1"/>
              <a:t>np.sin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yvals2 = </a:t>
            </a:r>
            <a:r>
              <a:rPr dirty="0" err="1"/>
              <a:t>np.cos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ppt.plot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, </a:t>
            </a:r>
            <a:r>
              <a:rPr dirty="0" err="1"/>
              <a:t>yvals</a:t>
            </a:r>
            <a:r>
              <a:rPr dirty="0"/>
              <a:t>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ppt.plot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, yvals2)             </a:t>
            </a:r>
            <a:endParaRPr dirty="0">
              <a:solidFill>
                <a:srgbClr val="0433FF"/>
              </a:solidFill>
            </a:endParaRPr>
          </a:p>
          <a:p>
            <a:pPr marL="401822"/>
            <a:r>
              <a:rPr dirty="0"/>
              <a:t>oh, and can fill between traces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yvals</a:t>
            </a:r>
            <a:r>
              <a:rPr dirty="0"/>
              <a:t> = </a:t>
            </a:r>
            <a:r>
              <a:rPr dirty="0" err="1"/>
              <a:t>np.sin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yvals2 = </a:t>
            </a:r>
            <a:r>
              <a:rPr dirty="0" err="1"/>
              <a:t>np.cos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ppt.fill_between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, </a:t>
            </a:r>
            <a:r>
              <a:rPr dirty="0" err="1"/>
              <a:t>yvals</a:t>
            </a:r>
            <a:r>
              <a:rPr dirty="0"/>
              <a:t>, yvals2, </a:t>
            </a:r>
            <a:br>
              <a:rPr dirty="0"/>
            </a:br>
            <a:r>
              <a:rPr dirty="0"/>
              <a:t>        alpha=0.2)</a:t>
            </a:r>
          </a:p>
        </p:txBody>
      </p:sp>
      <p:pic>
        <p:nvPicPr>
          <p:cNvPr id="251" name="Screenshot 2019-10-19 at 09.33.29.png" descr="Screenshot 2019-10-19 at 09.33.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316" y="2101713"/>
            <a:ext cx="3537278" cy="22616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Screenshot 2019-10-19 at 09.35.46.png" descr="Screenshot 2019-10-19 at 09.35.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272" y="4545614"/>
            <a:ext cx="2910917" cy="18611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multiple separate plots"/>
          <p:cNvSpPr txBox="1">
            <a:spLocks noGrp="1"/>
          </p:cNvSpPr>
          <p:nvPr>
            <p:ph type="title"/>
          </p:nvPr>
        </p:nvSpPr>
        <p:spPr>
          <a:xfrm>
            <a:off x="1743075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dirty="0"/>
              <a:t>multiple separate plots</a:t>
            </a:r>
          </a:p>
        </p:txBody>
      </p:sp>
      <p:sp>
        <p:nvSpPr>
          <p:cNvPr id="257" name="plotting two traces side by side needs the ppt.subplot() function (I know you've had a go at using this in the labs):…"/>
          <p:cNvSpPr txBox="1">
            <a:spLocks noGrp="1"/>
          </p:cNvSpPr>
          <p:nvPr>
            <p:ph type="body" idx="1"/>
          </p:nvPr>
        </p:nvSpPr>
        <p:spPr>
          <a:xfrm>
            <a:off x="47625" y="1852613"/>
            <a:ext cx="12096750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plotting two traces side by side needs the </a:t>
            </a:r>
            <a:r>
              <a:rPr sz="2531" dirty="0" err="1">
                <a:latin typeface="Courier"/>
                <a:ea typeface="Courier"/>
                <a:cs typeface="Courier"/>
                <a:sym typeface="Courier"/>
              </a:rPr>
              <a:t>ppt.subplot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()</a:t>
            </a:r>
            <a:r>
              <a:rPr dirty="0"/>
              <a:t> function (I know you've had a go at using this in the labs):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fig, </a:t>
            </a:r>
            <a:r>
              <a:rPr dirty="0" err="1"/>
              <a:t>axarr</a:t>
            </a:r>
            <a:r>
              <a:rPr dirty="0"/>
              <a:t> = </a:t>
            </a:r>
            <a:r>
              <a:rPr dirty="0" err="1"/>
              <a:t>plt.subplots</a:t>
            </a:r>
            <a:r>
              <a:rPr dirty="0"/>
              <a:t>(2, 1, </a:t>
            </a:r>
            <a:r>
              <a:rPr dirty="0" err="1"/>
              <a:t>sharex</a:t>
            </a:r>
            <a:r>
              <a:rPr dirty="0"/>
              <a:t>=True)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# figure has rows = 2 and columns = 1 of graphs      </a:t>
            </a:r>
            <a:r>
              <a:rPr dirty="0"/>
              <a:t>   </a:t>
            </a:r>
            <a:endParaRPr dirty="0">
              <a:solidFill>
                <a:srgbClr val="0433FF"/>
              </a:solidFill>
            </a:endParaRPr>
          </a:p>
          <a:p>
            <a:pPr marL="401822"/>
            <a:r>
              <a:rPr dirty="0"/>
              <a:t>it returns a figure object and a tuple of axes or graphs into which you can drop data: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axarr</a:t>
            </a:r>
            <a:r>
              <a:rPr dirty="0"/>
              <a:t>[0].scatter(</a:t>
            </a:r>
            <a:r>
              <a:rPr dirty="0" err="1"/>
              <a:t>x_vals</a:t>
            </a:r>
            <a:r>
              <a:rPr dirty="0"/>
              <a:t>, squares)       </a:t>
            </a:r>
            <a:r>
              <a:rPr dirty="0">
                <a:solidFill>
                  <a:srgbClr val="0433FF"/>
                </a:solidFill>
              </a:rPr>
              <a:t>#row 1 col 1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axarr</a:t>
            </a:r>
            <a:r>
              <a:rPr dirty="0"/>
              <a:t>[0].</a:t>
            </a:r>
            <a:r>
              <a:rPr dirty="0" err="1"/>
              <a:t>set_title</a:t>
            </a:r>
            <a:r>
              <a:rPr dirty="0"/>
              <a:t>('Squares')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axarr</a:t>
            </a:r>
            <a:r>
              <a:rPr dirty="0"/>
              <a:t>[1].scatter(</a:t>
            </a:r>
            <a:r>
              <a:rPr dirty="0" err="1"/>
              <a:t>x_vals</a:t>
            </a:r>
            <a:r>
              <a:rPr dirty="0"/>
              <a:t>, cubes, c='r')  </a:t>
            </a:r>
            <a:r>
              <a:rPr dirty="0">
                <a:solidFill>
                  <a:srgbClr val="0433FF"/>
                </a:solidFill>
              </a:rPr>
              <a:t>#row 1 col 2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axarr</a:t>
            </a:r>
            <a:r>
              <a:rPr dirty="0"/>
              <a:t>[1].</a:t>
            </a:r>
            <a:r>
              <a:rPr dirty="0" err="1"/>
              <a:t>set_title</a:t>
            </a:r>
            <a:r>
              <a:rPr dirty="0"/>
              <a:t>('Cubes')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multiple separate plo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multiple separate plots</a:t>
            </a:r>
          </a:p>
        </p:txBody>
      </p:sp>
      <p:sp>
        <p:nvSpPr>
          <p:cNvPr id="262" name="we can plot with a shared x-axis :…"/>
          <p:cNvSpPr txBox="1">
            <a:spLocks noGrp="1"/>
          </p:cNvSpPr>
          <p:nvPr>
            <p:ph type="body" idx="1"/>
          </p:nvPr>
        </p:nvSpPr>
        <p:spPr>
          <a:xfrm>
            <a:off x="276226" y="1946672"/>
            <a:ext cx="9239846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we can plot with a shared x-axis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fig, </a:t>
            </a:r>
            <a:r>
              <a:rPr dirty="0" err="1"/>
              <a:t>axarr</a:t>
            </a:r>
            <a:r>
              <a:rPr dirty="0"/>
              <a:t> = </a:t>
            </a:r>
            <a:r>
              <a:rPr dirty="0" err="1"/>
              <a:t>plt.subplots</a:t>
            </a:r>
            <a:r>
              <a:rPr dirty="0"/>
              <a:t>(2, 1, </a:t>
            </a:r>
            <a:r>
              <a:rPr dirty="0" err="1">
                <a:solidFill>
                  <a:srgbClr val="FF2600"/>
                </a:solidFill>
              </a:rPr>
              <a:t>sharex</a:t>
            </a:r>
            <a:r>
              <a:rPr dirty="0">
                <a:solidFill>
                  <a:srgbClr val="FF2600"/>
                </a:solidFill>
              </a:rPr>
              <a:t>=True</a:t>
            </a:r>
            <a:r>
              <a:rPr dirty="0"/>
              <a:t>)</a:t>
            </a:r>
            <a:r>
              <a:rPr dirty="0">
                <a:solidFill>
                  <a:srgbClr val="0433FF"/>
                </a:solidFill>
              </a:rPr>
              <a:t>     </a:t>
            </a:r>
            <a:r>
              <a:rPr dirty="0"/>
              <a:t>   </a:t>
            </a:r>
          </a:p>
        </p:txBody>
      </p:sp>
      <p:pic>
        <p:nvPicPr>
          <p:cNvPr id="263" name="Screenshot 2019-10-19 at 10.43.30.png" descr="Screenshot 2019-10-19 at 10.43.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106" y="3037174"/>
            <a:ext cx="5405867" cy="36309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multiple separate plo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multiple separate plots</a:t>
            </a:r>
          </a:p>
        </p:txBody>
      </p:sp>
      <p:sp>
        <p:nvSpPr>
          <p:cNvPr id="268" name="or we can plot with shared y-axis :…"/>
          <p:cNvSpPr txBox="1">
            <a:spLocks noGrp="1"/>
          </p:cNvSpPr>
          <p:nvPr>
            <p:ph type="body" idx="1"/>
          </p:nvPr>
        </p:nvSpPr>
        <p:spPr>
          <a:xfrm>
            <a:off x="257176" y="1946672"/>
            <a:ext cx="9258896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or we can plot with shared y-axis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fig, </a:t>
            </a:r>
            <a:r>
              <a:rPr dirty="0" err="1"/>
              <a:t>axarr</a:t>
            </a:r>
            <a:r>
              <a:rPr dirty="0"/>
              <a:t> = </a:t>
            </a:r>
            <a:r>
              <a:rPr dirty="0" err="1"/>
              <a:t>plt.subplots</a:t>
            </a:r>
            <a:r>
              <a:rPr dirty="0"/>
              <a:t>(2, 1, </a:t>
            </a:r>
            <a:r>
              <a:rPr dirty="0" err="1">
                <a:solidFill>
                  <a:srgbClr val="FF2600"/>
                </a:solidFill>
              </a:rPr>
              <a:t>sharey</a:t>
            </a:r>
            <a:r>
              <a:rPr dirty="0">
                <a:solidFill>
                  <a:srgbClr val="FF2600"/>
                </a:solidFill>
              </a:rPr>
              <a:t>=True</a:t>
            </a:r>
            <a:r>
              <a:rPr dirty="0"/>
              <a:t>)</a:t>
            </a:r>
            <a:r>
              <a:rPr dirty="0">
                <a:solidFill>
                  <a:srgbClr val="0433FF"/>
                </a:solidFill>
              </a:rPr>
              <a:t>     </a:t>
            </a:r>
            <a:r>
              <a:rPr dirty="0"/>
              <a:t>   </a:t>
            </a:r>
          </a:p>
        </p:txBody>
      </p:sp>
      <p:pic>
        <p:nvPicPr>
          <p:cNvPr id="269" name="Screenshot 2019-10-19 at 10.44.39.png" descr="Screenshot 2019-10-19 at 10.44.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411" y="3000375"/>
            <a:ext cx="5512190" cy="38807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ots with dates/tim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P</a:t>
            </a:r>
            <a:r>
              <a:rPr dirty="0"/>
              <a:t>lots with dates/times</a:t>
            </a:r>
          </a:p>
        </p:txBody>
      </p:sp>
      <p:sp>
        <p:nvSpPr>
          <p:cNvPr id="274" name="sometimes you want to plot against year, date or time - lines or bar charts.…"/>
          <p:cNvSpPr txBox="1">
            <a:spLocks noGrp="1"/>
          </p:cNvSpPr>
          <p:nvPr>
            <p:ph type="body" idx="1"/>
          </p:nvPr>
        </p:nvSpPr>
        <p:spPr>
          <a:xfrm>
            <a:off x="295275" y="1718072"/>
            <a:ext cx="9211271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sometimes you want to plot against year, date or time - lines or bar charts. </a:t>
            </a:r>
          </a:p>
          <a:p>
            <a:pPr marL="401822"/>
            <a:r>
              <a:rPr dirty="0"/>
              <a:t>could just list dates as strings: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years = ['2011', '2012', '2013', '2020', '2021']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highs = [57, 68, 64, 59, 54]</a:t>
            </a:r>
          </a:p>
          <a:p>
            <a:pPr marL="401822"/>
            <a:r>
              <a:rPr dirty="0"/>
              <a:t>but then plotting would </a:t>
            </a:r>
            <a:br>
              <a:rPr dirty="0"/>
            </a:br>
            <a:r>
              <a:rPr dirty="0"/>
              <a:t>just 'bunce' them all </a:t>
            </a:r>
            <a:br>
              <a:rPr dirty="0"/>
            </a:br>
            <a:r>
              <a:rPr dirty="0"/>
              <a:t>together with no proper </a:t>
            </a:r>
            <a:br>
              <a:rPr dirty="0"/>
            </a:br>
            <a:r>
              <a:rPr dirty="0"/>
              <a:t>separation</a:t>
            </a:r>
          </a:p>
        </p:txBody>
      </p:sp>
      <p:pic>
        <p:nvPicPr>
          <p:cNvPr id="275" name="Screenshot 2019-10-19 at 10.02.56.png" descr="Screenshot 2019-10-19 at 10.02.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879" y="3918366"/>
            <a:ext cx="3857626" cy="25806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dates/tim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dates/times</a:t>
            </a:r>
          </a:p>
        </p:txBody>
      </p:sp>
      <p:sp>
        <p:nvSpPr>
          <p:cNvPr id="280" name="datetime module is helpful,…"/>
          <p:cNvSpPr txBox="1">
            <a:spLocks noGrp="1"/>
          </p:cNvSpPr>
          <p:nvPr>
            <p:ph type="body" idx="1"/>
          </p:nvPr>
        </p:nvSpPr>
        <p:spPr>
          <a:xfrm>
            <a:off x="180976" y="1527572"/>
            <a:ext cx="12430124" cy="4695969"/>
          </a:xfrm>
          <a:prstGeom prst="rect">
            <a:avLst/>
          </a:prstGeom>
        </p:spPr>
        <p:txBody>
          <a:bodyPr anchor="t"/>
          <a:lstStyle/>
          <a:p>
            <a:pPr marL="344418" indent="-344418"/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datetime</a:t>
            </a:r>
            <a:r>
              <a:rPr dirty="0"/>
              <a:t> module is helpful,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from datetime import datetime as dt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#create datetime objects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today = </a:t>
            </a:r>
            <a:r>
              <a:rPr dirty="0" err="1"/>
              <a:t>dt.now</a:t>
            </a:r>
            <a:r>
              <a:rPr dirty="0"/>
              <a:t>()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new_year</a:t>
            </a:r>
            <a:r>
              <a:rPr dirty="0"/>
              <a:t> = dt(2020, 1, 1)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equinox = dt(year=2020, month=3, day=20)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convert string to datetime object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new_years</a:t>
            </a:r>
            <a:r>
              <a:rPr dirty="0"/>
              <a:t> = </a:t>
            </a:r>
            <a:r>
              <a:rPr dirty="0" err="1"/>
              <a:t>dt.strptime</a:t>
            </a:r>
            <a:r>
              <a:rPr dirty="0"/>
              <a:t>('1/1/2020', '%m/%d/%Y')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convert datetime object to string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ny_string</a:t>
            </a:r>
            <a:r>
              <a:rPr dirty="0"/>
              <a:t> = </a:t>
            </a:r>
            <a:r>
              <a:rPr dirty="0" err="1"/>
              <a:t>dt.strftime</a:t>
            </a:r>
            <a:r>
              <a:rPr dirty="0"/>
              <a:t>(</a:t>
            </a:r>
            <a:r>
              <a:rPr dirty="0" err="1"/>
              <a:t>new_years</a:t>
            </a:r>
            <a:r>
              <a:rPr dirty="0"/>
              <a:t>, '%B %d, %Y')</a:t>
            </a:r>
          </a:p>
          <a:p>
            <a:pPr marL="401822"/>
            <a:r>
              <a:rPr dirty="0"/>
              <a:t>as Python can now tell the 'distance' between dates.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dates/times"/>
          <p:cNvSpPr txBox="1">
            <a:spLocks noGrp="1"/>
          </p:cNvSpPr>
          <p:nvPr>
            <p:ph type="title"/>
          </p:nvPr>
        </p:nvSpPr>
        <p:spPr>
          <a:xfrm>
            <a:off x="1419225" y="-60866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dirty="0"/>
              <a:t>dates/times</a:t>
            </a:r>
          </a:p>
        </p:txBody>
      </p:sp>
      <p:sp>
        <p:nvSpPr>
          <p:cNvPr id="285" name="oh, date/time formatting info:…"/>
          <p:cNvSpPr txBox="1">
            <a:spLocks noGrp="1"/>
          </p:cNvSpPr>
          <p:nvPr>
            <p:ph type="body" idx="1"/>
          </p:nvPr>
        </p:nvSpPr>
        <p:spPr>
          <a:xfrm>
            <a:off x="457201" y="1365647"/>
            <a:ext cx="11077574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oh, date/time formatting info: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%A  Weekday name, such as Monday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%B  Month name, such as January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%m  Month, as a number (01 to 12)</a:t>
            </a:r>
            <a:br>
              <a:rPr dirty="0"/>
            </a:br>
            <a:r>
              <a:rPr dirty="0"/>
              <a:t>%d  Day of the month, as a number (01 to 31)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%Y  Four-digit year, such as 2016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%y  Two-digit year, such as 16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%H  Hour, in 24-hour format (00 to 23)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%I  Hour, in 12-hour format (01 to 12)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%p  AM or PM</a:t>
            </a:r>
            <a:br>
              <a:rPr dirty="0"/>
            </a:br>
            <a:r>
              <a:rPr dirty="0"/>
              <a:t>%M  Minutes (00 to 59)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%S Seconds (00 to 61)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401822"/>
            <a:r>
              <a:rPr dirty="0"/>
              <a:t>used for " I'd like to format like this "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example"/>
          <p:cNvSpPr txBox="1">
            <a:spLocks noGrp="1"/>
          </p:cNvSpPr>
          <p:nvPr>
            <p:ph type="title"/>
          </p:nvPr>
        </p:nvSpPr>
        <p:spPr>
          <a:xfrm>
            <a:off x="1385887" y="-186928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E</a:t>
            </a:r>
            <a:r>
              <a:rPr dirty="0" err="1"/>
              <a:t>xample</a:t>
            </a:r>
            <a:endParaRPr dirty="0"/>
          </a:p>
        </p:txBody>
      </p:sp>
      <p:sp>
        <p:nvSpPr>
          <p:cNvPr id="290" name="load libraries and get a short list of dates and maximum temperature values,…"/>
          <p:cNvSpPr txBox="1">
            <a:spLocks noGrp="1"/>
          </p:cNvSpPr>
          <p:nvPr>
            <p:ph type="body" idx="1"/>
          </p:nvPr>
        </p:nvSpPr>
        <p:spPr>
          <a:xfrm>
            <a:off x="390524" y="1718072"/>
            <a:ext cx="11801475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 dirty="0"/>
              <a:t>load libraries and get a short list of dates and maximum temperature values,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from datetime import datetime as dt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import </a:t>
            </a:r>
            <a:r>
              <a:rPr sz="2200" dirty="0" err="1"/>
              <a:t>matplotlib.pyplot</a:t>
            </a:r>
            <a:r>
              <a:rPr sz="2200" dirty="0"/>
              <a:t> as ppt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from matplotlib import dates as </a:t>
            </a:r>
            <a:r>
              <a:rPr sz="2200" dirty="0" err="1"/>
              <a:t>mdates</a:t>
            </a:r>
            <a:endParaRPr sz="2200"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dates = [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dt(2016, 6, 21), dt(2016, 6, 22),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dt(2016, 6, 23), dt(2016, 6, 26),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highs = [17, 15, 11, 18]</a:t>
            </a:r>
          </a:p>
          <a:p>
            <a:pPr marL="401822"/>
            <a:r>
              <a:rPr sz="2200" dirty="0"/>
              <a:t>now we can think about plotting this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example"/>
          <p:cNvSpPr txBox="1">
            <a:spLocks noGrp="1"/>
          </p:cNvSpPr>
          <p:nvPr>
            <p:ph type="title"/>
          </p:nvPr>
        </p:nvSpPr>
        <p:spPr>
          <a:xfrm>
            <a:off x="1190625" y="79772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E</a:t>
            </a:r>
            <a:r>
              <a:rPr dirty="0" err="1"/>
              <a:t>xample</a:t>
            </a:r>
            <a:endParaRPr dirty="0"/>
          </a:p>
        </p:txBody>
      </p:sp>
      <p:sp>
        <p:nvSpPr>
          <p:cNvPr id="295" name="a little work needs  done for the x-axis…"/>
          <p:cNvSpPr txBox="1">
            <a:spLocks noGrp="1"/>
          </p:cNvSpPr>
          <p:nvPr>
            <p:ph type="body" idx="1"/>
          </p:nvPr>
        </p:nvSpPr>
        <p:spPr>
          <a:xfrm>
            <a:off x="447675" y="1794272"/>
            <a:ext cx="11953875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 dirty="0"/>
              <a:t>a little work needs </a:t>
            </a:r>
            <a:br>
              <a:rPr sz="2200" dirty="0"/>
            </a:br>
            <a:r>
              <a:rPr sz="2200" dirty="0"/>
              <a:t>done for the x-axis 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fig = </a:t>
            </a:r>
            <a:r>
              <a:rPr sz="2200" dirty="0" err="1"/>
              <a:t>plt.figure</a:t>
            </a:r>
            <a:r>
              <a:rPr sz="2200" dirty="0"/>
              <a:t>()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ppt.bar</a:t>
            </a:r>
            <a:r>
              <a:rPr sz="2200" dirty="0"/>
              <a:t>(dates, highs)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ppt.ylabel</a:t>
            </a:r>
            <a:r>
              <a:rPr sz="2200" dirty="0"/>
              <a:t>("Temp (C)")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x = </a:t>
            </a:r>
            <a:r>
              <a:rPr sz="2200" dirty="0" err="1"/>
              <a:t>plt.axes</a:t>
            </a:r>
            <a:r>
              <a:rPr sz="2200" dirty="0"/>
              <a:t>().</a:t>
            </a:r>
            <a:r>
              <a:rPr sz="2200" dirty="0" err="1"/>
              <a:t>get_xaxis</a:t>
            </a:r>
            <a:r>
              <a:rPr sz="2200" dirty="0"/>
              <a:t>()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x.set_major_formatter</a:t>
            </a:r>
            <a:r>
              <a:rPr sz="2200" dirty="0"/>
              <a:t>(</a:t>
            </a:r>
            <a:r>
              <a:rPr sz="2200" dirty="0" err="1"/>
              <a:t>mdates.DateFormatter</a:t>
            </a:r>
            <a:r>
              <a:rPr sz="2200" dirty="0"/>
              <a:t>('%d %B %Y') 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fig.autofmt_xdate</a:t>
            </a:r>
            <a:r>
              <a:rPr sz="2200" dirty="0"/>
              <a:t>()</a:t>
            </a:r>
          </a:p>
          <a:p>
            <a:pPr marL="0" indent="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ppt.show</a:t>
            </a:r>
            <a:r>
              <a:rPr sz="2200" dirty="0"/>
              <a:t>()</a:t>
            </a:r>
          </a:p>
          <a:p>
            <a:pPr marL="401822"/>
            <a:r>
              <a:rPr sz="2200" dirty="0"/>
              <a:t>but the result spans properly.</a:t>
            </a:r>
          </a:p>
        </p:txBody>
      </p:sp>
      <p:pic>
        <p:nvPicPr>
          <p:cNvPr id="296" name="Screenshot 2019-10-19 at 10.17.12.png" descr="Screenshot 2019-10-19 at 10.17.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403" y="1457326"/>
            <a:ext cx="5392094" cy="31354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discontinuous plo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D</a:t>
            </a:r>
            <a:r>
              <a:rPr dirty="0" err="1"/>
              <a:t>iscontinuous</a:t>
            </a:r>
            <a:r>
              <a:rPr dirty="0"/>
              <a:t> plots</a:t>
            </a:r>
          </a:p>
        </p:txBody>
      </p:sp>
      <p:sp>
        <p:nvSpPr>
          <p:cNvPr id="301" name="some functions are inherently discontinuous, and that's tricky.…"/>
          <p:cNvSpPr txBox="1">
            <a:spLocks noGrp="1"/>
          </p:cNvSpPr>
          <p:nvPr>
            <p:ph type="body" idx="1"/>
          </p:nvPr>
        </p:nvSpPr>
        <p:spPr>
          <a:xfrm>
            <a:off x="419100" y="1946672"/>
            <a:ext cx="11534775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some functions are inherently discontinuous, and that's tricky.</a:t>
            </a:r>
          </a:p>
          <a:p>
            <a:pPr marL="401822"/>
            <a:r>
              <a:rPr dirty="0"/>
              <a:t>for instance, the bending moment of a simply supported beam with point load in the middle is a 'V' shaped plot.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def </a:t>
            </a:r>
            <a:r>
              <a:rPr dirty="0" err="1"/>
              <a:t>bendingMoment</a:t>
            </a:r>
            <a:r>
              <a:rPr dirty="0"/>
              <a:t>(x, length, load):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if x &lt;= length/2: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return -x * load / 2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else: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return -(length-x) * load / 2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discontinuous plo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D</a:t>
            </a:r>
            <a:r>
              <a:rPr dirty="0" err="1"/>
              <a:t>iscontinuous</a:t>
            </a:r>
            <a:r>
              <a:rPr dirty="0"/>
              <a:t> plots</a:t>
            </a:r>
          </a:p>
        </p:txBody>
      </p:sp>
      <p:sp>
        <p:nvSpPr>
          <p:cNvPr id="306" name="plotting this will give an error,…"/>
          <p:cNvSpPr txBox="1">
            <a:spLocks noGrp="1"/>
          </p:cNvSpPr>
          <p:nvPr>
            <p:ph type="body" idx="1"/>
          </p:nvPr>
        </p:nvSpPr>
        <p:spPr>
          <a:xfrm>
            <a:off x="400050" y="1946672"/>
            <a:ext cx="11582400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plotting this will give an error,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length, load = 10, 2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xvals</a:t>
            </a:r>
            <a:r>
              <a:rPr dirty="0"/>
              <a:t> = </a:t>
            </a:r>
            <a:r>
              <a:rPr dirty="0" err="1"/>
              <a:t>np.arange</a:t>
            </a:r>
            <a:r>
              <a:rPr dirty="0"/>
              <a:t>(0, length, 0.01)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yvals</a:t>
            </a:r>
            <a:r>
              <a:rPr dirty="0"/>
              <a:t> = </a:t>
            </a:r>
            <a:r>
              <a:rPr dirty="0" err="1"/>
              <a:t>bendingMoment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, length, load)</a:t>
            </a:r>
          </a:p>
          <a:p>
            <a:pPr marL="401822"/>
            <a:r>
              <a:rPr dirty="0"/>
              <a:t>because whilst </a:t>
            </a:r>
            <a:r>
              <a:rPr dirty="0" err="1"/>
              <a:t>numpy</a:t>
            </a:r>
            <a:r>
              <a:rPr dirty="0"/>
              <a:t> arrays allow element by element calculation, they baulk when you try and do an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dirty="0"/>
              <a:t> on the array. </a:t>
            </a:r>
          </a:p>
          <a:p>
            <a:pPr marL="401822"/>
            <a:r>
              <a:rPr dirty="0"/>
              <a:t>there is a neat trick to fix the function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bmVec</a:t>
            </a:r>
            <a:r>
              <a:rPr dirty="0"/>
              <a:t> = </a:t>
            </a:r>
            <a:r>
              <a:rPr dirty="0" err="1"/>
              <a:t>np.vectorize</a:t>
            </a:r>
            <a:r>
              <a:rPr dirty="0"/>
              <a:t>(</a:t>
            </a:r>
            <a:r>
              <a:rPr dirty="0" err="1"/>
              <a:t>bendingMoment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discontinuous plo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discontinuous plots</a:t>
            </a:r>
          </a:p>
        </p:txBody>
      </p:sp>
      <p:sp>
        <p:nvSpPr>
          <p:cNvPr id="311" name="then,…"/>
          <p:cNvSpPr txBox="1">
            <a:spLocks noGrp="1"/>
          </p:cNvSpPr>
          <p:nvPr>
            <p:ph type="body" idx="1"/>
          </p:nvPr>
        </p:nvSpPr>
        <p:spPr>
          <a:xfrm>
            <a:off x="409576" y="1946672"/>
            <a:ext cx="9106496" cy="4695969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then,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length, load = 10, 2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xvals</a:t>
            </a:r>
            <a:r>
              <a:rPr dirty="0"/>
              <a:t> = </a:t>
            </a:r>
            <a:r>
              <a:rPr dirty="0" err="1"/>
              <a:t>np.arange</a:t>
            </a:r>
            <a:r>
              <a:rPr dirty="0"/>
              <a:t>(0, length, 0.01)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bmVec</a:t>
            </a:r>
            <a:r>
              <a:rPr dirty="0"/>
              <a:t> = </a:t>
            </a:r>
            <a:r>
              <a:rPr dirty="0" err="1"/>
              <a:t>np.vectorize</a:t>
            </a:r>
            <a:r>
              <a:rPr dirty="0"/>
              <a:t>(</a:t>
            </a:r>
            <a:r>
              <a:rPr dirty="0" err="1"/>
              <a:t>bendingMoment</a:t>
            </a:r>
            <a:r>
              <a:rPr dirty="0"/>
              <a:t>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yvals</a:t>
            </a:r>
            <a:r>
              <a:rPr dirty="0"/>
              <a:t> = </a:t>
            </a:r>
            <a:r>
              <a:rPr dirty="0" err="1"/>
              <a:t>bmVec</a:t>
            </a:r>
            <a:r>
              <a:rPr dirty="0"/>
              <a:t>(</a:t>
            </a:r>
            <a:r>
              <a:rPr dirty="0" err="1"/>
              <a:t>xvals</a:t>
            </a:r>
            <a:r>
              <a:rPr dirty="0"/>
              <a:t>, length, load)</a:t>
            </a:r>
          </a:p>
          <a:p>
            <a:pPr marL="401822"/>
            <a:r>
              <a:rPr dirty="0"/>
              <a:t>and everything is good.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ppt.plot</a:t>
            </a:r>
            <a:r>
              <a:rPr dirty="0"/>
              <a:t>(</a:t>
            </a:r>
            <a:r>
              <a:rPr dirty="0" err="1"/>
              <a:t>xvals,yvals</a:t>
            </a:r>
            <a:r>
              <a:rPr dirty="0"/>
              <a:t>)</a:t>
            </a:r>
          </a:p>
        </p:txBody>
      </p:sp>
      <p:pic>
        <p:nvPicPr>
          <p:cNvPr id="312" name="Screenshot 2019-10-19 at 10.36.25.png" descr="Screenshot 2019-10-19 at 10.36.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319" y="3329178"/>
            <a:ext cx="4476326" cy="28014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Advanced List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Advanced Lists</a:t>
            </a:r>
          </a:p>
        </p:txBody>
      </p:sp>
      <p:sp>
        <p:nvSpPr>
          <p:cNvPr id="317" name="'comprehensions' useful list shortcuts to make your code simpler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'comprehensions'</a:t>
            </a:r>
            <a:br/>
            <a:r>
              <a:t>useful list shortcuts to make your code simpler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comprehens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comprehensions</a:t>
            </a:r>
          </a:p>
        </p:txBody>
      </p:sp>
      <p:sp>
        <p:nvSpPr>
          <p:cNvPr id="320" name="comprehensions - a short way to make list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comprehensions - a short way to make lists</a:t>
            </a:r>
          </a:p>
          <a:p>
            <a:r>
              <a:t>brackets containing an expression, a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t> clause, then zero or more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t> /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if </a:t>
            </a:r>
            <a:r>
              <a:t>clauses</a:t>
            </a:r>
          </a:p>
          <a:p>
            <a:r>
              <a:t>You can put in all kinds of objects in lists using comprehensions.</a:t>
            </a:r>
          </a:p>
          <a:p>
            <a:r>
              <a:t>The list comes from evaluating the expression in context of the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for</a:t>
            </a:r>
            <a:r>
              <a:t> /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t> s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as usual, example be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usual, example best</a:t>
            </a:r>
          </a:p>
        </p:txBody>
      </p:sp>
      <p:sp>
        <p:nvSpPr>
          <p:cNvPr id="323" name="if you previously did thi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1822"/>
            <a:r>
              <a:t>if you previously did this: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new_list = []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i in old_list: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if filter(i):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new_list.append(expression(i))</a:t>
            </a:r>
          </a:p>
          <a:p>
            <a:pPr marL="401822"/>
            <a:r>
              <a:t>you now do this: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new_list = [expression(i) for i in old_list        \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if filter(i)]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square brackets remind you that this is a list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as usual, example be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 usual, example best</a:t>
            </a:r>
          </a:p>
        </p:txBody>
      </p:sp>
      <p:sp>
        <p:nvSpPr>
          <p:cNvPr id="326" name="if you previously did thi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1822"/>
            <a:r>
              <a:t>if you previously did this: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new_list = []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for i in old_list: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if filter(i):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new_list.append(expression(i))</a:t>
            </a:r>
          </a:p>
          <a:p>
            <a:pPr marL="401822"/>
            <a:r>
              <a:t>you now do this: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new_list = [expression(i) for i in old_list        \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if filter(i)]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square brackets remind you that this is a list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pecific 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specific examples</a:t>
            </a:r>
          </a:p>
        </p:txBody>
      </p:sp>
      <p:sp>
        <p:nvSpPr>
          <p:cNvPr id="329" name="nine numbers from a range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01822"/>
            <a:r>
              <a:t>nine numbers from a range: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x = [i for i in range(10)]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x is [0, 1, 2, 3, 4, 5, 6, 7, 8, 9]</a:t>
            </a:r>
          </a:p>
          <a:p>
            <a:pPr marL="401822"/>
            <a:r>
              <a:t>squares from a range: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x = [i**2 for i in range(10)]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x is [0, 1, 4, 9, 16, 25, 36, 49, 64, 81]</a:t>
            </a:r>
          </a:p>
          <a:p>
            <a:pPr marL="401822"/>
            <a:r>
              <a:t>strings from an existing list: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x = [x.lower() for x in ["A","B","C"]]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 x is ['a',</a:t>
            </a:r>
            <a:r>
              <a:rPr>
                <a:solidFill>
                  <a:srgbClr val="FFFFFF"/>
                </a:solidFill>
              </a:rPr>
              <a:t> </a:t>
            </a:r>
            <a:r>
              <a:t>'b',</a:t>
            </a:r>
            <a:r>
              <a:rPr>
                <a:solidFill>
                  <a:srgbClr val="FFFFFF"/>
                </a:solidFill>
              </a:rPr>
              <a:t>,</a:t>
            </a:r>
            <a:r>
              <a:t>'c']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more specific examples"/>
          <p:cNvSpPr txBox="1">
            <a:spLocks noGrp="1"/>
          </p:cNvSpPr>
          <p:nvPr>
            <p:ph type="title"/>
          </p:nvPr>
        </p:nvSpPr>
        <p:spPr>
          <a:xfrm>
            <a:off x="1752600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dirty="0"/>
              <a:t>more specific examples</a:t>
            </a:r>
          </a:p>
        </p:txBody>
      </p:sp>
      <p:sp>
        <p:nvSpPr>
          <p:cNvPr id="332" name="pre-existing items, with conditional:…"/>
          <p:cNvSpPr txBox="1">
            <a:spLocks noGrp="1"/>
          </p:cNvSpPr>
          <p:nvPr>
            <p:ph type="body" idx="1"/>
          </p:nvPr>
        </p:nvSpPr>
        <p:spPr>
          <a:xfrm>
            <a:off x="295275" y="1946672"/>
            <a:ext cx="11734800" cy="4545874"/>
          </a:xfrm>
          <a:prstGeom prst="rect">
            <a:avLst/>
          </a:prstGeom>
        </p:spPr>
        <p:txBody>
          <a:bodyPr/>
          <a:lstStyle/>
          <a:p>
            <a:pPr marL="401822"/>
            <a:r>
              <a:rPr dirty="0"/>
              <a:t>pre-existing items, with conditional: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string = "Hello 12345 World"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numbers = [x for x in string if </a:t>
            </a:r>
            <a:r>
              <a:rPr dirty="0" err="1"/>
              <a:t>x.isdigit</a:t>
            </a:r>
            <a:r>
              <a:rPr dirty="0"/>
              <a:t>()]]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numbers is ['1', '2', '3', '4', '5']</a:t>
            </a:r>
          </a:p>
          <a:p>
            <a:pPr marL="401822"/>
            <a:r>
              <a:rPr dirty="0"/>
              <a:t>if you have a text file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file</a:t>
            </a:r>
            <a:r>
              <a:rPr dirty="0"/>
              <a:t>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result = [</a:t>
            </a:r>
            <a:r>
              <a:rPr dirty="0" err="1"/>
              <a:t>i</a:t>
            </a:r>
            <a:r>
              <a:rPr dirty="0"/>
              <a:t> for </a:t>
            </a:r>
            <a:r>
              <a:rPr dirty="0" err="1"/>
              <a:t>i</a:t>
            </a:r>
            <a:r>
              <a:rPr dirty="0"/>
              <a:t> in file if "line3" in </a:t>
            </a:r>
            <a:r>
              <a:rPr dirty="0" err="1"/>
              <a:t>i</a:t>
            </a:r>
            <a:r>
              <a:rPr dirty="0"/>
              <a:t>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result is list of lines containing 'line3'</a:t>
            </a:r>
          </a:p>
          <a:p>
            <a:pPr marL="401822"/>
            <a:r>
              <a:rPr dirty="0"/>
              <a:t>multiple arguments: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res = [</a:t>
            </a:r>
            <a:r>
              <a:rPr dirty="0" err="1"/>
              <a:t>x+y</a:t>
            </a:r>
            <a:r>
              <a:rPr dirty="0"/>
              <a:t> for x in [10,30,50] for y in [20,40,60]]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 res is [30, 50, 70, 50, 70, 90, 70, 90, 110]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Advanced File I/O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Advanced File I/O</a:t>
            </a:r>
          </a:p>
        </p:txBody>
      </p:sp>
      <p:sp>
        <p:nvSpPr>
          <p:cNvPr id="335" name="practical advice on working with files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practical advice on working with files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i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files</a:t>
            </a:r>
          </a:p>
        </p:txBody>
      </p:sp>
      <p:sp>
        <p:nvSpPr>
          <p:cNvPr id="338" name="files are tricky.…"/>
          <p:cNvSpPr txBox="1">
            <a:spLocks noGrp="1"/>
          </p:cNvSpPr>
          <p:nvPr>
            <p:ph type="body" idx="1"/>
          </p:nvPr>
        </p:nvSpPr>
        <p:spPr>
          <a:xfrm>
            <a:off x="342900" y="1686559"/>
            <a:ext cx="11687175" cy="4956082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files are tricky.</a:t>
            </a:r>
          </a:p>
          <a:p>
            <a:pPr marL="401822"/>
            <a:r>
              <a:rPr dirty="0"/>
              <a:t>what happens if something goes wrong with the disk half way through a write, or if the file that you reading doesn't quite exist?</a:t>
            </a:r>
          </a:p>
          <a:p>
            <a:pPr marL="401822"/>
            <a:r>
              <a:rPr dirty="0"/>
              <a:t>Python has a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try-except</a:t>
            </a:r>
            <a:r>
              <a:rPr dirty="0"/>
              <a:t> block for just this sort of thing: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try: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print(5/0)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except </a:t>
            </a:r>
            <a:r>
              <a:rPr dirty="0" err="1"/>
              <a:t>ZeroDivisionError</a:t>
            </a:r>
            <a:r>
              <a:rPr dirty="0"/>
              <a:t>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print("You cannot divide by zero")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#the 'exception' here is a </a:t>
            </a:r>
            <a:r>
              <a:rPr dirty="0" err="1"/>
              <a:t>ZeroDivisionError</a:t>
            </a:r>
            <a:endParaRPr dirty="0"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fi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files</a:t>
            </a:r>
          </a:p>
        </p:txBody>
      </p:sp>
      <p:sp>
        <p:nvSpPr>
          <p:cNvPr id="343" name="or perhaps more comprehensively, a try-except-else block:…"/>
          <p:cNvSpPr txBox="1">
            <a:spLocks noGrp="1"/>
          </p:cNvSpPr>
          <p:nvPr>
            <p:ph type="body" idx="1"/>
          </p:nvPr>
        </p:nvSpPr>
        <p:spPr>
          <a:xfrm>
            <a:off x="104776" y="1686559"/>
            <a:ext cx="12087224" cy="4956082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or perhaps more comprehensively, a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try-except-else</a:t>
            </a:r>
            <a:r>
              <a:rPr dirty="0"/>
              <a:t> block: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filename = 'test.txt':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try: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with open(filename) as f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lines = </a:t>
            </a:r>
            <a:r>
              <a:rPr dirty="0" err="1"/>
              <a:t>f.readlines</a:t>
            </a:r>
            <a:r>
              <a:rPr dirty="0"/>
              <a:t>()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except </a:t>
            </a:r>
            <a:r>
              <a:rPr dirty="0" err="1"/>
              <a:t>FileNotFoundError</a:t>
            </a:r>
            <a:r>
              <a:rPr dirty="0"/>
              <a:t>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print("Can't find file {}".format(filename))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print(msg)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</a:t>
            </a:r>
            <a:r>
              <a:rPr dirty="0">
                <a:solidFill>
                  <a:srgbClr val="0433FF"/>
                </a:solidFill>
              </a:rPr>
              <a:t># the exception here is </a:t>
            </a:r>
            <a:r>
              <a:rPr dirty="0" err="1">
                <a:solidFill>
                  <a:srgbClr val="0433FF"/>
                </a:solidFill>
              </a:rPr>
              <a:t>FileNotFoundError</a:t>
            </a:r>
            <a:endParaRPr dirty="0">
              <a:solidFill>
                <a:srgbClr val="0433FF"/>
              </a:solidFill>
            </a:endParaRP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else: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print("Will process {}".format(filename))</a:t>
            </a:r>
          </a:p>
          <a:p>
            <a:pPr marL="401822"/>
            <a:r>
              <a:rPr dirty="0"/>
              <a:t>find the specific error code, by actually making the error yourself once </a:t>
            </a:r>
            <a:r>
              <a:rPr dirty="0">
                <a:latin typeface="Apple Color Emoji"/>
                <a:ea typeface="Apple Color Emoji"/>
                <a:cs typeface="Apple Color Emoji"/>
                <a:sym typeface="Apple Color Emoji"/>
              </a:rPr>
              <a:t>🙂</a:t>
            </a:r>
            <a:r>
              <a:rPr dirty="0"/>
              <a:t> 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fi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files</a:t>
            </a:r>
          </a:p>
        </p:txBody>
      </p:sp>
      <p:sp>
        <p:nvSpPr>
          <p:cNvPr id="348" name="here's a practical use - report file length:…"/>
          <p:cNvSpPr txBox="1">
            <a:spLocks noGrp="1"/>
          </p:cNvSpPr>
          <p:nvPr>
            <p:ph type="body" idx="1"/>
          </p:nvPr>
        </p:nvSpPr>
        <p:spPr>
          <a:xfrm>
            <a:off x="0" y="1477009"/>
            <a:ext cx="11868150" cy="4956082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3375"/>
              </a:spcBef>
            </a:pPr>
            <a:r>
              <a:rPr sz="2200" dirty="0"/>
              <a:t>here's a practical use - report file length: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 = ['hhgttg.txt','lotr.txt','hpatps.txt', 'aocp.txt']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for filename in f: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try: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    with open(filename) as </a:t>
            </a:r>
            <a:r>
              <a:rPr sz="2200" dirty="0" err="1"/>
              <a:t>f_obj</a:t>
            </a:r>
            <a:r>
              <a:rPr sz="2200" dirty="0"/>
              <a:t>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        lines = </a:t>
            </a:r>
            <a:r>
              <a:rPr sz="2200" dirty="0" err="1"/>
              <a:t>f_obj.readlines</a:t>
            </a:r>
            <a:r>
              <a:rPr sz="2200" dirty="0"/>
              <a:t>()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except </a:t>
            </a:r>
            <a:r>
              <a:rPr sz="2200" dirty="0" err="1"/>
              <a:t>FileNotFoundError</a:t>
            </a:r>
            <a:r>
              <a:rPr sz="2200" dirty="0"/>
              <a:t>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    pass             </a:t>
            </a:r>
            <a:r>
              <a:rPr sz="2200" dirty="0">
                <a:solidFill>
                  <a:srgbClr val="0433FF"/>
                </a:solidFill>
              </a:rPr>
              <a:t># Just move on to the next file.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else: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    num = </a:t>
            </a:r>
            <a:r>
              <a:rPr sz="2200" dirty="0" err="1"/>
              <a:t>len</a:t>
            </a:r>
            <a:r>
              <a:rPr sz="2200" dirty="0"/>
              <a:t>(lines)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    msg = "{0} has {1} </a:t>
            </a:r>
            <a:r>
              <a:rPr sz="2200" dirty="0" err="1"/>
              <a:t>lines.".format</a:t>
            </a:r>
            <a:r>
              <a:rPr sz="2200" dirty="0"/>
              <a:t>( filename, num)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    print(msg)</a:t>
            </a:r>
          </a:p>
          <a:p>
            <a:pPr marL="401822"/>
            <a:r>
              <a:rPr sz="2200" dirty="0"/>
              <a:t>note the </a:t>
            </a:r>
            <a:r>
              <a:rPr sz="2200" dirty="0">
                <a:latin typeface="Courier"/>
                <a:ea typeface="Courier"/>
                <a:cs typeface="Courier"/>
                <a:sym typeface="Courier"/>
              </a:rPr>
              <a:t>pass</a:t>
            </a:r>
            <a:r>
              <a:rPr sz="2200" dirty="0"/>
              <a:t>; deals with the problem silently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exceptions"/>
          <p:cNvSpPr txBox="1">
            <a:spLocks noGrp="1"/>
          </p:cNvSpPr>
          <p:nvPr>
            <p:ph type="title"/>
          </p:nvPr>
        </p:nvSpPr>
        <p:spPr>
          <a:xfrm>
            <a:off x="1266825" y="-97631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E</a:t>
            </a:r>
            <a:r>
              <a:rPr dirty="0" err="1"/>
              <a:t>xceptions</a:t>
            </a:r>
            <a:endParaRPr dirty="0"/>
          </a:p>
        </p:txBody>
      </p:sp>
      <p:sp>
        <p:nvSpPr>
          <p:cNvPr id="353" name="it is possible to catch all exceptions:…"/>
          <p:cNvSpPr txBox="1">
            <a:spLocks noGrp="1"/>
          </p:cNvSpPr>
          <p:nvPr>
            <p:ph type="body" idx="1"/>
          </p:nvPr>
        </p:nvSpPr>
        <p:spPr>
          <a:xfrm>
            <a:off x="247650" y="1686559"/>
            <a:ext cx="11849100" cy="4956082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3375"/>
              </a:spcBef>
            </a:pPr>
            <a:r>
              <a:rPr dirty="0"/>
              <a:t>it is possible to catch all exceptions: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try: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</a:t>
            </a:r>
            <a:r>
              <a:rPr dirty="0">
                <a:solidFill>
                  <a:srgbClr val="0433FF"/>
                </a:solidFill>
              </a:rPr>
              <a:t># stuff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except: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  pass             </a:t>
            </a:r>
            <a:r>
              <a:rPr dirty="0">
                <a:solidFill>
                  <a:srgbClr val="0433FF"/>
                </a:solidFill>
              </a:rPr>
              <a:t># catch everything !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</a:t>
            </a:r>
          </a:p>
          <a:p>
            <a:pPr marL="401822"/>
            <a:r>
              <a:rPr dirty="0"/>
              <a:t>but that will catch all sorts of stuff like keyboard interrupts and probably utterly lock up your machine - so don't !</a:t>
            </a:r>
          </a:p>
          <a:p>
            <a:pPr marL="401822"/>
            <a:r>
              <a:rPr dirty="0"/>
              <a:t>if needed, this will catch most useful Exceptions.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except Exception as e:</a:t>
            </a:r>
            <a:br>
              <a:rPr dirty="0"/>
            </a:br>
            <a:r>
              <a:rPr dirty="0"/>
              <a:t>       print(e, type(e))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Screenshot 2019-10-19 at 14.58.15.png" descr="Screenshot 2019-10-19 at 14.58.15.png"/>
          <p:cNvPicPr>
            <a:picLocks noChangeAspect="1"/>
          </p:cNvPicPr>
          <p:nvPr/>
        </p:nvPicPr>
        <p:blipFill>
          <a:blip r:embed="rId3">
            <a:alphaModFix amt="20299"/>
          </a:blip>
          <a:stretch>
            <a:fillRect/>
          </a:stretch>
        </p:blipFill>
        <p:spPr>
          <a:xfrm>
            <a:off x="1516256" y="-12942"/>
            <a:ext cx="9144001" cy="7463769"/>
          </a:xfrm>
          <a:prstGeom prst="rect">
            <a:avLst/>
          </a:prstGeom>
          <a:ln w="12700">
            <a:miter lim="400000"/>
          </a:ln>
        </p:spPr>
      </p:pic>
      <p:sp>
        <p:nvSpPr>
          <p:cNvPr id="358" name="JS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JSON</a:t>
            </a:r>
          </a:p>
        </p:txBody>
      </p:sp>
      <p:sp>
        <p:nvSpPr>
          <p:cNvPr id="359" name="JavaScript Object Notation (JSON) is a lightweight data-interchange format. i.e. a simple way of writing text files to store data in a structured way.…"/>
          <p:cNvSpPr txBox="1">
            <a:spLocks noGrp="1"/>
          </p:cNvSpPr>
          <p:nvPr>
            <p:ph type="body" idx="1"/>
          </p:nvPr>
        </p:nvSpPr>
        <p:spPr>
          <a:xfrm>
            <a:off x="0" y="1686559"/>
            <a:ext cx="10445072" cy="4956082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3375"/>
              </a:spcBef>
            </a:pPr>
            <a:r>
              <a:rPr dirty="0"/>
              <a:t>JavaScript Object Notation (JSON) is a lightweight data-interchange format. i.e. a simple way of writing text files to store data in a structured way.</a:t>
            </a:r>
          </a:p>
          <a:p>
            <a:pPr>
              <a:spcBef>
                <a:spcPts val="3375"/>
              </a:spcBef>
            </a:pPr>
            <a:r>
              <a:rPr dirty="0"/>
              <a:t>It's commonly used, and useful for sharing data with people across programming languages.</a:t>
            </a:r>
          </a:p>
          <a:p>
            <a:pPr>
              <a:spcBef>
                <a:spcPts val="3375"/>
              </a:spcBef>
            </a:pPr>
            <a:r>
              <a:rPr dirty="0"/>
              <a:t>Of course Python has JSON libraries.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import json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     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C / C++ from Python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 / C++ from Python </a:t>
            </a:r>
          </a:p>
        </p:txBody>
      </p:sp>
      <p:sp>
        <p:nvSpPr>
          <p:cNvPr id="364" name="once you've got Python, you've pretty much got C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once you've got Python, you've pretty much got C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important differe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I</a:t>
            </a:r>
            <a:r>
              <a:rPr dirty="0" err="1"/>
              <a:t>mportant</a:t>
            </a:r>
            <a:r>
              <a:rPr dirty="0"/>
              <a:t> differences</a:t>
            </a:r>
          </a:p>
        </p:txBody>
      </p:sp>
      <p:sp>
        <p:nvSpPr>
          <p:cNvPr id="367" name="indenting &amp; statement delimiters…"/>
          <p:cNvSpPr txBox="1">
            <a:spLocks noGrp="1"/>
          </p:cNvSpPr>
          <p:nvPr>
            <p:ph type="body" idx="1"/>
          </p:nvPr>
        </p:nvSpPr>
        <p:spPr>
          <a:xfrm>
            <a:off x="2416969" y="1946672"/>
            <a:ext cx="7358063" cy="4615253"/>
          </a:xfrm>
          <a:prstGeom prst="rect">
            <a:avLst/>
          </a:prstGeom>
        </p:spPr>
        <p:txBody>
          <a:bodyPr/>
          <a:lstStyle/>
          <a:p>
            <a:r>
              <a:t>indenting &amp; statement delimiters</a:t>
            </a:r>
          </a:p>
          <a:p>
            <a:r>
              <a:t>overall code structure</a:t>
            </a:r>
          </a:p>
          <a:p>
            <a:r>
              <a:t>input/output statements</a:t>
            </a:r>
          </a:p>
          <a:p>
            <a:r>
              <a:t>declaration of variables</a:t>
            </a:r>
          </a:p>
          <a:p>
            <a:r>
              <a:t>for loops - no ranges or easy lists</a:t>
            </a:r>
          </a:p>
          <a:p>
            <a:r>
              <a:t>complex types tougher to set up</a:t>
            </a:r>
          </a:p>
          <a:p>
            <a:r>
              <a:t>pointers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tatements / inden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statements / indenting</a:t>
            </a:r>
          </a:p>
        </p:txBody>
      </p:sp>
      <p:sp>
        <p:nvSpPr>
          <p:cNvPr id="370" name="indentation in Python is necessary;  in C it is simply good form, but do it!…"/>
          <p:cNvSpPr txBox="1">
            <a:spLocks noGrp="1"/>
          </p:cNvSpPr>
          <p:nvPr>
            <p:ph type="body" idx="1"/>
          </p:nvPr>
        </p:nvSpPr>
        <p:spPr>
          <a:xfrm>
            <a:off x="2416969" y="1946672"/>
            <a:ext cx="7358063" cy="4443915"/>
          </a:xfrm>
          <a:prstGeom prst="rect">
            <a:avLst/>
          </a:prstGeom>
        </p:spPr>
        <p:txBody>
          <a:bodyPr/>
          <a:lstStyle/>
          <a:p>
            <a:r>
              <a:rPr dirty="0"/>
              <a:t>indentation in Python is </a:t>
            </a:r>
            <a:r>
              <a:rPr i="1" dirty="0"/>
              <a:t>necessary</a:t>
            </a:r>
            <a:r>
              <a:rPr dirty="0"/>
              <a:t>; </a:t>
            </a:r>
            <a:br>
              <a:rPr dirty="0"/>
            </a:br>
            <a:r>
              <a:rPr dirty="0"/>
              <a:t>in C it is simply </a:t>
            </a:r>
            <a:r>
              <a:rPr i="1" dirty="0"/>
              <a:t>good form, </a:t>
            </a:r>
            <a:r>
              <a:rPr dirty="0"/>
              <a:t>but </a:t>
            </a:r>
            <a:r>
              <a:rPr i="1" dirty="0"/>
              <a:t>do it!</a:t>
            </a:r>
          </a:p>
          <a:p>
            <a:r>
              <a:rPr dirty="0"/>
              <a:t>C needs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{</a:t>
            </a:r>
          </a:p>
          <a:p>
            <a:pPr lvl="1"/>
            <a:r>
              <a:rPr dirty="0"/>
              <a:t>end of statement character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';'</a:t>
            </a:r>
          </a:p>
          <a:p>
            <a:pPr lvl="1"/>
            <a:r>
              <a:rPr dirty="0"/>
              <a:t>compound statement braces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'{' '}'</a:t>
            </a:r>
            <a:r>
              <a:rPr dirty="0"/>
              <a:t> </a:t>
            </a:r>
          </a:p>
          <a:p>
            <a:pPr lvl="1"/>
            <a:r>
              <a:rPr dirty="0"/>
              <a:t>comments as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'//'</a:t>
            </a:r>
            <a:r>
              <a:rPr dirty="0"/>
              <a:t>, or  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'/*'</a:t>
            </a:r>
            <a:r>
              <a:rPr dirty="0"/>
              <a:t> and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'*/' </a:t>
            </a:r>
          </a:p>
          <a:p>
            <a:pPr lvl="1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tatements / indenting"/>
          <p:cNvSpPr txBox="1">
            <a:spLocks noGrp="1"/>
          </p:cNvSpPr>
          <p:nvPr>
            <p:ph type="title"/>
          </p:nvPr>
        </p:nvSpPr>
        <p:spPr>
          <a:xfrm>
            <a:off x="1485900" y="35719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</a:t>
            </a:r>
            <a:r>
              <a:rPr dirty="0" err="1"/>
              <a:t>tatements</a:t>
            </a:r>
            <a:r>
              <a:rPr dirty="0"/>
              <a:t> / indenting</a:t>
            </a:r>
          </a:p>
        </p:txBody>
      </p:sp>
      <p:sp>
        <p:nvSpPr>
          <p:cNvPr id="373" name="an example of something you've seen; in C…"/>
          <p:cNvSpPr txBox="1">
            <a:spLocks noGrp="1"/>
          </p:cNvSpPr>
          <p:nvPr>
            <p:ph type="body" idx="1"/>
          </p:nvPr>
        </p:nvSpPr>
        <p:spPr>
          <a:xfrm>
            <a:off x="466725" y="1946672"/>
            <a:ext cx="10534650" cy="4018359"/>
          </a:xfrm>
          <a:prstGeom prst="rect">
            <a:avLst/>
          </a:prstGeom>
        </p:spPr>
        <p:txBody>
          <a:bodyPr/>
          <a:lstStyle/>
          <a:p>
            <a:r>
              <a:rPr dirty="0"/>
              <a:t>an example of something you've seen; in C</a:t>
            </a:r>
          </a:p>
          <a:p>
            <a:pPr marL="0" lvl="2" indent="482186">
              <a:spcBef>
                <a:spcPts val="0"/>
              </a:spcBef>
              <a:buSzTx/>
              <a:buNone/>
              <a:defRPr sz="240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FF2600"/>
                </a:solidFill>
              </a:rPr>
              <a:t>/*</a:t>
            </a:r>
            <a:r>
              <a:rPr dirty="0"/>
              <a:t> input, sum and count the quiz grades */</a:t>
            </a:r>
          </a:p>
          <a:p>
            <a:pPr marL="0" lvl="2" indent="48218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0" lvl="2" indent="48218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printf</a:t>
            </a:r>
            <a:r>
              <a:rPr dirty="0"/>
              <a:t>(“Enter grade, -1 to end: “)</a:t>
            </a:r>
            <a:r>
              <a:rPr dirty="0">
                <a:solidFill>
                  <a:srgbClr val="FF2600"/>
                </a:solidFill>
              </a:rPr>
              <a:t>;</a:t>
            </a:r>
          </a:p>
          <a:p>
            <a:pPr marL="0" lvl="2" indent="48218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scanf</a:t>
            </a:r>
            <a:r>
              <a:rPr dirty="0"/>
              <a:t>(“%d”, &amp;grade)</a:t>
            </a:r>
            <a:r>
              <a:rPr dirty="0">
                <a:solidFill>
                  <a:srgbClr val="FF2600"/>
                </a:solidFill>
              </a:rPr>
              <a:t>;</a:t>
            </a:r>
            <a:r>
              <a:rPr dirty="0"/>
              <a:t>            </a:t>
            </a:r>
            <a:r>
              <a:rPr dirty="0">
                <a:solidFill>
                  <a:srgbClr val="FF2600"/>
                </a:solidFill>
              </a:rPr>
              <a:t>//</a:t>
            </a:r>
            <a:r>
              <a:rPr dirty="0">
                <a:solidFill>
                  <a:srgbClr val="0433FF"/>
                </a:solidFill>
              </a:rPr>
              <a:t> input first grade</a:t>
            </a:r>
          </a:p>
          <a:p>
            <a:pPr marL="0" lvl="2" indent="48218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while(grade != -1) </a:t>
            </a:r>
            <a:r>
              <a:rPr dirty="0">
                <a:solidFill>
                  <a:srgbClr val="FF2600"/>
                </a:solidFill>
              </a:rPr>
              <a:t>{</a:t>
            </a:r>
            <a:r>
              <a:rPr dirty="0"/>
              <a:t>            </a:t>
            </a:r>
            <a:r>
              <a:rPr dirty="0">
                <a:solidFill>
                  <a:srgbClr val="FF2600"/>
                </a:solidFill>
              </a:rPr>
              <a:t>//</a:t>
            </a:r>
            <a:r>
              <a:rPr dirty="0">
                <a:solidFill>
                  <a:srgbClr val="0433FF"/>
                </a:solidFill>
              </a:rPr>
              <a:t> while not ‘halt’</a:t>
            </a:r>
          </a:p>
          <a:p>
            <a:pPr marL="0" lvl="4" indent="96437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total += grade</a:t>
            </a:r>
            <a:r>
              <a:rPr dirty="0">
                <a:solidFill>
                  <a:srgbClr val="FF2600"/>
                </a:solidFill>
              </a:rPr>
              <a:t>;</a:t>
            </a:r>
            <a:r>
              <a:rPr dirty="0"/>
              <a:t>             </a:t>
            </a:r>
            <a:r>
              <a:rPr dirty="0">
                <a:solidFill>
                  <a:srgbClr val="FF2600"/>
                </a:solidFill>
              </a:rPr>
              <a:t>//</a:t>
            </a:r>
            <a:r>
              <a:rPr dirty="0">
                <a:solidFill>
                  <a:srgbClr val="0433FF"/>
                </a:solidFill>
              </a:rPr>
              <a:t> add to total</a:t>
            </a:r>
          </a:p>
          <a:p>
            <a:pPr marL="0" lvl="4" indent="96437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counter++</a:t>
            </a:r>
            <a:r>
              <a:rPr dirty="0">
                <a:solidFill>
                  <a:srgbClr val="FF2600"/>
                </a:solidFill>
              </a:rPr>
              <a:t>;</a:t>
            </a:r>
            <a:r>
              <a:rPr dirty="0"/>
              <a:t>                  </a:t>
            </a:r>
            <a:r>
              <a:rPr dirty="0">
                <a:solidFill>
                  <a:srgbClr val="FF2600"/>
                </a:solidFill>
              </a:rPr>
              <a:t>//</a:t>
            </a:r>
            <a:r>
              <a:rPr dirty="0">
                <a:solidFill>
                  <a:srgbClr val="0433FF"/>
                </a:solidFill>
              </a:rPr>
              <a:t> increment counter</a:t>
            </a:r>
          </a:p>
          <a:p>
            <a:pPr marL="0" lvl="4" indent="96437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printf</a:t>
            </a:r>
            <a:r>
              <a:rPr dirty="0"/>
              <a:t>(“Enter grade, -1 to end: “)</a:t>
            </a:r>
            <a:r>
              <a:rPr dirty="0">
                <a:solidFill>
                  <a:srgbClr val="FF2600"/>
                </a:solidFill>
              </a:rPr>
              <a:t>;</a:t>
            </a:r>
          </a:p>
          <a:p>
            <a:pPr marL="0" lvl="4" indent="96437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scanf</a:t>
            </a:r>
            <a:r>
              <a:rPr dirty="0"/>
              <a:t>(“%d”, &amp;grade)</a:t>
            </a:r>
            <a:r>
              <a:rPr dirty="0">
                <a:solidFill>
                  <a:srgbClr val="FF2600"/>
                </a:solidFill>
              </a:rPr>
              <a:t>;</a:t>
            </a:r>
            <a:r>
              <a:rPr dirty="0"/>
              <a:t>        </a:t>
            </a:r>
            <a:r>
              <a:rPr dirty="0">
                <a:solidFill>
                  <a:srgbClr val="0433FF"/>
                </a:solidFill>
              </a:rPr>
              <a:t>// input next grade</a:t>
            </a:r>
          </a:p>
          <a:p>
            <a:pPr marL="0" lvl="2" indent="48218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FF2600"/>
                </a:solidFill>
              </a:rPr>
              <a:t>}</a:t>
            </a:r>
            <a:r>
              <a:rPr dirty="0"/>
              <a:t> 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overall 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O</a:t>
            </a:r>
            <a:r>
              <a:rPr dirty="0" err="1"/>
              <a:t>verall</a:t>
            </a:r>
            <a:r>
              <a:rPr dirty="0"/>
              <a:t> structure</a:t>
            </a:r>
          </a:p>
        </p:txBody>
      </p:sp>
      <p:sp>
        <p:nvSpPr>
          <p:cNvPr id="376" name="programs in Python or C consist of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programs in Python or C consist of:</a:t>
            </a:r>
          </a:p>
          <a:p>
            <a:pPr lvl="1"/>
            <a:r>
              <a:rPr dirty="0"/>
              <a:t>importing libraries </a:t>
            </a:r>
          </a:p>
          <a:p>
            <a:pPr lvl="1"/>
            <a:r>
              <a:rPr dirty="0"/>
              <a:t>definition of supporting functions</a:t>
            </a:r>
          </a:p>
          <a:p>
            <a:pPr lvl="1"/>
            <a:r>
              <a:rPr dirty="0"/>
              <a:t>main program </a:t>
            </a:r>
          </a:p>
          <a:p>
            <a:r>
              <a:rPr dirty="0"/>
              <a:t>in C, the main program is a function called, surprisingly,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main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ode structure in 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code structure in C</a:t>
            </a:r>
          </a:p>
        </p:txBody>
      </p:sp>
      <p:sp>
        <p:nvSpPr>
          <p:cNvPr id="379" name="two approaches to structure :…"/>
          <p:cNvSpPr txBox="1">
            <a:spLocks noGrp="1"/>
          </p:cNvSpPr>
          <p:nvPr>
            <p:ph type="body" idx="1"/>
          </p:nvPr>
        </p:nvSpPr>
        <p:spPr>
          <a:xfrm>
            <a:off x="90487" y="1603772"/>
            <a:ext cx="1201102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 dirty="0"/>
              <a:t>two approaches to structure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#include &lt;</a:t>
            </a:r>
            <a:r>
              <a:rPr sz="2200" dirty="0" err="1"/>
              <a:t>stdio.h</a:t>
            </a:r>
            <a:r>
              <a:rPr sz="2200" dirty="0"/>
              <a:t>&gt;             </a:t>
            </a:r>
            <a:r>
              <a:rPr sz="2200" dirty="0">
                <a:solidFill>
                  <a:srgbClr val="0433FF"/>
                </a:solidFill>
              </a:rPr>
              <a:t>// import library !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</a:t>
            </a:r>
            <a:r>
              <a:rPr sz="2200" dirty="0" err="1"/>
              <a:t>powr</a:t>
            </a:r>
            <a:r>
              <a:rPr sz="2200" dirty="0"/>
              <a:t>(int base, int n) {    </a:t>
            </a:r>
            <a:r>
              <a:rPr sz="2200" dirty="0">
                <a:solidFill>
                  <a:srgbClr val="0433FF"/>
                </a:solidFill>
              </a:rPr>
              <a:t>// define function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</a:t>
            </a:r>
            <a:r>
              <a:rPr sz="2200" dirty="0" err="1"/>
              <a:t>i</a:t>
            </a:r>
            <a:r>
              <a:rPr sz="2200" dirty="0"/>
              <a:t>, p=1;                  </a:t>
            </a:r>
            <a:r>
              <a:rPr sz="2200" dirty="0">
                <a:solidFill>
                  <a:srgbClr val="0433FF"/>
                </a:solidFill>
              </a:rPr>
              <a:t>// inputs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for (</a:t>
            </a:r>
            <a:r>
              <a:rPr sz="2200" dirty="0" err="1"/>
              <a:t>i</a:t>
            </a:r>
            <a:r>
              <a:rPr sz="2200" dirty="0"/>
              <a:t>=1; </a:t>
            </a:r>
            <a:r>
              <a:rPr sz="2200" dirty="0" err="1"/>
              <a:t>i</a:t>
            </a:r>
            <a:r>
              <a:rPr sz="2200" dirty="0"/>
              <a:t>&lt;=n, </a:t>
            </a:r>
            <a:r>
              <a:rPr sz="2200" dirty="0" err="1"/>
              <a:t>i</a:t>
            </a:r>
            <a:r>
              <a:rPr sz="2200" dirty="0"/>
              <a:t>++) p=p*base;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return p;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main() {      </a:t>
            </a:r>
            <a:r>
              <a:rPr sz="2200" dirty="0">
                <a:solidFill>
                  <a:srgbClr val="0433FF"/>
                </a:solidFill>
              </a:rPr>
              <a:t>// the main function or program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</a:t>
            </a:r>
            <a:r>
              <a:rPr sz="2200" dirty="0" err="1"/>
              <a:t>i</a:t>
            </a:r>
            <a:r>
              <a:rPr sz="2200" dirty="0"/>
              <a:t>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for (</a:t>
            </a:r>
            <a:r>
              <a:rPr sz="2200" dirty="0" err="1"/>
              <a:t>i</a:t>
            </a:r>
            <a:r>
              <a:rPr sz="2200" dirty="0"/>
              <a:t>=0; </a:t>
            </a:r>
            <a:r>
              <a:rPr sz="2200" dirty="0" err="1"/>
              <a:t>i</a:t>
            </a:r>
            <a:r>
              <a:rPr sz="2200" dirty="0"/>
              <a:t>&lt;20; </a:t>
            </a:r>
            <a:r>
              <a:rPr sz="2200" dirty="0" err="1"/>
              <a:t>i</a:t>
            </a:r>
            <a:r>
              <a:rPr sz="2200" dirty="0"/>
              <a:t>++) {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printf</a:t>
            </a:r>
            <a:r>
              <a:rPr sz="2200" dirty="0"/>
              <a:t>(“%d %d %d\n”, </a:t>
            </a:r>
            <a:r>
              <a:rPr sz="2200" dirty="0" err="1"/>
              <a:t>i,powr</a:t>
            </a:r>
            <a:r>
              <a:rPr sz="2200" dirty="0"/>
              <a:t>(3,i),</a:t>
            </a:r>
            <a:r>
              <a:rPr sz="2200" dirty="0" err="1"/>
              <a:t>powr</a:t>
            </a:r>
            <a:r>
              <a:rPr sz="2200" dirty="0"/>
              <a:t>(4,i));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code structure in C"/>
          <p:cNvSpPr txBox="1">
            <a:spLocks noGrp="1"/>
          </p:cNvSpPr>
          <p:nvPr>
            <p:ph type="title"/>
          </p:nvPr>
        </p:nvSpPr>
        <p:spPr>
          <a:xfrm>
            <a:off x="2590800" y="73819"/>
            <a:ext cx="7372350" cy="166925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</a:t>
            </a:r>
            <a:r>
              <a:rPr dirty="0"/>
              <a:t>ode structure in C</a:t>
            </a:r>
          </a:p>
        </p:txBody>
      </p:sp>
      <p:sp>
        <p:nvSpPr>
          <p:cNvPr id="382" name="or :…"/>
          <p:cNvSpPr txBox="1">
            <a:spLocks noGrp="1"/>
          </p:cNvSpPr>
          <p:nvPr>
            <p:ph type="body" idx="1"/>
          </p:nvPr>
        </p:nvSpPr>
        <p:spPr>
          <a:xfrm>
            <a:off x="133350" y="1441847"/>
            <a:ext cx="11925300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 dirty="0"/>
              <a:t>or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#include &lt;</a:t>
            </a:r>
            <a:r>
              <a:rPr sz="2200" dirty="0" err="1"/>
              <a:t>stdio.h</a:t>
            </a:r>
            <a:r>
              <a:rPr sz="2200" dirty="0"/>
              <a:t>&gt;             </a:t>
            </a:r>
            <a:r>
              <a:rPr sz="2200" dirty="0">
                <a:solidFill>
                  <a:srgbClr val="0433FF"/>
                </a:solidFill>
              </a:rPr>
              <a:t>// import library !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</a:t>
            </a:r>
            <a:r>
              <a:rPr sz="2200" dirty="0" err="1"/>
              <a:t>powr</a:t>
            </a:r>
            <a:r>
              <a:rPr sz="2200" dirty="0"/>
              <a:t>(int, int);    /</a:t>
            </a:r>
            <a:r>
              <a:rPr sz="2200" dirty="0">
                <a:solidFill>
                  <a:srgbClr val="0433FF"/>
                </a:solidFill>
              </a:rPr>
              <a:t>/ flag function in advance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main() {       </a:t>
            </a:r>
            <a:r>
              <a:rPr sz="2200" dirty="0">
                <a:solidFill>
                  <a:srgbClr val="0433FF"/>
                </a:solidFill>
              </a:rPr>
              <a:t>// the main function or program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</a:t>
            </a:r>
            <a:r>
              <a:rPr sz="2200" dirty="0" err="1"/>
              <a:t>i</a:t>
            </a:r>
            <a:r>
              <a:rPr sz="2200" dirty="0"/>
              <a:t>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for (</a:t>
            </a:r>
            <a:r>
              <a:rPr sz="2200" dirty="0" err="1"/>
              <a:t>i</a:t>
            </a:r>
            <a:r>
              <a:rPr sz="2200" dirty="0"/>
              <a:t>=0; </a:t>
            </a:r>
            <a:r>
              <a:rPr sz="2200" dirty="0" err="1"/>
              <a:t>i</a:t>
            </a:r>
            <a:r>
              <a:rPr sz="2200" dirty="0"/>
              <a:t>&lt;20; </a:t>
            </a:r>
            <a:r>
              <a:rPr sz="2200" dirty="0" err="1"/>
              <a:t>i</a:t>
            </a:r>
            <a:r>
              <a:rPr sz="2200" dirty="0"/>
              <a:t>++) {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printf</a:t>
            </a:r>
            <a:r>
              <a:rPr sz="2200" dirty="0"/>
              <a:t>(“%d %d %d\n”, </a:t>
            </a:r>
            <a:r>
              <a:rPr sz="2200" dirty="0" err="1"/>
              <a:t>i,powr</a:t>
            </a:r>
            <a:r>
              <a:rPr sz="2200" dirty="0"/>
              <a:t>(3,i),</a:t>
            </a:r>
            <a:r>
              <a:rPr sz="2200" dirty="0" err="1"/>
              <a:t>powr</a:t>
            </a:r>
            <a:r>
              <a:rPr sz="2200" dirty="0"/>
              <a:t>(4,i));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</a:t>
            </a:r>
            <a:r>
              <a:rPr sz="2200" dirty="0" err="1"/>
              <a:t>powr</a:t>
            </a:r>
            <a:r>
              <a:rPr sz="2200" dirty="0"/>
              <a:t>(int base, int n) {      </a:t>
            </a:r>
            <a:r>
              <a:rPr sz="2200" dirty="0">
                <a:solidFill>
                  <a:srgbClr val="0433FF"/>
                </a:solidFill>
              </a:rPr>
              <a:t>//define it later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</a:t>
            </a:r>
            <a:r>
              <a:rPr sz="2200" dirty="0" err="1"/>
              <a:t>i</a:t>
            </a:r>
            <a:r>
              <a:rPr sz="2200" dirty="0"/>
              <a:t>, p=1;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for (</a:t>
            </a:r>
            <a:r>
              <a:rPr sz="2200" dirty="0" err="1"/>
              <a:t>i</a:t>
            </a:r>
            <a:r>
              <a:rPr sz="2200" dirty="0"/>
              <a:t>=1; </a:t>
            </a:r>
            <a:r>
              <a:rPr sz="2200" dirty="0" err="1"/>
              <a:t>i</a:t>
            </a:r>
            <a:r>
              <a:rPr sz="2200" dirty="0"/>
              <a:t>&lt;=n, </a:t>
            </a:r>
            <a:r>
              <a:rPr sz="2200" dirty="0" err="1"/>
              <a:t>i</a:t>
            </a:r>
            <a:r>
              <a:rPr sz="2200" dirty="0"/>
              <a:t>++) p=p*base;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return p;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formatting outpu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formatting output</a:t>
            </a:r>
          </a:p>
        </p:txBody>
      </p:sp>
      <p:sp>
        <p:nvSpPr>
          <p:cNvPr id="385" name="formatting output is always clunky, but where python uses {}, C uses %  :…"/>
          <p:cNvSpPr txBox="1">
            <a:spLocks noGrp="1"/>
          </p:cNvSpPr>
          <p:nvPr>
            <p:ph type="body" idx="1"/>
          </p:nvPr>
        </p:nvSpPr>
        <p:spPr>
          <a:xfrm>
            <a:off x="133350" y="1679972"/>
            <a:ext cx="11772899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formatting output is always clunky, but where python uses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{}</a:t>
            </a:r>
            <a:r>
              <a:rPr dirty="0"/>
              <a:t>, C uses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%</a:t>
            </a:r>
            <a:r>
              <a:rPr dirty="0"/>
              <a:t> 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print("{} {} {}".format(</a:t>
            </a:r>
            <a:r>
              <a:rPr dirty="0" err="1"/>
              <a:t>i</a:t>
            </a:r>
            <a:r>
              <a:rPr dirty="0"/>
              <a:t>, </a:t>
            </a:r>
            <a:r>
              <a:rPr dirty="0" err="1"/>
              <a:t>powr</a:t>
            </a:r>
            <a:r>
              <a:rPr dirty="0"/>
              <a:t>(3,i),</a:t>
            </a:r>
            <a:r>
              <a:rPr dirty="0" err="1"/>
              <a:t>powr</a:t>
            </a:r>
            <a:r>
              <a:rPr dirty="0"/>
              <a:t>(4,i)))            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# printing with formatting in Python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printf</a:t>
            </a:r>
            <a:r>
              <a:rPr dirty="0"/>
              <a:t>(“%d %d %d\n”, </a:t>
            </a:r>
            <a:r>
              <a:rPr dirty="0" err="1"/>
              <a:t>i</a:t>
            </a:r>
            <a:r>
              <a:rPr dirty="0"/>
              <a:t>, </a:t>
            </a:r>
            <a:r>
              <a:rPr dirty="0" err="1"/>
              <a:t>powr</a:t>
            </a:r>
            <a:r>
              <a:rPr dirty="0"/>
              <a:t>(3,i), </a:t>
            </a:r>
            <a:r>
              <a:rPr dirty="0" err="1"/>
              <a:t>powr</a:t>
            </a:r>
            <a:r>
              <a:rPr dirty="0"/>
              <a:t>(4,i));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//printing with formatting in C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// %&lt;width&gt;.&lt;</a:t>
            </a:r>
            <a:r>
              <a:rPr dirty="0" err="1">
                <a:solidFill>
                  <a:srgbClr val="0433FF"/>
                </a:solidFill>
              </a:rPr>
              <a:t>digits_after_point</a:t>
            </a:r>
            <a:r>
              <a:rPr dirty="0">
                <a:solidFill>
                  <a:srgbClr val="0433FF"/>
                </a:solidFill>
              </a:rPr>
              <a:t>&gt;&lt;type&gt;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//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// where &lt;type&gt; is d for integer/decimal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//                 f for float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//                 e for engineering format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etting inpu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getting input</a:t>
            </a:r>
          </a:p>
        </p:txBody>
      </p:sp>
      <p:sp>
        <p:nvSpPr>
          <p:cNvPr id="388" name="for inputs, C uses % formatting just like for outputs, but it's a bit of a pain:…"/>
          <p:cNvSpPr txBox="1">
            <a:spLocks noGrp="1"/>
          </p:cNvSpPr>
          <p:nvPr>
            <p:ph type="body" idx="1"/>
          </p:nvPr>
        </p:nvSpPr>
        <p:spPr>
          <a:xfrm>
            <a:off x="161925" y="1699022"/>
            <a:ext cx="11868150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for inputs, C uses % formatting just like for outputs, but it's a bit of a pain: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s = input("input please")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s = int(s)            </a:t>
            </a:r>
            <a:br>
              <a:rPr dirty="0"/>
            </a:br>
            <a:endParaRPr dirty="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# input in Python of a decimal / integer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>
              <a:solidFill>
                <a:srgbClr val="0433FF"/>
              </a:solidFill>
            </a:endParaRP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scanf</a:t>
            </a:r>
            <a:r>
              <a:rPr dirty="0"/>
              <a:t>(“%d”, &amp;s);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// input in C of a decimal / integer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// advantage is that </a:t>
            </a:r>
            <a:r>
              <a:rPr dirty="0" err="1">
                <a:solidFill>
                  <a:srgbClr val="0433FF"/>
                </a:solidFill>
              </a:rPr>
              <a:t>scanf</a:t>
            </a:r>
            <a:r>
              <a:rPr dirty="0">
                <a:solidFill>
                  <a:srgbClr val="0433FF"/>
                </a:solidFill>
              </a:rPr>
              <a:t> automatically converts,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// disadvantage is that everything else about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0433FF"/>
                </a:solidFill>
              </a:rPr>
              <a:t>// input in C is horrid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declaring vari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declaring variables</a:t>
            </a:r>
          </a:p>
        </p:txBody>
      </p:sp>
      <p:sp>
        <p:nvSpPr>
          <p:cNvPr id="391" name="here is a huge difference between Python and 'lesser' languages in functionality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here is a huge difference between Python and 'lesser' languages in functionality.</a:t>
            </a:r>
          </a:p>
          <a:p>
            <a:r>
              <a:t>Python does all the work for you; you use variables and it works out their type.</a:t>
            </a:r>
          </a:p>
          <a:p>
            <a:r>
              <a:t>C needs you to explicitly describe what something is, in advance, in detail, so that the compiler can set aside memory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declaring variables in 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declaring variables in C</a:t>
            </a:r>
          </a:p>
        </p:txBody>
      </p:sp>
      <p:sp>
        <p:nvSpPr>
          <p:cNvPr id="394" name="Need to declare variables, at the beginning of the block in which they are used.…"/>
          <p:cNvSpPr txBox="1">
            <a:spLocks noGrp="1"/>
          </p:cNvSpPr>
          <p:nvPr>
            <p:ph type="body" idx="1"/>
          </p:nvPr>
        </p:nvSpPr>
        <p:spPr>
          <a:xfrm>
            <a:off x="2416969" y="1946672"/>
            <a:ext cx="7358063" cy="4610335"/>
          </a:xfrm>
          <a:prstGeom prst="rect">
            <a:avLst/>
          </a:prstGeom>
        </p:spPr>
        <p:txBody>
          <a:bodyPr/>
          <a:lstStyle/>
          <a:p>
            <a:r>
              <a:t>Need to declare variables, at the beginning of the block in which they are used. </a:t>
            </a:r>
          </a:p>
          <a:p>
            <a:r>
              <a:t>Declaration valid within that block </a:t>
            </a:r>
          </a:p>
          <a:p>
            <a:r>
              <a:t>Form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&lt;type&gt; &lt;variablename&gt;</a:t>
            </a:r>
            <a:r>
              <a:t> </a:t>
            </a:r>
          </a:p>
          <a:p>
            <a:r>
              <a:t>Common types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int float char </a:t>
            </a:r>
            <a:r>
              <a:rPr sz="2531"/>
              <a:t>(8-bit)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 double long short </a:t>
            </a:r>
          </a:p>
          <a:p>
            <a:r>
              <a:t>i.e.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int i = 0;</a:t>
            </a:r>
            <a:r>
              <a:t> memory is reserved for an integer called ‘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t>’, updated to value 0. 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example declar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 declarations</a:t>
            </a:r>
          </a:p>
        </p:txBody>
      </p:sp>
      <p:sp>
        <p:nvSpPr>
          <p:cNvPr id="397" name="note: three variables declared before use…"/>
          <p:cNvSpPr txBox="1">
            <a:spLocks noGrp="1"/>
          </p:cNvSpPr>
          <p:nvPr>
            <p:ph type="body" idx="1"/>
          </p:nvPr>
        </p:nvSpPr>
        <p:spPr>
          <a:xfrm>
            <a:off x="176212" y="1556147"/>
            <a:ext cx="1183957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 dirty="0"/>
              <a:t>note: three variables declared before use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#include &lt;</a:t>
            </a:r>
            <a:r>
              <a:rPr sz="2200" dirty="0" err="1"/>
              <a:t>stdio.h</a:t>
            </a:r>
            <a:r>
              <a:rPr sz="2200" dirty="0"/>
              <a:t>&gt;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main () {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</a:t>
            </a:r>
            <a:r>
              <a:rPr sz="2200" dirty="0">
                <a:solidFill>
                  <a:srgbClr val="FF2600"/>
                </a:solidFill>
              </a:rPr>
              <a:t>int </a:t>
            </a:r>
            <a:r>
              <a:rPr sz="2200" dirty="0" err="1">
                <a:solidFill>
                  <a:srgbClr val="FF2600"/>
                </a:solidFill>
              </a:rPr>
              <a:t>integer_size</a:t>
            </a:r>
            <a:r>
              <a:rPr sz="2200" dirty="0">
                <a:solidFill>
                  <a:srgbClr val="FF2600"/>
                </a:solidFill>
              </a:rPr>
              <a:t>;     </a:t>
            </a:r>
            <a:r>
              <a:rPr sz="2200" dirty="0">
                <a:solidFill>
                  <a:srgbClr val="0433FF"/>
                </a:solidFill>
              </a:rPr>
              <a:t>// in python, you could have</a:t>
            </a:r>
            <a:endParaRPr sz="2200" dirty="0">
              <a:solidFill>
                <a:srgbClr val="FF2600"/>
              </a:solidFill>
            </a:endParaRPr>
          </a:p>
          <a:p>
            <a:pPr marL="0" indent="133941">
              <a:spcBef>
                <a:spcPts val="0"/>
              </a:spcBef>
              <a:buSzTx/>
              <a:buNone/>
              <a:defRPr sz="2400">
                <a:solidFill>
                  <a:srgbClr val="FF26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int </a:t>
            </a:r>
            <a:r>
              <a:rPr sz="2200" dirty="0" err="1"/>
              <a:t>character_size</a:t>
            </a:r>
            <a:r>
              <a:rPr sz="2200" dirty="0"/>
              <a:t>;   </a:t>
            </a:r>
            <a:r>
              <a:rPr sz="2200" dirty="0">
                <a:solidFill>
                  <a:srgbClr val="0433FF"/>
                </a:solidFill>
              </a:rPr>
              <a:t>// assumed the compiler would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solidFill>
                  <a:srgbClr val="FF26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int </a:t>
            </a:r>
            <a:r>
              <a:rPr sz="2200" dirty="0" err="1"/>
              <a:t>float_size</a:t>
            </a:r>
            <a:r>
              <a:rPr sz="2200" dirty="0"/>
              <a:t>;       </a:t>
            </a:r>
            <a:r>
              <a:rPr sz="2200" dirty="0">
                <a:solidFill>
                  <a:srgbClr val="0433FF"/>
                </a:solidFill>
              </a:rPr>
              <a:t>// get this done for you</a:t>
            </a:r>
            <a:r>
              <a:rPr sz="2200" dirty="0"/>
              <a:t> 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integer_size</a:t>
            </a:r>
            <a:r>
              <a:rPr sz="2200" dirty="0"/>
              <a:t> = </a:t>
            </a:r>
            <a:r>
              <a:rPr sz="2200" dirty="0" err="1"/>
              <a:t>sizeof</a:t>
            </a:r>
            <a:r>
              <a:rPr sz="2200" dirty="0"/>
              <a:t>(int);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</a:t>
            </a:r>
            <a:r>
              <a:rPr sz="2200" dirty="0" err="1"/>
              <a:t>character_size</a:t>
            </a:r>
            <a:r>
              <a:rPr sz="2200" dirty="0"/>
              <a:t> = </a:t>
            </a:r>
            <a:r>
              <a:rPr sz="2200" dirty="0" err="1"/>
              <a:t>sizeof</a:t>
            </a:r>
            <a:r>
              <a:rPr sz="2200" dirty="0"/>
              <a:t>(char);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</a:t>
            </a:r>
            <a:r>
              <a:rPr sz="2200" dirty="0" err="1"/>
              <a:t>float_size</a:t>
            </a:r>
            <a:r>
              <a:rPr sz="2200" dirty="0"/>
              <a:t> = </a:t>
            </a:r>
            <a:r>
              <a:rPr sz="2200" dirty="0" err="1"/>
              <a:t>sizeof</a:t>
            </a:r>
            <a:r>
              <a:rPr sz="2200" dirty="0"/>
              <a:t>(float);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printf</a:t>
            </a:r>
            <a:r>
              <a:rPr sz="2200" dirty="0"/>
              <a:t>("int, char, float use %d %d and %d bytes\n",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             </a:t>
            </a:r>
            <a:r>
              <a:rPr sz="2200" dirty="0" err="1"/>
              <a:t>integer_size</a:t>
            </a:r>
            <a:r>
              <a:rPr sz="2200" dirty="0"/>
              <a:t>, </a:t>
            </a:r>
            <a:r>
              <a:rPr sz="2200" dirty="0" err="1"/>
              <a:t>character_size</a:t>
            </a:r>
            <a:r>
              <a:rPr sz="2200" dirty="0"/>
              <a:t>, </a:t>
            </a:r>
            <a:r>
              <a:rPr sz="2200" dirty="0" err="1"/>
              <a:t>float_size</a:t>
            </a:r>
            <a:r>
              <a:rPr sz="2200" dirty="0"/>
              <a:t>);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return 0; 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loops, loops, loo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 loops, loops, loops</a:t>
            </a:r>
          </a:p>
        </p:txBody>
      </p:sp>
      <p:sp>
        <p:nvSpPr>
          <p:cNvPr id="400" name="while loops are pretty much like Python…"/>
          <p:cNvSpPr txBox="1">
            <a:spLocks noGrp="1"/>
          </p:cNvSpPr>
          <p:nvPr>
            <p:ph type="body" idx="1"/>
          </p:nvPr>
        </p:nvSpPr>
        <p:spPr>
          <a:xfrm>
            <a:off x="247650" y="1946672"/>
            <a:ext cx="11563349" cy="4572000"/>
          </a:xfrm>
          <a:prstGeom prst="rect">
            <a:avLst/>
          </a:prstGeom>
        </p:spPr>
        <p:txBody>
          <a:bodyPr anchor="t"/>
          <a:lstStyle/>
          <a:p>
            <a:pPr marL="287015" indent="-287015"/>
            <a:r>
              <a:rPr sz="2200" dirty="0">
                <a:latin typeface="Courier"/>
                <a:ea typeface="Courier"/>
                <a:cs typeface="Courier"/>
                <a:sym typeface="Courier"/>
              </a:rPr>
              <a:t>while</a:t>
            </a:r>
            <a:r>
              <a:rPr sz="2200" dirty="0"/>
              <a:t> loops are pretty much like Python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while (counter&lt;n) {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value = 2*value;   //or  value *= 2;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printf</a:t>
            </a:r>
            <a:r>
              <a:rPr sz="2200" dirty="0"/>
              <a:t>(“current value is %d\</a:t>
            </a:r>
            <a:r>
              <a:rPr sz="2200" dirty="0" err="1"/>
              <a:t>n”,value</a:t>
            </a:r>
            <a:r>
              <a:rPr sz="2200" dirty="0"/>
              <a:t>);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counter++;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  <a:p>
            <a:pPr marL="401822"/>
            <a:r>
              <a:rPr sz="2200" dirty="0"/>
              <a:t>C also has </a:t>
            </a:r>
            <a:r>
              <a:rPr sz="2200" dirty="0">
                <a:latin typeface="Courier"/>
                <a:ea typeface="Courier"/>
                <a:cs typeface="Courier"/>
                <a:sym typeface="Courier"/>
              </a:rPr>
              <a:t>do-while</a:t>
            </a:r>
            <a:r>
              <a:rPr sz="2200" dirty="0"/>
              <a:t> loops with check at end</a:t>
            </a:r>
          </a:p>
          <a:p>
            <a:pPr marL="0" lvl="4" indent="96437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do {</a:t>
            </a:r>
          </a:p>
          <a:p>
            <a:pPr marL="0" lvl="6" indent="144655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prevGuess</a:t>
            </a:r>
            <a:r>
              <a:rPr sz="2200" dirty="0"/>
              <a:t> = </a:t>
            </a:r>
            <a:r>
              <a:rPr sz="2200" dirty="0" err="1"/>
              <a:t>currGuess</a:t>
            </a:r>
            <a:r>
              <a:rPr sz="2200" dirty="0"/>
              <a:t>;</a:t>
            </a:r>
          </a:p>
          <a:p>
            <a:pPr marL="0" lvl="6" indent="144655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currGuess</a:t>
            </a:r>
            <a:r>
              <a:rPr sz="2200" dirty="0"/>
              <a:t> = (</a:t>
            </a:r>
            <a:r>
              <a:rPr sz="2200" dirty="0" err="1"/>
              <a:t>prevGuess</a:t>
            </a:r>
            <a:r>
              <a:rPr sz="2200" dirty="0"/>
              <a:t> + n/</a:t>
            </a:r>
            <a:r>
              <a:rPr sz="2200" dirty="0" err="1"/>
              <a:t>prevGuess</a:t>
            </a:r>
            <a:r>
              <a:rPr sz="2200" dirty="0"/>
              <a:t>)/2;</a:t>
            </a:r>
          </a:p>
          <a:p>
            <a:pPr marL="0" lvl="4" indent="96437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 while (fabs(</a:t>
            </a:r>
            <a:r>
              <a:rPr sz="2200" dirty="0" err="1"/>
              <a:t>prevGuess-currGuess</a:t>
            </a:r>
            <a:r>
              <a:rPr sz="2200" dirty="0"/>
              <a:t>)&gt;error;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sz="2200" dirty="0"/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loops, loops, loo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 loops, loops, loops</a:t>
            </a:r>
          </a:p>
        </p:txBody>
      </p:sp>
      <p:sp>
        <p:nvSpPr>
          <p:cNvPr id="403" name="the big difference is in counting loops, with C having a 'classic' counting loop…"/>
          <p:cNvSpPr txBox="1">
            <a:spLocks noGrp="1"/>
          </p:cNvSpPr>
          <p:nvPr>
            <p:ph type="body" idx="1"/>
          </p:nvPr>
        </p:nvSpPr>
        <p:spPr>
          <a:xfrm>
            <a:off x="171450" y="1946672"/>
            <a:ext cx="11925299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the big difference is in counting loops, with C having a 'classic' counting loop</a:t>
            </a:r>
          </a:p>
          <a:p>
            <a:pPr marL="401822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for (&lt;ex1&gt;;&lt;ex2&gt;;&lt;ex3&gt;) &lt;statement&gt;</a:t>
            </a:r>
          </a:p>
          <a:p>
            <a:pPr marL="344418" indent="-344418"/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ex1</a:t>
            </a:r>
            <a:r>
              <a:rPr dirty="0"/>
              <a:t> </a:t>
            </a:r>
            <a:r>
              <a:rPr dirty="0" err="1"/>
              <a:t>initialises</a:t>
            </a:r>
            <a:r>
              <a:rPr dirty="0"/>
              <a:t> a loop counter.</a:t>
            </a:r>
          </a:p>
          <a:p>
            <a:pPr marL="401822"/>
            <a:r>
              <a:rPr dirty="0"/>
              <a:t>we evaluate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ex2</a:t>
            </a:r>
            <a:r>
              <a:rPr dirty="0"/>
              <a:t>, and exit the loop if false.</a:t>
            </a:r>
          </a:p>
          <a:p>
            <a:pPr marL="401822"/>
            <a:r>
              <a:rPr dirty="0"/>
              <a:t>if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ex2</a:t>
            </a:r>
            <a:r>
              <a:rPr dirty="0"/>
              <a:t> true, the computer executes the statement and then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ex3</a:t>
            </a:r>
            <a:r>
              <a:rPr dirty="0"/>
              <a:t> and then goes back to check the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ex2</a:t>
            </a:r>
            <a:r>
              <a:rPr dirty="0"/>
              <a:t> again.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for"/>
          <p:cNvSpPr txBox="1">
            <a:spLocks noGrp="1"/>
          </p:cNvSpPr>
          <p:nvPr>
            <p:ph type="title"/>
          </p:nvPr>
        </p:nvSpPr>
        <p:spPr>
          <a:xfrm>
            <a:off x="981075" y="7144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t>for</a:t>
            </a:r>
          </a:p>
        </p:txBody>
      </p:sp>
      <p:sp>
        <p:nvSpPr>
          <p:cNvPr id="406" name="powers of 2 python example now in C:…"/>
          <p:cNvSpPr txBox="1">
            <a:spLocks noGrp="1"/>
          </p:cNvSpPr>
          <p:nvPr>
            <p:ph type="body" idx="1"/>
          </p:nvPr>
        </p:nvSpPr>
        <p:spPr>
          <a:xfrm>
            <a:off x="200025" y="1594247"/>
            <a:ext cx="1199197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powers of 2 python example now in C: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#include &lt;</a:t>
            </a:r>
            <a:r>
              <a:rPr dirty="0" err="1"/>
              <a:t>stdio.h</a:t>
            </a:r>
            <a:r>
              <a:rPr dirty="0"/>
              <a:t>&gt;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int main() {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int n, counter = 0, value = 1;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 err="1"/>
              <a:t>scanf</a:t>
            </a:r>
            <a:r>
              <a:rPr dirty="0"/>
              <a:t>(“value for n: %d”, &amp;n);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endParaRPr dirty="0"/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>
                <a:solidFill>
                  <a:srgbClr val="FF2600"/>
                </a:solidFill>
              </a:rPr>
              <a:t>for (counter=0; counter&lt;=n; counter++)</a:t>
            </a:r>
            <a:r>
              <a:rPr dirty="0"/>
              <a:t> {</a:t>
            </a:r>
          </a:p>
          <a:p>
            <a:pPr marL="0" lvl="6" indent="197339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if (counter==0) </a:t>
            </a:r>
            <a:r>
              <a:rPr dirty="0" err="1"/>
              <a:t>printf</a:t>
            </a:r>
            <a:r>
              <a:rPr dirty="0"/>
              <a:t>(“value is 1”);</a:t>
            </a:r>
          </a:p>
          <a:p>
            <a:pPr marL="0" lvl="6" indent="197339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else {</a:t>
            </a:r>
          </a:p>
          <a:p>
            <a:pPr marL="0" lvl="7" indent="2223413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value *= 2;</a:t>
            </a:r>
          </a:p>
          <a:p>
            <a:pPr marL="0" lvl="7" indent="2223413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 </a:t>
            </a:r>
            <a:r>
              <a:rPr dirty="0" err="1"/>
              <a:t>printf</a:t>
            </a:r>
            <a:r>
              <a:rPr dirty="0"/>
              <a:t>(“value is %d\</a:t>
            </a:r>
            <a:r>
              <a:rPr dirty="0" err="1"/>
              <a:t>n”,value</a:t>
            </a:r>
            <a:r>
              <a:rPr dirty="0"/>
              <a:t>);</a:t>
            </a:r>
          </a:p>
          <a:p>
            <a:pPr marL="0" lvl="6" indent="197339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}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}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complex types - arra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complex types - array</a:t>
            </a:r>
          </a:p>
        </p:txBody>
      </p:sp>
      <p:sp>
        <p:nvSpPr>
          <p:cNvPr id="411" name="C doesn't have tuples, lists or dictionaries, where you can store heterogeneous arrays of stuff of all sorts.…"/>
          <p:cNvSpPr txBox="1">
            <a:spLocks noGrp="1"/>
          </p:cNvSpPr>
          <p:nvPr>
            <p:ph type="body" idx="1"/>
          </p:nvPr>
        </p:nvSpPr>
        <p:spPr>
          <a:xfrm>
            <a:off x="1666876" y="1775222"/>
            <a:ext cx="9032082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C doesn't have tuples, lists or dictionaries, where you can store heterogeneous arrays of stuff of all sorts.</a:t>
            </a:r>
          </a:p>
          <a:p>
            <a:pPr marL="401822"/>
            <a:r>
              <a:rPr dirty="0"/>
              <a:t>It does have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arrays</a:t>
            </a:r>
            <a:r>
              <a:rPr dirty="0"/>
              <a:t>.</a:t>
            </a:r>
          </a:p>
          <a:p>
            <a:pPr marL="401822"/>
            <a:r>
              <a:rPr dirty="0"/>
              <a:t>Can have multiple dimensions, but in 1-D is an indexed list of items of the same type.</a:t>
            </a:r>
          </a:p>
          <a:p>
            <a:pPr marL="401822"/>
            <a:r>
              <a:rPr dirty="0"/>
              <a:t>Declare as </a:t>
            </a:r>
            <a:r>
              <a:rPr sz="2109" dirty="0">
                <a:latin typeface="Courier"/>
                <a:ea typeface="Courier"/>
                <a:cs typeface="Courier"/>
                <a:sym typeface="Courier"/>
              </a:rPr>
              <a:t>&lt;type&gt; &lt;name&gt;[#]</a:t>
            </a:r>
            <a:r>
              <a:rPr dirty="0"/>
              <a:t> where the </a:t>
            </a:r>
            <a:r>
              <a:rPr sz="2109" dirty="0">
                <a:latin typeface="Courier"/>
                <a:ea typeface="Courier"/>
                <a:cs typeface="Courier"/>
                <a:sym typeface="Courier"/>
              </a:rPr>
              <a:t>[]</a:t>
            </a:r>
            <a:r>
              <a:rPr dirty="0"/>
              <a:t> indicates an array, and the </a:t>
            </a:r>
            <a:r>
              <a:rPr sz="2109" dirty="0">
                <a:latin typeface="Courier"/>
                <a:ea typeface="Courier"/>
                <a:cs typeface="Courier"/>
                <a:sym typeface="Courier"/>
              </a:rPr>
              <a:t>#</a:t>
            </a:r>
            <a:r>
              <a:rPr dirty="0"/>
              <a:t> is the number of elements.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Array declar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Array declaration</a:t>
            </a:r>
          </a:p>
        </p:txBody>
      </p:sp>
      <p:sp>
        <p:nvSpPr>
          <p:cNvPr id="414" name="so as some specific examples :…"/>
          <p:cNvSpPr txBox="1">
            <a:spLocks noGrp="1"/>
          </p:cNvSpPr>
          <p:nvPr>
            <p:ph type="body" idx="1"/>
          </p:nvPr>
        </p:nvSpPr>
        <p:spPr>
          <a:xfrm>
            <a:off x="314325" y="1632347"/>
            <a:ext cx="8038505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so as some specific examples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float distances[100];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int marks[7] = {32,56,76,104,6,12,18};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char name[5] = {‘m’,’</a:t>
            </a:r>
            <a:r>
              <a:rPr dirty="0" err="1"/>
              <a:t>i</a:t>
            </a:r>
            <a:r>
              <a:rPr dirty="0"/>
              <a:t>’,’</a:t>
            </a:r>
            <a:r>
              <a:rPr dirty="0" err="1"/>
              <a:t>k’,’e</a:t>
            </a:r>
            <a:r>
              <a:rPr dirty="0"/>
              <a:t>’,’\0’};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char text[5] = “mike”;</a:t>
            </a:r>
          </a:p>
          <a:p>
            <a:pPr marL="401822"/>
            <a:r>
              <a:rPr dirty="0"/>
              <a:t>usage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distances[0] = 12.0;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distances[99] = 47.34;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distances[100] = 1.2;   // error!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a = marks[3]            // a=104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char t = name[1]        // t=’</a:t>
            </a:r>
            <a:r>
              <a:rPr dirty="0" err="1"/>
              <a:t>i</a:t>
            </a:r>
            <a:r>
              <a:rPr dirty="0"/>
              <a:t>’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char t = text[1]        // t=’</a:t>
            </a:r>
            <a:r>
              <a:rPr dirty="0" err="1"/>
              <a:t>i</a:t>
            </a:r>
            <a:r>
              <a:rPr dirty="0"/>
              <a:t>’</a:t>
            </a:r>
          </a:p>
        </p:txBody>
      </p:sp>
      <p:graphicFrame>
        <p:nvGraphicFramePr>
          <p:cNvPr id="415" name="Table"/>
          <p:cNvGraphicFramePr/>
          <p:nvPr/>
        </p:nvGraphicFramePr>
        <p:xfrm>
          <a:off x="8703469" y="2428875"/>
          <a:ext cx="1759148" cy="3598665"/>
        </p:xfrm>
        <a:graphic>
          <a:graphicData uri="http://schemas.openxmlformats.org/drawingml/2006/table">
            <a:tbl>
              <a:tblPr/>
              <a:tblGrid>
                <a:gridCol w="879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9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0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0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0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0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0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0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</a:pPr>
                      <a:r>
                        <a:rPr sz="2500"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16" name="marks"/>
          <p:cNvSpPr txBox="1"/>
          <p:nvPr/>
        </p:nvSpPr>
        <p:spPr>
          <a:xfrm>
            <a:off x="9009051" y="1928961"/>
            <a:ext cx="1006687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marks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</a:t>
            </a:r>
          </a:p>
        </p:txBody>
      </p:sp>
      <p:sp>
        <p:nvSpPr>
          <p:cNvPr id="419" name="compute the average of 5 numbers :…"/>
          <p:cNvSpPr txBox="1">
            <a:spLocks noGrp="1"/>
          </p:cNvSpPr>
          <p:nvPr>
            <p:ph type="body" idx="1"/>
          </p:nvPr>
        </p:nvSpPr>
        <p:spPr>
          <a:xfrm>
            <a:off x="238125" y="1622866"/>
            <a:ext cx="11830050" cy="5018555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sz="2200" dirty="0"/>
              <a:t>compute the average of 5 numbers :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#include &lt;</a:t>
            </a:r>
            <a:r>
              <a:rPr sz="2200" dirty="0" err="1"/>
              <a:t>stdio.h</a:t>
            </a:r>
            <a:r>
              <a:rPr sz="2200" dirty="0"/>
              <a:t>&gt; 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main( ){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numbers[5] = {1,3,2,6,-5};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int sum = 0, </a:t>
            </a:r>
            <a:r>
              <a:rPr sz="2200" dirty="0" err="1"/>
              <a:t>i</a:t>
            </a:r>
            <a:r>
              <a:rPr sz="2200" dirty="0"/>
              <a:t>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float average; 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for ( </a:t>
            </a:r>
            <a:r>
              <a:rPr sz="2200" dirty="0" err="1"/>
              <a:t>i</a:t>
            </a:r>
            <a:r>
              <a:rPr sz="2200" dirty="0"/>
              <a:t> = 0; </a:t>
            </a:r>
            <a:r>
              <a:rPr sz="2200" dirty="0" err="1"/>
              <a:t>i</a:t>
            </a:r>
            <a:r>
              <a:rPr sz="2200" dirty="0"/>
              <a:t> &lt; 5; </a:t>
            </a:r>
            <a:r>
              <a:rPr sz="2200" dirty="0" err="1"/>
              <a:t>i</a:t>
            </a:r>
            <a:r>
              <a:rPr sz="2200" dirty="0"/>
              <a:t>++) {</a:t>
            </a:r>
          </a:p>
          <a:p>
            <a:pPr marL="0" lvl="4" indent="1473346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sum = sum + numbers[</a:t>
            </a:r>
            <a:r>
              <a:rPr sz="2200" dirty="0" err="1"/>
              <a:t>i</a:t>
            </a:r>
            <a:r>
              <a:rPr sz="2200" dirty="0"/>
              <a:t>]; 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average = (float) sum/5; 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 err="1"/>
              <a:t>printf</a:t>
            </a:r>
            <a:r>
              <a:rPr sz="2200" dirty="0"/>
              <a:t>(“Average is: %f”, average);</a:t>
            </a:r>
          </a:p>
          <a:p>
            <a:pPr marL="0" lvl="3" indent="1160818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return 0;	</a:t>
            </a:r>
          </a:p>
          <a:p>
            <a:pPr marL="0" lvl="2" indent="84829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sz="2200" dirty="0"/>
              <a:t>}</a:t>
            </a:r>
          </a:p>
          <a:p>
            <a:pPr marL="401822"/>
            <a:r>
              <a:rPr sz="2200" dirty="0"/>
              <a:t>just like numerical lists in Python - but you have to do the counting explicitly.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Multiple Dimensions"/>
          <p:cNvSpPr txBox="1">
            <a:spLocks noGrp="1"/>
          </p:cNvSpPr>
          <p:nvPr>
            <p:ph type="title"/>
          </p:nvPr>
        </p:nvSpPr>
        <p:spPr>
          <a:xfrm>
            <a:off x="2416969" y="187523"/>
            <a:ext cx="7358063" cy="1714500"/>
          </a:xfrm>
          <a:prstGeom prst="rect">
            <a:avLst/>
          </a:prstGeom>
        </p:spPr>
        <p:txBody>
          <a:bodyPr/>
          <a:lstStyle/>
          <a:p>
            <a:r>
              <a:t>Multiple Dimensions</a:t>
            </a:r>
          </a:p>
        </p:txBody>
      </p:sp>
      <p:sp>
        <p:nvSpPr>
          <p:cNvPr id="424" name="Arrays with more than one dimension can be defined in the following way 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Arrays with more than one dimension can be defined in the following way :</a:t>
            </a:r>
          </a:p>
          <a:p>
            <a:pPr marL="0" indent="133941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int myArray[4][3]              int myArray[2][4][3]</a:t>
            </a:r>
          </a:p>
        </p:txBody>
      </p:sp>
      <p:graphicFrame>
        <p:nvGraphicFramePr>
          <p:cNvPr id="425" name="Table"/>
          <p:cNvGraphicFramePr/>
          <p:nvPr/>
        </p:nvGraphicFramePr>
        <p:xfrm>
          <a:off x="2247305" y="3741539"/>
          <a:ext cx="2152056" cy="2669975"/>
        </p:xfrm>
        <a:graphic>
          <a:graphicData uri="http://schemas.openxmlformats.org/drawingml/2006/table">
            <a:tbl>
              <a:tblPr firstRow="1" firstCol="1"/>
              <a:tblGrid>
                <a:gridCol w="53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4000" b="0"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pPr>
                      <a:endParaRPr sz="28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6" name="Table"/>
          <p:cNvGraphicFramePr/>
          <p:nvPr/>
        </p:nvGraphicFramePr>
        <p:xfrm>
          <a:off x="5703094" y="3741539"/>
          <a:ext cx="2152056" cy="2669975"/>
        </p:xfrm>
        <a:graphic>
          <a:graphicData uri="http://schemas.openxmlformats.org/drawingml/2006/table">
            <a:tbl>
              <a:tblPr firstRow="1" firstCol="1"/>
              <a:tblGrid>
                <a:gridCol w="53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2600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7" name="Table"/>
          <p:cNvGraphicFramePr/>
          <p:nvPr/>
        </p:nvGraphicFramePr>
        <p:xfrm>
          <a:off x="7953375" y="3741539"/>
          <a:ext cx="2152056" cy="2669975"/>
        </p:xfrm>
        <a:graphic>
          <a:graphicData uri="http://schemas.openxmlformats.org/drawingml/2006/table">
            <a:tbl>
              <a:tblPr firstRow="1" firstCol="1"/>
              <a:tblGrid>
                <a:gridCol w="53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2600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wo Dimens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Two Dimensions</a:t>
            </a:r>
          </a:p>
        </p:txBody>
      </p:sp>
      <p:sp>
        <p:nvSpPr>
          <p:cNvPr id="430" name="Arrays with more than one dimension can be defined in the following way :…"/>
          <p:cNvSpPr txBox="1">
            <a:spLocks noGrp="1"/>
          </p:cNvSpPr>
          <p:nvPr>
            <p:ph type="body" sz="half" idx="1"/>
          </p:nvPr>
        </p:nvSpPr>
        <p:spPr>
          <a:xfrm>
            <a:off x="76200" y="1946672"/>
            <a:ext cx="10610849" cy="1803797"/>
          </a:xfrm>
          <a:prstGeom prst="rect">
            <a:avLst/>
          </a:prstGeom>
        </p:spPr>
        <p:txBody>
          <a:bodyPr anchor="t"/>
          <a:lstStyle/>
          <a:p>
            <a:r>
              <a:rPr dirty="0"/>
              <a:t>Arrays with more than one dimension can be defined in the following way :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int </a:t>
            </a:r>
            <a:r>
              <a:rPr dirty="0" err="1"/>
              <a:t>myArray</a:t>
            </a:r>
            <a:r>
              <a:rPr dirty="0"/>
              <a:t>[4][3]   // declare 4 rows and 3 columns</a:t>
            </a:r>
          </a:p>
          <a:p>
            <a:pPr marL="0" lvl="1" indent="535762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x = </a:t>
            </a:r>
            <a:r>
              <a:rPr dirty="0" err="1"/>
              <a:t>myArray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][j]   // element from </a:t>
            </a:r>
            <a:r>
              <a:rPr dirty="0" err="1"/>
              <a:t>ith</a:t>
            </a:r>
            <a:r>
              <a:rPr dirty="0"/>
              <a:t> row, </a:t>
            </a:r>
            <a:r>
              <a:rPr dirty="0" err="1"/>
              <a:t>jth</a:t>
            </a:r>
            <a:r>
              <a:rPr dirty="0"/>
              <a:t> col            </a:t>
            </a:r>
          </a:p>
        </p:txBody>
      </p:sp>
      <p:graphicFrame>
        <p:nvGraphicFramePr>
          <p:cNvPr id="431" name="Table"/>
          <p:cNvGraphicFramePr/>
          <p:nvPr/>
        </p:nvGraphicFramePr>
        <p:xfrm>
          <a:off x="2274094" y="3848695"/>
          <a:ext cx="2152056" cy="2669975"/>
        </p:xfrm>
        <a:graphic>
          <a:graphicData uri="http://schemas.openxmlformats.org/drawingml/2006/table">
            <a:tbl>
              <a:tblPr firstRow="1" firstCol="1"/>
              <a:tblGrid>
                <a:gridCol w="53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4000" b="0"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defRPr>
                      </a:pPr>
                      <a:endParaRPr sz="28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995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effectLst>
                            <a:outerShdw blurRad="25400" dist="25400" dir="5400000" rotWithShape="0">
                              <a:srgbClr val="000000">
                                <a:alpha val="6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blipFill rotWithShape="1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+mn-lt"/>
                          <a:ea typeface="+mn-ea"/>
                          <a:cs typeface="+mn-c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2" name="Line"/>
          <p:cNvSpPr/>
          <p:nvPr/>
        </p:nvSpPr>
        <p:spPr>
          <a:xfrm>
            <a:off x="2944418" y="4487983"/>
            <a:ext cx="1279570" cy="18253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3818" h="20632" extrusionOk="0">
                <a:moveTo>
                  <a:pt x="958" y="950"/>
                </a:moveTo>
                <a:cubicBezTo>
                  <a:pt x="958" y="950"/>
                  <a:pt x="12722" y="-968"/>
                  <a:pt x="12529" y="647"/>
                </a:cubicBezTo>
                <a:cubicBezTo>
                  <a:pt x="12336" y="2262"/>
                  <a:pt x="-1067" y="4482"/>
                  <a:pt x="861" y="5896"/>
                </a:cubicBezTo>
                <a:cubicBezTo>
                  <a:pt x="2790" y="7309"/>
                  <a:pt x="14072" y="5391"/>
                  <a:pt x="13397" y="7712"/>
                </a:cubicBezTo>
                <a:cubicBezTo>
                  <a:pt x="12722" y="10034"/>
                  <a:pt x="-4346" y="12355"/>
                  <a:pt x="1054" y="13163"/>
                </a:cubicBezTo>
                <a:cubicBezTo>
                  <a:pt x="6454" y="13970"/>
                  <a:pt x="16772" y="12456"/>
                  <a:pt x="13011" y="14576"/>
                </a:cubicBezTo>
                <a:cubicBezTo>
                  <a:pt x="9251" y="16696"/>
                  <a:pt x="-4828" y="18613"/>
                  <a:pt x="1729" y="19522"/>
                </a:cubicBezTo>
                <a:cubicBezTo>
                  <a:pt x="8286" y="20430"/>
                  <a:pt x="12240" y="20632"/>
                  <a:pt x="12240" y="20632"/>
                </a:cubicBezTo>
              </a:path>
            </a:pathLst>
          </a:cu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35719" tIns="35719" rIns="35719" bIns="35719" anchor="ctr"/>
          <a:lstStyle/>
          <a:p>
            <a:pPr algn="ctr" defTabSz="410751" hangingPunct="0"/>
            <a:endParaRPr sz="2953" kern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433" name="Remember to count from 0"/>
          <p:cNvSpPr txBox="1"/>
          <p:nvPr/>
        </p:nvSpPr>
        <p:spPr>
          <a:xfrm>
            <a:off x="5347751" y="4152453"/>
            <a:ext cx="4275209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Remember to count from 0</a:t>
            </a:r>
          </a:p>
        </p:txBody>
      </p:sp>
      <p:sp>
        <p:nvSpPr>
          <p:cNvPr id="434" name="Storage in C is row-major ordering; store row 0, then row 1, etc."/>
          <p:cNvSpPr txBox="1"/>
          <p:nvPr/>
        </p:nvSpPr>
        <p:spPr>
          <a:xfrm>
            <a:off x="5409204" y="4992838"/>
            <a:ext cx="4295180" cy="1435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Storage in C is row-major ordering; store row 0, then row 1, etc.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trings in 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strings in C</a:t>
            </a:r>
          </a:p>
        </p:txBody>
      </p:sp>
      <p:sp>
        <p:nvSpPr>
          <p:cNvPr id="437" name="Recall a couple of slides back…"/>
          <p:cNvSpPr txBox="1">
            <a:spLocks noGrp="1"/>
          </p:cNvSpPr>
          <p:nvPr>
            <p:ph type="body" idx="1"/>
          </p:nvPr>
        </p:nvSpPr>
        <p:spPr>
          <a:xfrm>
            <a:off x="2416969" y="1946672"/>
            <a:ext cx="7358063" cy="4580930"/>
          </a:xfrm>
          <a:prstGeom prst="rect">
            <a:avLst/>
          </a:prstGeom>
        </p:spPr>
        <p:txBody>
          <a:bodyPr/>
          <a:lstStyle/>
          <a:p>
            <a:pPr marL="401822"/>
            <a:r>
              <a:rPr dirty="0"/>
              <a:t>Recall a couple of slides back</a:t>
            </a:r>
          </a:p>
          <a:p>
            <a:pPr marL="0" indent="0">
              <a:buSzTx/>
              <a:buNone/>
            </a:pPr>
            <a:r>
              <a:rPr sz="1687" dirty="0">
                <a:latin typeface="Courier"/>
                <a:ea typeface="Courier"/>
                <a:cs typeface="Courier"/>
                <a:sym typeface="Courier"/>
              </a:rPr>
              <a:t>char name[5] = {‘m’,’</a:t>
            </a:r>
            <a:r>
              <a:rPr sz="1687" dirty="0" err="1"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sz="1687" dirty="0">
                <a:latin typeface="Courier"/>
                <a:ea typeface="Courier"/>
                <a:cs typeface="Courier"/>
                <a:sym typeface="Courier"/>
              </a:rPr>
              <a:t>’,’</a:t>
            </a:r>
            <a:r>
              <a:rPr sz="1687" dirty="0" err="1">
                <a:latin typeface="Courier"/>
                <a:ea typeface="Courier"/>
                <a:cs typeface="Courier"/>
                <a:sym typeface="Courier"/>
              </a:rPr>
              <a:t>k’,’e</a:t>
            </a:r>
            <a:r>
              <a:rPr sz="1687" dirty="0">
                <a:latin typeface="Courier"/>
                <a:ea typeface="Courier"/>
                <a:cs typeface="Courier"/>
                <a:sym typeface="Courier"/>
              </a:rPr>
              <a:t>’,’\0’};</a:t>
            </a:r>
            <a:br>
              <a:rPr sz="1687" dirty="0">
                <a:latin typeface="Courier"/>
                <a:ea typeface="Courier"/>
                <a:cs typeface="Courier"/>
                <a:sym typeface="Courier"/>
              </a:rPr>
            </a:br>
            <a:r>
              <a:rPr sz="1687" dirty="0">
                <a:latin typeface="Courier"/>
                <a:ea typeface="Courier"/>
                <a:cs typeface="Courier"/>
                <a:sym typeface="Courier"/>
              </a:rPr>
              <a:t>char text[5] = “mike”;</a:t>
            </a:r>
          </a:p>
          <a:p>
            <a:pPr marL="401822"/>
            <a:r>
              <a:rPr dirty="0"/>
              <a:t>A string variable is simply an array of 8-bit ascii characters.</a:t>
            </a:r>
          </a:p>
          <a:p>
            <a:pPr marL="401822"/>
            <a:r>
              <a:rPr dirty="0"/>
              <a:t>We can print a string in C without needing to specify the total number of characters because the string stores a ‘\0’ in an array element as an ‘end of string’ character.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complex types - struc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complex types - struct</a:t>
            </a:r>
          </a:p>
        </p:txBody>
      </p:sp>
      <p:sp>
        <p:nvSpPr>
          <p:cNvPr id="440" name="You can have heterogenous data in C - you use a struct.…"/>
          <p:cNvSpPr txBox="1">
            <a:spLocks noGrp="1"/>
          </p:cNvSpPr>
          <p:nvPr>
            <p:ph type="body" idx="1"/>
          </p:nvPr>
        </p:nvSpPr>
        <p:spPr>
          <a:xfrm>
            <a:off x="2416969" y="1946672"/>
            <a:ext cx="7358063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You can have heterogenous data in C - you use a </a:t>
            </a:r>
            <a:r>
              <a:rPr sz="2531">
                <a:latin typeface="Courier"/>
                <a:ea typeface="Courier"/>
                <a:cs typeface="Courier"/>
                <a:sym typeface="Courier"/>
              </a:rPr>
              <a:t>struct</a:t>
            </a:r>
            <a:r>
              <a:t>. </a:t>
            </a:r>
          </a:p>
          <a:p>
            <a:pPr marL="401822"/>
            <a:r>
              <a:t>structs are a bit like objects with all the functions stripped out, or like clunky lists.</a:t>
            </a:r>
          </a:p>
          <a:p>
            <a:pPr marL="401822"/>
            <a:r>
              <a:t>you have to first set up the 'type' (i.e. say what the contents of a given structure would look like.</a:t>
            </a:r>
          </a:p>
          <a:p>
            <a:pPr marL="401822"/>
            <a:r>
              <a:t>Then you can create a variable of that type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declare &amp; initiali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declare &amp; initialise</a:t>
            </a:r>
          </a:p>
        </p:txBody>
      </p:sp>
      <p:sp>
        <p:nvSpPr>
          <p:cNvPr id="443" name="struct lib_books {     char title[20];     char author[15];     int pages;     float price; }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80181" indent="-344418"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struct lib_books { </a:t>
            </a:r>
            <a:br/>
            <a:r>
              <a:t>   char title[20]; </a:t>
            </a:r>
            <a:br/>
            <a:r>
              <a:t>   char author[15]; </a:t>
            </a:r>
            <a:br/>
            <a:r>
              <a:t>   int pages; </a:t>
            </a:r>
            <a:br/>
            <a:r>
              <a:t>   float price;</a:t>
            </a:r>
            <a:br/>
            <a:r>
              <a:t>}</a:t>
            </a:r>
          </a:p>
          <a:p>
            <a:pPr marL="937584">
              <a:defRPr sz="3000"/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struct lib_books</a:t>
            </a:r>
            <a:r>
              <a:rPr>
                <a:solidFill>
                  <a:srgbClr val="FF2600"/>
                </a:solidFill>
                <a:latin typeface="Courier"/>
                <a:ea typeface="Courier"/>
                <a:cs typeface="Courier"/>
                <a:sym typeface="Courier"/>
              </a:rPr>
              <a:t> book1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= {“concretemathematics”, “Graham”, 625}</a:t>
            </a:r>
            <a:br>
              <a:rPr>
                <a:latin typeface="Courier"/>
                <a:ea typeface="Courier"/>
                <a:cs typeface="Courier"/>
                <a:sym typeface="Courier"/>
              </a:rPr>
            </a:br>
            <a:r>
              <a:rPr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// </a:t>
            </a:r>
            <a:r>
              <a:rPr>
                <a:solidFill>
                  <a:srgbClr val="FF2600"/>
                </a:solidFill>
                <a:latin typeface="Courier"/>
                <a:ea typeface="Courier"/>
                <a:cs typeface="Courier"/>
                <a:sym typeface="Courier"/>
              </a:rPr>
              <a:t>book1</a:t>
            </a:r>
            <a:r>
              <a:rPr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 is the thing, and this gives</a:t>
            </a:r>
            <a:br>
              <a:rPr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// its initial contents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common declare tric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common declare trick</a:t>
            </a:r>
          </a:p>
        </p:txBody>
      </p:sp>
      <p:sp>
        <p:nvSpPr>
          <p:cNvPr id="446" name="typedef struct {    char title[20];    char author[15];    int pages;    float price;  } Book; // alias the definition with name Book…"/>
          <p:cNvSpPr txBox="1">
            <a:spLocks noGrp="1"/>
          </p:cNvSpPr>
          <p:nvPr>
            <p:ph type="body" idx="1"/>
          </p:nvPr>
        </p:nvSpPr>
        <p:spPr>
          <a:xfrm>
            <a:off x="-247650" y="2080022"/>
            <a:ext cx="12020550" cy="4018359"/>
          </a:xfrm>
          <a:prstGeom prst="rect">
            <a:avLst/>
          </a:prstGeom>
        </p:spPr>
        <p:txBody>
          <a:bodyPr/>
          <a:lstStyle/>
          <a:p>
            <a:pPr marL="937584">
              <a:defRPr sz="3000"/>
            </a:pPr>
            <a:r>
              <a:rPr sz="2500" dirty="0">
                <a:latin typeface="Courier"/>
                <a:ea typeface="Courier"/>
                <a:cs typeface="Courier"/>
                <a:sym typeface="Courier"/>
              </a:rPr>
              <a:t>typedef struct { </a:t>
            </a:r>
            <a:br>
              <a:rPr sz="2500" dirty="0">
                <a:latin typeface="Courier"/>
                <a:ea typeface="Courier"/>
                <a:cs typeface="Courier"/>
                <a:sym typeface="Courier"/>
              </a:rPr>
            </a:br>
            <a:r>
              <a:rPr sz="2500" dirty="0">
                <a:latin typeface="Courier"/>
                <a:ea typeface="Courier"/>
                <a:cs typeface="Courier"/>
                <a:sym typeface="Courier"/>
              </a:rPr>
              <a:t>  char title[20]; </a:t>
            </a:r>
            <a:br>
              <a:rPr sz="2500" dirty="0">
                <a:latin typeface="Courier"/>
                <a:ea typeface="Courier"/>
                <a:cs typeface="Courier"/>
                <a:sym typeface="Courier"/>
              </a:rPr>
            </a:br>
            <a:r>
              <a:rPr sz="2500" dirty="0">
                <a:latin typeface="Courier"/>
                <a:ea typeface="Courier"/>
                <a:cs typeface="Courier"/>
                <a:sym typeface="Courier"/>
              </a:rPr>
              <a:t>  char author[15]; </a:t>
            </a:r>
            <a:br>
              <a:rPr sz="2500" dirty="0">
                <a:latin typeface="Courier"/>
                <a:ea typeface="Courier"/>
                <a:cs typeface="Courier"/>
                <a:sym typeface="Courier"/>
              </a:rPr>
            </a:br>
            <a:r>
              <a:rPr sz="2500" dirty="0">
                <a:latin typeface="Courier"/>
                <a:ea typeface="Courier"/>
                <a:cs typeface="Courier"/>
                <a:sym typeface="Courier"/>
              </a:rPr>
              <a:t>  int pages; </a:t>
            </a:r>
            <a:br>
              <a:rPr sz="2500" dirty="0">
                <a:latin typeface="Courier"/>
                <a:ea typeface="Courier"/>
                <a:cs typeface="Courier"/>
                <a:sym typeface="Courier"/>
              </a:rPr>
            </a:br>
            <a:r>
              <a:rPr sz="2500" dirty="0">
                <a:latin typeface="Courier"/>
                <a:ea typeface="Courier"/>
                <a:cs typeface="Courier"/>
                <a:sym typeface="Courier"/>
              </a:rPr>
              <a:t>  float price; </a:t>
            </a:r>
            <a:br>
              <a:rPr sz="2500" dirty="0">
                <a:latin typeface="Courier"/>
                <a:ea typeface="Courier"/>
                <a:cs typeface="Courier"/>
                <a:sym typeface="Courier"/>
              </a:rPr>
            </a:br>
            <a:r>
              <a:rPr sz="2500" dirty="0">
                <a:latin typeface="Courier"/>
                <a:ea typeface="Courier"/>
                <a:cs typeface="Courier"/>
                <a:sym typeface="Courier"/>
              </a:rPr>
              <a:t>} </a:t>
            </a:r>
            <a:r>
              <a:rPr sz="2500" dirty="0">
                <a:solidFill>
                  <a:srgbClr val="FF2600"/>
                </a:solidFill>
                <a:latin typeface="Courier"/>
                <a:ea typeface="Courier"/>
                <a:cs typeface="Courier"/>
                <a:sym typeface="Courier"/>
              </a:rPr>
              <a:t>Book</a:t>
            </a:r>
            <a:r>
              <a:rPr sz="2500" dirty="0">
                <a:latin typeface="Courier"/>
                <a:ea typeface="Courier"/>
                <a:cs typeface="Courier"/>
                <a:sym typeface="Courier"/>
              </a:rPr>
              <a:t>;</a:t>
            </a:r>
            <a:br>
              <a:rPr sz="2500" dirty="0">
                <a:latin typeface="Courier"/>
                <a:ea typeface="Courier"/>
                <a:cs typeface="Courier"/>
                <a:sym typeface="Courier"/>
              </a:rPr>
            </a:br>
            <a:r>
              <a:rPr sz="2500" dirty="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// alias the definition with name </a:t>
            </a:r>
            <a:r>
              <a:rPr sz="2500" dirty="0">
                <a:solidFill>
                  <a:srgbClr val="FF2600"/>
                </a:solidFill>
                <a:latin typeface="Courier"/>
                <a:ea typeface="Courier"/>
                <a:cs typeface="Courier"/>
                <a:sym typeface="Courier"/>
              </a:rPr>
              <a:t>Book</a:t>
            </a:r>
            <a:endParaRPr sz="2500" dirty="0">
              <a:latin typeface="Courier"/>
              <a:ea typeface="Courier"/>
              <a:cs typeface="Courier"/>
              <a:sym typeface="Courier"/>
            </a:endParaRPr>
          </a:p>
          <a:p>
            <a:pPr marL="937584">
              <a:defRPr sz="3000"/>
            </a:pPr>
            <a:r>
              <a:rPr sz="2500" dirty="0">
                <a:latin typeface="Courier"/>
                <a:ea typeface="Courier"/>
                <a:cs typeface="Courier"/>
                <a:sym typeface="Courier"/>
              </a:rPr>
              <a:t>Book book1, book2;</a:t>
            </a:r>
            <a:br>
              <a:rPr sz="2500" dirty="0">
                <a:latin typeface="Courier"/>
                <a:ea typeface="Courier"/>
                <a:cs typeface="Courier"/>
                <a:sym typeface="Courier"/>
              </a:rPr>
            </a:br>
            <a:r>
              <a:rPr sz="2500" dirty="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// so this declares two actual structs</a:t>
            </a:r>
            <a:br>
              <a:rPr sz="2500" dirty="0">
                <a:latin typeface="Courier"/>
                <a:ea typeface="Courier"/>
                <a:cs typeface="Courier"/>
                <a:sym typeface="Courier"/>
              </a:rPr>
            </a:br>
            <a:r>
              <a:rPr sz="2500" dirty="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// both of type Book</a:t>
            </a:r>
            <a:br>
              <a:rPr sz="2500" dirty="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sz="2500" dirty="0">
                <a:solidFill>
                  <a:srgbClr val="0433FF"/>
                </a:solidFill>
                <a:latin typeface="Courier"/>
                <a:ea typeface="Courier"/>
                <a:cs typeface="Courier"/>
                <a:sym typeface="Courier"/>
              </a:rPr>
              <a:t>// looks neater, and a bit like objects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accessing data by ‘dot’"/>
          <p:cNvSpPr txBox="1">
            <a:spLocks noGrp="1"/>
          </p:cNvSpPr>
          <p:nvPr>
            <p:ph type="title"/>
          </p:nvPr>
        </p:nvSpPr>
        <p:spPr>
          <a:xfrm>
            <a:off x="1543050" y="0"/>
            <a:ext cx="9810750" cy="1714500"/>
          </a:xfrm>
          <a:prstGeom prst="rect">
            <a:avLst/>
          </a:prstGeom>
        </p:spPr>
        <p:txBody>
          <a:bodyPr/>
          <a:lstStyle/>
          <a:p>
            <a:r>
              <a:rPr dirty="0"/>
              <a:t>accessing data by ‘dot’</a:t>
            </a:r>
          </a:p>
        </p:txBody>
      </p:sp>
      <p:sp>
        <p:nvSpPr>
          <p:cNvPr id="449" name="int main() {    Book b;    b.author = &quot;John Smith&quot;;    b.pages = 25;    printf(&quot;%s&quot;,b.author);    printf(&quot;%d&quot;,b.pages);    return 0; } // reminds you of object functions in // Python, which is where the idea to // came from"/>
          <p:cNvSpPr txBox="1">
            <a:spLocks noGrp="1"/>
          </p:cNvSpPr>
          <p:nvPr>
            <p:ph type="body" idx="1"/>
          </p:nvPr>
        </p:nvSpPr>
        <p:spPr>
          <a:xfrm>
            <a:off x="466725" y="2108597"/>
            <a:ext cx="11068050" cy="4018359"/>
          </a:xfrm>
          <a:prstGeom prst="rect">
            <a:avLst/>
          </a:prstGeom>
        </p:spPr>
        <p:txBody>
          <a:bodyPr/>
          <a:lstStyle/>
          <a:p>
            <a:pPr marL="880181" indent="-344418"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sz="2500" dirty="0"/>
              <a:t>int main()</a:t>
            </a:r>
            <a:br>
              <a:rPr sz="2500" dirty="0"/>
            </a:br>
            <a:r>
              <a:rPr sz="2500" dirty="0"/>
              <a:t>{</a:t>
            </a:r>
            <a:br>
              <a:rPr sz="2500" dirty="0"/>
            </a:br>
            <a:r>
              <a:rPr sz="2500" dirty="0"/>
              <a:t>   Book b;</a:t>
            </a:r>
            <a:br>
              <a:rPr sz="2500" dirty="0"/>
            </a:br>
            <a:r>
              <a:rPr sz="2500" dirty="0"/>
              <a:t>   </a:t>
            </a:r>
            <a:r>
              <a:rPr sz="2500" dirty="0" err="1"/>
              <a:t>b.author</a:t>
            </a:r>
            <a:r>
              <a:rPr sz="2500" dirty="0"/>
              <a:t> = "John Smith";</a:t>
            </a:r>
            <a:br>
              <a:rPr sz="2500" dirty="0"/>
            </a:br>
            <a:r>
              <a:rPr sz="2500" dirty="0"/>
              <a:t>   </a:t>
            </a:r>
            <a:r>
              <a:rPr sz="2500" dirty="0" err="1"/>
              <a:t>b.pages</a:t>
            </a:r>
            <a:r>
              <a:rPr sz="2500" dirty="0"/>
              <a:t> = 25;</a:t>
            </a:r>
            <a:br>
              <a:rPr sz="2500" dirty="0"/>
            </a:br>
            <a:r>
              <a:rPr sz="2500" dirty="0"/>
              <a:t>   </a:t>
            </a:r>
            <a:r>
              <a:rPr sz="2500" dirty="0" err="1"/>
              <a:t>printf</a:t>
            </a:r>
            <a:r>
              <a:rPr sz="2500" dirty="0"/>
              <a:t>("%s",</a:t>
            </a:r>
            <a:r>
              <a:rPr sz="2500" dirty="0" err="1"/>
              <a:t>b.author</a:t>
            </a:r>
            <a:r>
              <a:rPr sz="2500" dirty="0"/>
              <a:t>);</a:t>
            </a:r>
            <a:br>
              <a:rPr sz="2500" dirty="0"/>
            </a:br>
            <a:r>
              <a:rPr sz="2500" dirty="0"/>
              <a:t>   </a:t>
            </a:r>
            <a:r>
              <a:rPr sz="2500" dirty="0" err="1"/>
              <a:t>printf</a:t>
            </a:r>
            <a:r>
              <a:rPr sz="2500" dirty="0"/>
              <a:t>("%d",</a:t>
            </a:r>
            <a:r>
              <a:rPr sz="2500" dirty="0" err="1"/>
              <a:t>b.pages</a:t>
            </a:r>
            <a:r>
              <a:rPr sz="2500" dirty="0"/>
              <a:t>);</a:t>
            </a:r>
            <a:br>
              <a:rPr sz="2500" dirty="0"/>
            </a:br>
            <a:r>
              <a:rPr sz="2500" dirty="0"/>
              <a:t>   return 0;</a:t>
            </a:r>
            <a:br>
              <a:rPr sz="2500" dirty="0"/>
            </a:br>
            <a:r>
              <a:rPr sz="2500" dirty="0"/>
              <a:t>}</a:t>
            </a:r>
            <a:br>
              <a:rPr sz="2500" dirty="0"/>
            </a:br>
            <a:r>
              <a:rPr sz="2500" dirty="0">
                <a:solidFill>
                  <a:srgbClr val="0433FF"/>
                </a:solidFill>
              </a:rPr>
              <a:t>// reminds you of object functions in</a:t>
            </a:r>
            <a:br>
              <a:rPr sz="2500" dirty="0"/>
            </a:br>
            <a:r>
              <a:rPr sz="2500" dirty="0">
                <a:solidFill>
                  <a:srgbClr val="0433FF"/>
                </a:solidFill>
              </a:rPr>
              <a:t>// Python, which is where the idea to</a:t>
            </a:r>
            <a:br>
              <a:rPr sz="2500" dirty="0"/>
            </a:br>
            <a:r>
              <a:rPr sz="2500" dirty="0">
                <a:solidFill>
                  <a:srgbClr val="0433FF"/>
                </a:solidFill>
              </a:rPr>
              <a:t>// came from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or by ‘-&gt;’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or by ‘-&gt;’</a:t>
            </a:r>
          </a:p>
        </p:txBody>
      </p:sp>
      <p:sp>
        <p:nvSpPr>
          <p:cNvPr id="452" name="int main() {    Book b;    Book *bookPtr;    bookPtr = &amp;b;    bookPtr-&gt;author = &quot;John Smith&quot;;    bookPtr-&gt;pages = 25;    printf(&quot;%s&quot;,bookPtr-&gt;author);    printf(&quot;%d&quot;,bookPtr-&gt;pages); } // C programmers love pointers (later!)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22777" indent="-287015">
              <a:defRPr sz="3600">
                <a:latin typeface="Courier"/>
                <a:ea typeface="Courier"/>
                <a:cs typeface="Courier"/>
                <a:sym typeface="Courier"/>
              </a:defRPr>
            </a:pPr>
            <a:r>
              <a:rPr sz="2109" dirty="0"/>
              <a:t>int main()</a:t>
            </a:r>
            <a:br>
              <a:rPr sz="2109" dirty="0"/>
            </a:br>
            <a:r>
              <a:rPr sz="2109" dirty="0"/>
              <a:t>{</a:t>
            </a:r>
            <a:br>
              <a:rPr sz="2109" dirty="0"/>
            </a:br>
            <a:r>
              <a:rPr sz="2109" dirty="0"/>
              <a:t>   Book b;</a:t>
            </a:r>
            <a:br>
              <a:rPr sz="2109" dirty="0"/>
            </a:br>
            <a:r>
              <a:rPr sz="2109" dirty="0"/>
              <a:t>   Book *</a:t>
            </a:r>
            <a:r>
              <a:rPr sz="2109" dirty="0" err="1"/>
              <a:t>bookPtr</a:t>
            </a:r>
            <a:r>
              <a:rPr sz="2109" dirty="0"/>
              <a:t>;</a:t>
            </a:r>
            <a:br>
              <a:rPr sz="2109" dirty="0"/>
            </a:br>
            <a:r>
              <a:rPr sz="2109" dirty="0"/>
              <a:t>   </a:t>
            </a:r>
            <a:r>
              <a:rPr sz="2109" dirty="0" err="1"/>
              <a:t>bookPtr</a:t>
            </a:r>
            <a:r>
              <a:rPr sz="2109" dirty="0"/>
              <a:t> = &amp;b;</a:t>
            </a:r>
            <a:br>
              <a:rPr sz="2109" dirty="0"/>
            </a:br>
            <a:r>
              <a:rPr sz="2109" dirty="0"/>
              <a:t>   </a:t>
            </a:r>
            <a:r>
              <a:rPr sz="2109" dirty="0" err="1"/>
              <a:t>bookPtr</a:t>
            </a:r>
            <a:r>
              <a:rPr sz="2109" dirty="0"/>
              <a:t>-&gt;author = "John Smith";</a:t>
            </a:r>
            <a:br>
              <a:rPr sz="2109" dirty="0"/>
            </a:br>
            <a:r>
              <a:rPr sz="2109" dirty="0"/>
              <a:t>   </a:t>
            </a:r>
            <a:r>
              <a:rPr sz="2109" dirty="0" err="1"/>
              <a:t>bookPtr</a:t>
            </a:r>
            <a:r>
              <a:rPr sz="2109" dirty="0"/>
              <a:t>-&gt;pages = 25;</a:t>
            </a:r>
            <a:br>
              <a:rPr sz="2109" dirty="0"/>
            </a:br>
            <a:r>
              <a:rPr sz="2109" dirty="0"/>
              <a:t>   </a:t>
            </a:r>
            <a:r>
              <a:rPr sz="2109" dirty="0" err="1"/>
              <a:t>printf</a:t>
            </a:r>
            <a:r>
              <a:rPr sz="2109" dirty="0"/>
              <a:t>("%s",</a:t>
            </a:r>
            <a:r>
              <a:rPr sz="2109" dirty="0" err="1"/>
              <a:t>bookPtr</a:t>
            </a:r>
            <a:r>
              <a:rPr sz="2109" dirty="0"/>
              <a:t>-&gt;author);</a:t>
            </a:r>
            <a:br>
              <a:rPr sz="2109" dirty="0"/>
            </a:br>
            <a:r>
              <a:rPr sz="2109" dirty="0"/>
              <a:t>   </a:t>
            </a:r>
            <a:r>
              <a:rPr sz="2109" dirty="0" err="1"/>
              <a:t>printf</a:t>
            </a:r>
            <a:r>
              <a:rPr sz="2109" dirty="0"/>
              <a:t>("%d",</a:t>
            </a:r>
            <a:r>
              <a:rPr sz="2109" dirty="0" err="1"/>
              <a:t>bookPtr</a:t>
            </a:r>
            <a:r>
              <a:rPr sz="2109" dirty="0"/>
              <a:t>-&gt;pages);</a:t>
            </a:r>
            <a:br>
              <a:rPr dirty="0"/>
            </a:br>
            <a:r>
              <a:rPr sz="2109" dirty="0"/>
              <a:t>}</a:t>
            </a:r>
            <a:br>
              <a:rPr sz="2109" dirty="0"/>
            </a:br>
            <a:r>
              <a:rPr sz="2109" dirty="0">
                <a:solidFill>
                  <a:srgbClr val="0433FF"/>
                </a:solidFill>
              </a:rPr>
              <a:t>// C programmers love pointers (later!)</a:t>
            </a:r>
          </a:p>
        </p:txBody>
      </p:sp>
      <p:sp>
        <p:nvSpPr>
          <p:cNvPr id="453" name="ok, better talk about pointers..."/>
          <p:cNvSpPr txBox="1"/>
          <p:nvPr/>
        </p:nvSpPr>
        <p:spPr>
          <a:xfrm>
            <a:off x="3652554" y="6233070"/>
            <a:ext cx="4879542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>
                <a:solidFill>
                  <a:srgbClr val="000000"/>
                </a:solidFill>
                <a:latin typeface="Gill Sans"/>
                <a:sym typeface="Gill Sans"/>
              </a:rPr>
              <a:t>ok, better talk about pointers...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oin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pointers</a:t>
            </a:r>
          </a:p>
        </p:txBody>
      </p:sp>
      <p:sp>
        <p:nvSpPr>
          <p:cNvPr id="456" name="in C, if a variable number is declared and given a value, 5 say, then printing number prints 5.…"/>
          <p:cNvSpPr txBox="1">
            <a:spLocks noGrp="1"/>
          </p:cNvSpPr>
          <p:nvPr>
            <p:ph type="body" idx="1"/>
          </p:nvPr>
        </p:nvSpPr>
        <p:spPr>
          <a:xfrm>
            <a:off x="1628776" y="1718072"/>
            <a:ext cx="9222582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in C, if a variable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number</a:t>
            </a:r>
            <a:r>
              <a:rPr dirty="0"/>
              <a:t> is declared and given a value, 5 say, then printing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number</a:t>
            </a:r>
            <a:r>
              <a:rPr dirty="0"/>
              <a:t> prints 5. </a:t>
            </a:r>
          </a:p>
          <a:p>
            <a:pPr marL="401822"/>
            <a:r>
              <a:rPr dirty="0"/>
              <a:t>however, the value of </a:t>
            </a:r>
            <a:r>
              <a:rPr sz="2531" dirty="0">
                <a:latin typeface="Courier"/>
                <a:ea typeface="Courier"/>
                <a:cs typeface="Courier"/>
                <a:sym typeface="Courier"/>
              </a:rPr>
              <a:t>&amp;number</a:t>
            </a:r>
            <a:r>
              <a:rPr dirty="0"/>
              <a:t> is the memory location where that 5 is stored.</a:t>
            </a:r>
          </a:p>
          <a:p>
            <a:pPr marL="401822"/>
            <a:r>
              <a:rPr dirty="0"/>
              <a:t>and you can declare a variable </a:t>
            </a:r>
            <a:r>
              <a:rPr sz="2531" dirty="0" err="1">
                <a:latin typeface="Courier"/>
                <a:ea typeface="Courier"/>
                <a:cs typeface="Courier"/>
                <a:sym typeface="Courier"/>
              </a:rPr>
              <a:t>num_ptr</a:t>
            </a:r>
            <a:r>
              <a:rPr dirty="0"/>
              <a:t>, which can store this address</a:t>
            </a:r>
          </a:p>
          <a:p>
            <a:pPr marL="0" indent="0"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rPr dirty="0"/>
              <a:t>int* </a:t>
            </a:r>
            <a:r>
              <a:rPr dirty="0" err="1"/>
              <a:t>num_ptr</a:t>
            </a:r>
            <a:r>
              <a:rPr dirty="0"/>
              <a:t> = &amp;number</a:t>
            </a:r>
            <a:br>
              <a:rPr dirty="0"/>
            </a:br>
            <a:r>
              <a:rPr dirty="0">
                <a:solidFill>
                  <a:srgbClr val="0433FF"/>
                </a:solidFill>
              </a:rPr>
              <a:t>// read as "</a:t>
            </a:r>
            <a:r>
              <a:rPr dirty="0" err="1">
                <a:solidFill>
                  <a:srgbClr val="0433FF"/>
                </a:solidFill>
              </a:rPr>
              <a:t>num_ptr</a:t>
            </a:r>
            <a:r>
              <a:rPr dirty="0">
                <a:solidFill>
                  <a:srgbClr val="0433FF"/>
                </a:solidFill>
              </a:rPr>
              <a:t> is a pointer to an integer"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oin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pointers</a:t>
            </a:r>
          </a:p>
        </p:txBody>
      </p:sp>
      <p:sp>
        <p:nvSpPr>
          <p:cNvPr id="459" name="this is an easy idea for computer designers, because they are always thinking about the addresses of locations in memory.…"/>
          <p:cNvSpPr txBox="1">
            <a:spLocks noGrp="1"/>
          </p:cNvSpPr>
          <p:nvPr>
            <p:ph type="body" idx="1"/>
          </p:nvPr>
        </p:nvSpPr>
        <p:spPr>
          <a:xfrm>
            <a:off x="523875" y="1946672"/>
            <a:ext cx="11296650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this is an easy idea for computer designers, because they are always thinking about the addresses of locations in memory. </a:t>
            </a:r>
          </a:p>
          <a:p>
            <a:pPr marL="401822"/>
            <a:r>
              <a:rPr dirty="0"/>
              <a:t>however, for the rest of us, no point, but...</a:t>
            </a:r>
          </a:p>
          <a:p>
            <a:pPr marL="401822"/>
            <a:r>
              <a:rPr dirty="0"/>
              <a:t>C functions make copies of incoming </a:t>
            </a:r>
            <a:r>
              <a:rPr dirty="0" err="1"/>
              <a:t>arguements</a:t>
            </a:r>
            <a:r>
              <a:rPr dirty="0"/>
              <a:t>; originals don't change - and only one thing returned. How d'you return more than one thing? (Lists, tuples, structures hadn't been invented)</a:t>
            </a: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oin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pointers</a:t>
            </a:r>
          </a:p>
        </p:txBody>
      </p:sp>
      <p:sp>
        <p:nvSpPr>
          <p:cNvPr id="462" name="neat hack.…"/>
          <p:cNvSpPr txBox="1">
            <a:spLocks noGrp="1"/>
          </p:cNvSpPr>
          <p:nvPr>
            <p:ph type="body" idx="1"/>
          </p:nvPr>
        </p:nvSpPr>
        <p:spPr>
          <a:xfrm>
            <a:off x="2416969" y="1946672"/>
            <a:ext cx="7358063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t>neat hack. </a:t>
            </a:r>
          </a:p>
          <a:p>
            <a:pPr marL="401822"/>
            <a:r>
              <a:t>don't send a variable to a function, send the pointer to it instead.</a:t>
            </a:r>
          </a:p>
          <a:p>
            <a:pPr marL="401822"/>
            <a:r>
              <a:t>If the function knows that memory location of a variable, it can just sneakily go and alter it!</a:t>
            </a:r>
          </a:p>
          <a:p>
            <a:pPr marL="401822"/>
            <a:r>
              <a:t>(C programmers though that this was a terribly good idea)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Rectangle"/>
          <p:cNvSpPr/>
          <p:nvPr/>
        </p:nvSpPr>
        <p:spPr>
          <a:xfrm>
            <a:off x="6408539" y="5697141"/>
            <a:ext cx="3366492" cy="892969"/>
          </a:xfrm>
          <a:prstGeom prst="rect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65" name="main ( )…"/>
          <p:cNvSpPr txBox="1"/>
          <p:nvPr/>
        </p:nvSpPr>
        <p:spPr>
          <a:xfrm>
            <a:off x="1025767" y="1813397"/>
            <a:ext cx="9515389" cy="423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main ( )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{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int number = 5;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cubeByReference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(&amp;number);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}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endParaRPr sz="25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endParaRPr sz="25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void 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cubeByReference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(</a:t>
            </a:r>
            <a:r>
              <a:rPr sz="2500" kern="0" dirty="0">
                <a:solidFill>
                  <a:srgbClr val="942193"/>
                </a:solidFill>
                <a:latin typeface="Courier"/>
                <a:sym typeface="Courier"/>
              </a:rPr>
              <a:t>int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)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{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=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*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*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}</a:t>
            </a:r>
          </a:p>
        </p:txBody>
      </p:sp>
      <p:sp>
        <p:nvSpPr>
          <p:cNvPr id="466" name="Rectangle"/>
          <p:cNvSpPr/>
          <p:nvPr/>
        </p:nvSpPr>
        <p:spPr>
          <a:xfrm>
            <a:off x="6408539" y="3116461"/>
            <a:ext cx="3366492" cy="892969"/>
          </a:xfrm>
          <a:prstGeom prst="rect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67" name="Before main calls cubeByReference"/>
          <p:cNvSpPr txBox="1"/>
          <p:nvPr/>
        </p:nvSpPr>
        <p:spPr>
          <a:xfrm>
            <a:off x="3337031" y="681001"/>
            <a:ext cx="6121293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 dirty="0">
                <a:solidFill>
                  <a:srgbClr val="000000"/>
                </a:solidFill>
                <a:latin typeface="Gill Sans"/>
                <a:sym typeface="Gill Sans"/>
              </a:rPr>
              <a:t>Before </a:t>
            </a:r>
            <a:r>
              <a:rPr sz="2953" b="1" kern="0" dirty="0">
                <a:solidFill>
                  <a:srgbClr val="000000"/>
                </a:solidFill>
                <a:latin typeface="Gill Sans"/>
                <a:sym typeface="Gill Sans"/>
              </a:rPr>
              <a:t>main</a:t>
            </a:r>
            <a:r>
              <a:rPr sz="2953" kern="0" dirty="0">
                <a:solidFill>
                  <a:srgbClr val="000000"/>
                </a:solidFill>
                <a:latin typeface="Gill Sans"/>
                <a:sym typeface="Gill Sans"/>
              </a:rPr>
              <a:t> calls </a:t>
            </a:r>
            <a:r>
              <a:rPr sz="2953" b="1" kern="0" dirty="0" err="1">
                <a:solidFill>
                  <a:srgbClr val="000000"/>
                </a:solidFill>
                <a:latin typeface="Gill Sans"/>
                <a:sym typeface="Gill Sans"/>
              </a:rPr>
              <a:t>cubeByReference</a:t>
            </a:r>
            <a:endParaRPr sz="2953" b="1" kern="0" dirty="0">
              <a:solidFill>
                <a:srgbClr val="000000"/>
              </a:solidFill>
              <a:latin typeface="Gill Sans"/>
              <a:sym typeface="Gill Sans"/>
            </a:endParaRPr>
          </a:p>
        </p:txBody>
      </p:sp>
      <p:sp>
        <p:nvSpPr>
          <p:cNvPr id="468" name="number"/>
          <p:cNvSpPr txBox="1"/>
          <p:nvPr/>
        </p:nvSpPr>
        <p:spPr>
          <a:xfrm>
            <a:off x="6739620" y="3295203"/>
            <a:ext cx="1437895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number</a:t>
            </a:r>
          </a:p>
        </p:txBody>
      </p:sp>
      <p:sp>
        <p:nvSpPr>
          <p:cNvPr id="469" name="nPtr"/>
          <p:cNvSpPr txBox="1"/>
          <p:nvPr/>
        </p:nvSpPr>
        <p:spPr>
          <a:xfrm>
            <a:off x="6967246" y="5875883"/>
            <a:ext cx="98264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nPtr</a:t>
            </a:r>
          </a:p>
        </p:txBody>
      </p:sp>
      <p:sp>
        <p:nvSpPr>
          <p:cNvPr id="470" name="5"/>
          <p:cNvSpPr txBox="1"/>
          <p:nvPr/>
        </p:nvSpPr>
        <p:spPr>
          <a:xfrm>
            <a:off x="8969608" y="3295203"/>
            <a:ext cx="299762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471" name="??"/>
          <p:cNvSpPr txBox="1"/>
          <p:nvPr/>
        </p:nvSpPr>
        <p:spPr>
          <a:xfrm>
            <a:off x="8855794" y="5875883"/>
            <a:ext cx="527389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??</a:t>
            </a: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"/>
          <p:cNvSpPr/>
          <p:nvPr/>
        </p:nvSpPr>
        <p:spPr>
          <a:xfrm>
            <a:off x="6408539" y="5697141"/>
            <a:ext cx="3366492" cy="892969"/>
          </a:xfrm>
          <a:prstGeom prst="rect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74" name="main ( )…"/>
          <p:cNvSpPr txBox="1"/>
          <p:nvPr/>
        </p:nvSpPr>
        <p:spPr>
          <a:xfrm>
            <a:off x="809625" y="1705794"/>
            <a:ext cx="12076871" cy="423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main ( )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{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int number = 5;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cubeByReference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(&amp;number);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}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endParaRPr sz="25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endParaRPr sz="25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void 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cubeByReference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(</a:t>
            </a:r>
            <a:r>
              <a:rPr sz="2500" kern="0" dirty="0">
                <a:solidFill>
                  <a:srgbClr val="942193"/>
                </a:solidFill>
                <a:latin typeface="Courier"/>
                <a:sym typeface="Courier"/>
              </a:rPr>
              <a:t>int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)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{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=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*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*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}</a:t>
            </a:r>
          </a:p>
        </p:txBody>
      </p:sp>
      <p:sp>
        <p:nvSpPr>
          <p:cNvPr id="475" name="Rectangle"/>
          <p:cNvSpPr/>
          <p:nvPr/>
        </p:nvSpPr>
        <p:spPr>
          <a:xfrm>
            <a:off x="6408539" y="3116461"/>
            <a:ext cx="3366492" cy="892969"/>
          </a:xfrm>
          <a:prstGeom prst="rect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76" name="After main calls cubeByReference but before cubing"/>
          <p:cNvSpPr txBox="1"/>
          <p:nvPr/>
        </p:nvSpPr>
        <p:spPr>
          <a:xfrm>
            <a:off x="2675205" y="526851"/>
            <a:ext cx="8128829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 dirty="0">
                <a:solidFill>
                  <a:srgbClr val="000000"/>
                </a:solidFill>
                <a:latin typeface="Gill Sans"/>
                <a:sym typeface="Gill Sans"/>
              </a:rPr>
              <a:t>After </a:t>
            </a:r>
            <a:r>
              <a:rPr sz="2953" b="1" kern="0" dirty="0">
                <a:solidFill>
                  <a:srgbClr val="000000"/>
                </a:solidFill>
                <a:latin typeface="Gill Sans"/>
                <a:sym typeface="Gill Sans"/>
              </a:rPr>
              <a:t>main</a:t>
            </a:r>
            <a:r>
              <a:rPr sz="2953" kern="0" dirty="0">
                <a:solidFill>
                  <a:srgbClr val="000000"/>
                </a:solidFill>
                <a:latin typeface="Gill Sans"/>
                <a:sym typeface="Gill Sans"/>
              </a:rPr>
              <a:t> calls </a:t>
            </a:r>
            <a:r>
              <a:rPr sz="2953" b="1" kern="0" dirty="0" err="1">
                <a:solidFill>
                  <a:srgbClr val="000000"/>
                </a:solidFill>
                <a:latin typeface="Gill Sans"/>
                <a:sym typeface="Gill Sans"/>
              </a:rPr>
              <a:t>cubeByReference</a:t>
            </a:r>
            <a:r>
              <a:rPr sz="2953" b="1" kern="0" dirty="0">
                <a:solidFill>
                  <a:srgbClr val="000000"/>
                </a:solidFill>
                <a:latin typeface="Gill Sans"/>
                <a:sym typeface="Gill Sans"/>
              </a:rPr>
              <a:t> </a:t>
            </a:r>
            <a:r>
              <a:rPr sz="2953" kern="0" dirty="0">
                <a:solidFill>
                  <a:srgbClr val="000000"/>
                </a:solidFill>
                <a:latin typeface="Gill Sans"/>
                <a:sym typeface="Gill Sans"/>
              </a:rPr>
              <a:t>but before cubing</a:t>
            </a:r>
          </a:p>
        </p:txBody>
      </p:sp>
      <p:sp>
        <p:nvSpPr>
          <p:cNvPr id="477" name="number"/>
          <p:cNvSpPr txBox="1"/>
          <p:nvPr/>
        </p:nvSpPr>
        <p:spPr>
          <a:xfrm>
            <a:off x="6739620" y="3295203"/>
            <a:ext cx="1437895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number</a:t>
            </a:r>
          </a:p>
        </p:txBody>
      </p:sp>
      <p:sp>
        <p:nvSpPr>
          <p:cNvPr id="478" name="nPtr"/>
          <p:cNvSpPr txBox="1"/>
          <p:nvPr/>
        </p:nvSpPr>
        <p:spPr>
          <a:xfrm>
            <a:off x="6967246" y="5875883"/>
            <a:ext cx="98264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nPtr</a:t>
            </a:r>
          </a:p>
        </p:txBody>
      </p:sp>
      <p:sp>
        <p:nvSpPr>
          <p:cNvPr id="479" name="5"/>
          <p:cNvSpPr txBox="1"/>
          <p:nvPr/>
        </p:nvSpPr>
        <p:spPr>
          <a:xfrm>
            <a:off x="8969608" y="3295203"/>
            <a:ext cx="299762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480" name="Line"/>
          <p:cNvSpPr/>
          <p:nvPr/>
        </p:nvSpPr>
        <p:spPr>
          <a:xfrm flipH="1">
            <a:off x="9114235" y="3800354"/>
            <a:ext cx="829" cy="2387919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triangle"/>
          </a:ln>
        </p:spPr>
        <p:txBody>
          <a:bodyPr lIns="35719" tIns="35719" rIns="35719" bIns="35719" anchor="ctr"/>
          <a:lstStyle/>
          <a:p>
            <a:pPr defTabSz="321457" hangingPunct="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cs typeface="Helvetica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Rectangle"/>
          <p:cNvSpPr/>
          <p:nvPr/>
        </p:nvSpPr>
        <p:spPr>
          <a:xfrm>
            <a:off x="6408539" y="5697141"/>
            <a:ext cx="3366492" cy="892969"/>
          </a:xfrm>
          <a:prstGeom prst="rect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83" name="main ( )…"/>
          <p:cNvSpPr txBox="1"/>
          <p:nvPr/>
        </p:nvSpPr>
        <p:spPr>
          <a:xfrm>
            <a:off x="1000125" y="1705794"/>
            <a:ext cx="8962939" cy="423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main ( )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{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int number = 5;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cubeByReference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(&amp;number);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}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endParaRPr sz="25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endParaRPr sz="25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void 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cubeByReference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(</a:t>
            </a:r>
            <a:r>
              <a:rPr sz="2500" kern="0" dirty="0">
                <a:solidFill>
                  <a:srgbClr val="942193"/>
                </a:solidFill>
                <a:latin typeface="Courier"/>
                <a:sym typeface="Courier"/>
              </a:rPr>
              <a:t>int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)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{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=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*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*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}</a:t>
            </a:r>
          </a:p>
        </p:txBody>
      </p:sp>
      <p:sp>
        <p:nvSpPr>
          <p:cNvPr id="484" name="Rectangle"/>
          <p:cNvSpPr/>
          <p:nvPr/>
        </p:nvSpPr>
        <p:spPr>
          <a:xfrm>
            <a:off x="6408539" y="3116461"/>
            <a:ext cx="3366492" cy="892969"/>
          </a:xfrm>
          <a:prstGeom prst="rect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85" name="After cubing"/>
          <p:cNvSpPr txBox="1"/>
          <p:nvPr/>
        </p:nvSpPr>
        <p:spPr>
          <a:xfrm>
            <a:off x="5006772" y="657000"/>
            <a:ext cx="1960474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 dirty="0">
                <a:solidFill>
                  <a:srgbClr val="000000"/>
                </a:solidFill>
                <a:latin typeface="Gill Sans"/>
                <a:sym typeface="Gill Sans"/>
              </a:rPr>
              <a:t>After cubing</a:t>
            </a:r>
          </a:p>
        </p:txBody>
      </p:sp>
      <p:sp>
        <p:nvSpPr>
          <p:cNvPr id="486" name="number"/>
          <p:cNvSpPr txBox="1"/>
          <p:nvPr/>
        </p:nvSpPr>
        <p:spPr>
          <a:xfrm>
            <a:off x="6739620" y="3295203"/>
            <a:ext cx="1437895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number</a:t>
            </a:r>
          </a:p>
        </p:txBody>
      </p:sp>
      <p:sp>
        <p:nvSpPr>
          <p:cNvPr id="487" name="nPtr"/>
          <p:cNvSpPr txBox="1"/>
          <p:nvPr/>
        </p:nvSpPr>
        <p:spPr>
          <a:xfrm>
            <a:off x="6967246" y="5875883"/>
            <a:ext cx="98264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nPtr</a:t>
            </a:r>
          </a:p>
        </p:txBody>
      </p:sp>
      <p:sp>
        <p:nvSpPr>
          <p:cNvPr id="488" name="125"/>
          <p:cNvSpPr txBox="1"/>
          <p:nvPr/>
        </p:nvSpPr>
        <p:spPr>
          <a:xfrm>
            <a:off x="8741982" y="3295203"/>
            <a:ext cx="755015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125</a:t>
            </a:r>
          </a:p>
        </p:txBody>
      </p:sp>
      <p:sp>
        <p:nvSpPr>
          <p:cNvPr id="489" name="Line"/>
          <p:cNvSpPr/>
          <p:nvPr/>
        </p:nvSpPr>
        <p:spPr>
          <a:xfrm flipH="1">
            <a:off x="9114235" y="3800354"/>
            <a:ext cx="829" cy="2387919"/>
          </a:xfrm>
          <a:prstGeom prst="line">
            <a:avLst/>
          </a:prstGeom>
          <a:ln w="38100">
            <a:solidFill>
              <a:srgbClr val="000000"/>
            </a:solidFill>
            <a:miter lim="400000"/>
            <a:headEnd type="triangle"/>
          </a:ln>
        </p:spPr>
        <p:txBody>
          <a:bodyPr lIns="35719" tIns="35719" rIns="35719" bIns="35719" anchor="ctr"/>
          <a:lstStyle/>
          <a:p>
            <a:pPr defTabSz="321457" hangingPunct="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kern="0">
              <a:solidFill>
                <a:srgbClr val="000000"/>
              </a:solidFill>
              <a:latin typeface="Helvetica"/>
              <a:cs typeface="Helvetica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Rectangle"/>
          <p:cNvSpPr/>
          <p:nvPr/>
        </p:nvSpPr>
        <p:spPr>
          <a:xfrm>
            <a:off x="6408539" y="5697141"/>
            <a:ext cx="3366492" cy="892969"/>
          </a:xfrm>
          <a:prstGeom prst="rect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92" name="main ( )…"/>
          <p:cNvSpPr txBox="1"/>
          <p:nvPr/>
        </p:nvSpPr>
        <p:spPr>
          <a:xfrm>
            <a:off x="733425" y="1643955"/>
            <a:ext cx="9188947" cy="4231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main ( )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{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int number = 5;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cubeByReference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(&amp;number);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}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endParaRPr sz="25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endParaRPr sz="2500" kern="0" dirty="0">
              <a:solidFill>
                <a:srgbClr val="000000"/>
              </a:solidFill>
              <a:latin typeface="Courier"/>
              <a:sym typeface="Courier"/>
            </a:endParaRP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void 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cubeByReference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(</a:t>
            </a:r>
            <a:r>
              <a:rPr sz="2500" kern="0" dirty="0">
                <a:solidFill>
                  <a:srgbClr val="942193"/>
                </a:solidFill>
                <a:latin typeface="Courier"/>
                <a:sym typeface="Courier"/>
              </a:rPr>
              <a:t>int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)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{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 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=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*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 * *</a:t>
            </a:r>
            <a:r>
              <a:rPr sz="2500" kern="0" dirty="0" err="1">
                <a:solidFill>
                  <a:srgbClr val="000000"/>
                </a:solidFill>
                <a:latin typeface="Courier"/>
                <a:sym typeface="Courier"/>
              </a:rPr>
              <a:t>nPtr</a:t>
            </a: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;</a:t>
            </a:r>
          </a:p>
          <a:p>
            <a:pPr defTabSz="410751" hangingPunct="0">
              <a:defRPr>
                <a:latin typeface="Courier"/>
                <a:ea typeface="Courier"/>
                <a:cs typeface="Courier"/>
                <a:sym typeface="Courier"/>
              </a:defRPr>
            </a:pPr>
            <a:r>
              <a:rPr sz="2500" kern="0" dirty="0">
                <a:solidFill>
                  <a:srgbClr val="000000"/>
                </a:solidFill>
                <a:latin typeface="Courier"/>
                <a:sym typeface="Courier"/>
              </a:rPr>
              <a:t>}</a:t>
            </a:r>
          </a:p>
        </p:txBody>
      </p:sp>
      <p:sp>
        <p:nvSpPr>
          <p:cNvPr id="493" name="Rectangle"/>
          <p:cNvSpPr/>
          <p:nvPr/>
        </p:nvSpPr>
        <p:spPr>
          <a:xfrm>
            <a:off x="6408539" y="3116461"/>
            <a:ext cx="3366492" cy="892969"/>
          </a:xfrm>
          <a:prstGeom prst="rect">
            <a:avLst/>
          </a:prstGeom>
          <a:solidFill>
            <a:srgbClr val="FFD479"/>
          </a:solidFill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 algn="ctr" defTabSz="410751" hangingPunct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kern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94" name="After the completed function call"/>
          <p:cNvSpPr txBox="1"/>
          <p:nvPr/>
        </p:nvSpPr>
        <p:spPr>
          <a:xfrm>
            <a:off x="3515165" y="644425"/>
            <a:ext cx="5161670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algn="ctr" defTabSz="410751" hangingPunct="0"/>
            <a:r>
              <a:rPr sz="2953" kern="0" dirty="0">
                <a:solidFill>
                  <a:srgbClr val="000000"/>
                </a:solidFill>
                <a:latin typeface="Gill Sans"/>
                <a:sym typeface="Gill Sans"/>
              </a:rPr>
              <a:t>After the completed function call</a:t>
            </a:r>
          </a:p>
        </p:txBody>
      </p:sp>
      <p:sp>
        <p:nvSpPr>
          <p:cNvPr id="495" name="number"/>
          <p:cNvSpPr txBox="1"/>
          <p:nvPr/>
        </p:nvSpPr>
        <p:spPr>
          <a:xfrm>
            <a:off x="6739620" y="3295203"/>
            <a:ext cx="1437895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number</a:t>
            </a:r>
          </a:p>
        </p:txBody>
      </p:sp>
      <p:sp>
        <p:nvSpPr>
          <p:cNvPr id="496" name="nPtr"/>
          <p:cNvSpPr txBox="1"/>
          <p:nvPr/>
        </p:nvSpPr>
        <p:spPr>
          <a:xfrm>
            <a:off x="6967246" y="5875883"/>
            <a:ext cx="982641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nPtr</a:t>
            </a:r>
          </a:p>
        </p:txBody>
      </p:sp>
      <p:sp>
        <p:nvSpPr>
          <p:cNvPr id="497" name="125"/>
          <p:cNvSpPr txBox="1"/>
          <p:nvPr/>
        </p:nvSpPr>
        <p:spPr>
          <a:xfrm>
            <a:off x="8741982" y="3295203"/>
            <a:ext cx="755015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125</a:t>
            </a:r>
          </a:p>
        </p:txBody>
      </p:sp>
      <p:sp>
        <p:nvSpPr>
          <p:cNvPr id="498" name="??"/>
          <p:cNvSpPr txBox="1"/>
          <p:nvPr/>
        </p:nvSpPr>
        <p:spPr>
          <a:xfrm>
            <a:off x="8855794" y="5875883"/>
            <a:ext cx="527389" cy="526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pPr algn="ctr" defTabSz="410751" hangingPunct="0"/>
            <a:r>
              <a:rPr sz="2953" kern="0">
                <a:solidFill>
                  <a:srgbClr val="000000"/>
                </a:solidFill>
              </a:rPr>
              <a:t>??</a:t>
            </a: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oin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pointers</a:t>
            </a:r>
          </a:p>
        </p:txBody>
      </p:sp>
      <p:sp>
        <p:nvSpPr>
          <p:cNvPr id="501" name="hence there are many mind-twisting bits of C code in the world using pointer passing to do neat coding tricks.…"/>
          <p:cNvSpPr txBox="1">
            <a:spLocks noGrp="1"/>
          </p:cNvSpPr>
          <p:nvPr>
            <p:ph type="body" idx="1"/>
          </p:nvPr>
        </p:nvSpPr>
        <p:spPr>
          <a:xfrm>
            <a:off x="1600200" y="1893094"/>
            <a:ext cx="9810750" cy="4572000"/>
          </a:xfrm>
          <a:prstGeom prst="rect">
            <a:avLst/>
          </a:prstGeom>
        </p:spPr>
        <p:txBody>
          <a:bodyPr anchor="t"/>
          <a:lstStyle/>
          <a:p>
            <a:pPr marL="401822"/>
            <a:r>
              <a:rPr dirty="0"/>
              <a:t>hence there are many mind-twisting bits of C code in the world using pointer passing to do neat coding tricks.</a:t>
            </a:r>
          </a:p>
          <a:p>
            <a:pPr lvl="1"/>
            <a:r>
              <a:rPr dirty="0"/>
              <a:t>(for example, in C the name of a string is a pointer to it's first element - so you can pass a string to a function and change it)</a:t>
            </a:r>
          </a:p>
          <a:p>
            <a:pPr marL="401822"/>
            <a:r>
              <a:rPr dirty="0"/>
              <a:t>Pointers are how Python does some of its cool things - but Python just does the cool things, rather than displaying its entrails!</a:t>
            </a: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Matlab from Python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Matlab from Python </a:t>
            </a:r>
          </a:p>
        </p:txBody>
      </p:sp>
      <p:sp>
        <p:nvSpPr>
          <p:cNvPr id="504" name="once you've got Python, you've pretty much got Matlab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once you've got Python, you've pretty much got Matlab</a:t>
            </a: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7" name="I'm not a Matlab expert. Maybe Jim could write a few decent slides her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I'm not a </a:t>
            </a:r>
            <a:r>
              <a:rPr dirty="0" err="1"/>
              <a:t>Matlab</a:t>
            </a:r>
            <a:r>
              <a:rPr dirty="0"/>
              <a:t> expert. Maybe Jim could write a few decent slides here.</a:t>
            </a:r>
          </a:p>
          <a:p>
            <a:r>
              <a:rPr dirty="0"/>
              <a:t>But not yet needed for the E&amp;EE student body.</a:t>
            </a:r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8F30531-16BE-1D4A-839A-4165196E5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5652120" y="4237877"/>
            <a:chExt cx="3413095" cy="85415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2BC779-2AC3-3641-A89B-2FE2861B804B}"/>
                </a:ext>
              </a:extLst>
            </p:cNvPr>
            <p:cNvSpPr txBox="1"/>
            <p:nvPr/>
          </p:nvSpPr>
          <p:spPr>
            <a:xfrm>
              <a:off x="5652120" y="4237877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B7AFC7-4175-6442-9F4D-48AB39DA3335}"/>
                </a:ext>
              </a:extLst>
            </p:cNvPr>
            <p:cNvSpPr txBox="1"/>
            <p:nvPr/>
          </p:nvSpPr>
          <p:spPr>
            <a:xfrm>
              <a:off x="6365423" y="4630365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F23C76-7323-9246-828B-CE7B4F0B6ACB}"/>
                </a:ext>
              </a:extLst>
            </p:cNvPr>
            <p:cNvGrpSpPr/>
            <p:nvPr/>
          </p:nvGrpSpPr>
          <p:grpSpPr>
            <a:xfrm>
              <a:off x="5868144" y="4759697"/>
              <a:ext cx="870873" cy="246401"/>
              <a:chOff x="-704667" y="465075"/>
              <a:chExt cx="718929" cy="20341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DA074F8-3E2D-4044-BD93-0EE72365F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468635" y="466885"/>
                <a:ext cx="242653" cy="2016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B162D4C-911F-884F-8B17-FF2DA1BA8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187338" y="466885"/>
                <a:ext cx="201600" cy="2016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43EFC0B-FA40-FC40-8378-CA0BB8B80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704667" y="465075"/>
                <a:ext cx="197388" cy="197388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Thank you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3_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3.xml><?xml version="1.0" encoding="utf-8"?>
<a:theme xmlns:a="http://schemas.openxmlformats.org/drawingml/2006/main" name="2_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4.xml><?xml version="1.0" encoding="utf-8"?>
<a:theme xmlns:a="http://schemas.openxmlformats.org/drawingml/2006/main" name="1_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5.xml><?xml version="1.0" encoding="utf-8"?>
<a:theme xmlns:a="http://schemas.openxmlformats.org/drawingml/2006/main" name="1_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C3477AF0C32F4CAC49E6EEAF05E6C3" ma:contentTypeVersion="12" ma:contentTypeDescription="Create a new document." ma:contentTypeScope="" ma:versionID="1ba8c17be94dcb5b75e979095227705f">
  <xsd:schema xmlns:xsd="http://www.w3.org/2001/XMLSchema" xmlns:xs="http://www.w3.org/2001/XMLSchema" xmlns:p="http://schemas.microsoft.com/office/2006/metadata/properties" xmlns:ns2="81be7cfd-548d-4303-8097-97bebd0ee4cc" xmlns:ns3="b234acbb-5041-4803-ac76-ed67d5f310b1" targetNamespace="http://schemas.microsoft.com/office/2006/metadata/properties" ma:root="true" ma:fieldsID="06216d9f205773ea0cf57edb98145fa9" ns2:_="" ns3:_="">
    <xsd:import namespace="81be7cfd-548d-4303-8097-97bebd0ee4cc"/>
    <xsd:import namespace="b234acbb-5041-4803-ac76-ed67d5f310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e7cfd-548d-4303-8097-97bebd0ee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34acbb-5041-4803-ac76-ed67d5f310b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f04b43c-2349-433e-a3f0-740142a8de10}" ma:internalName="TaxCatchAll" ma:showField="CatchAllData" ma:web="b234acbb-5041-4803-ac76-ed67d5f310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be7cfd-548d-4303-8097-97bebd0ee4cc">
      <Terms xmlns="http://schemas.microsoft.com/office/infopath/2007/PartnerControls"/>
    </lcf76f155ced4ddcb4097134ff3c332f>
    <TaxCatchAll xmlns="b234acbb-5041-4803-ac76-ed67d5f310b1" xsi:nil="true"/>
  </documentManagement>
</p:properties>
</file>

<file path=customXml/itemProps1.xml><?xml version="1.0" encoding="utf-8"?>
<ds:datastoreItem xmlns:ds="http://schemas.openxmlformats.org/officeDocument/2006/customXml" ds:itemID="{B0ECB187-1A16-4717-879E-874B5391FF07}"/>
</file>

<file path=customXml/itemProps2.xml><?xml version="1.0" encoding="utf-8"?>
<ds:datastoreItem xmlns:ds="http://schemas.openxmlformats.org/officeDocument/2006/customXml" ds:itemID="{F2B23239-A8EF-448D-B41F-8159A3F74390}"/>
</file>

<file path=customXml/itemProps3.xml><?xml version="1.0" encoding="utf-8"?>
<ds:datastoreItem xmlns:ds="http://schemas.openxmlformats.org/officeDocument/2006/customXml" ds:itemID="{C7278DE1-A407-46F8-A2A6-FF8A1CD1124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5723</TotalTime>
  <Words>5936</Words>
  <Application>Microsoft Office PowerPoint</Application>
  <PresentationFormat>Widescreen</PresentationFormat>
  <Paragraphs>834</Paragraphs>
  <Slides>76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76</vt:i4>
      </vt:variant>
    </vt:vector>
  </HeadingPairs>
  <TitlesOfParts>
    <vt:vector size="88" baseType="lpstr">
      <vt:lpstr>Apple Color Emoji</vt:lpstr>
      <vt:lpstr>Arial</vt:lpstr>
      <vt:lpstr>Calibri</vt:lpstr>
      <vt:lpstr>Courier</vt:lpstr>
      <vt:lpstr>Gill Sans</vt:lpstr>
      <vt:lpstr>Helvetica</vt:lpstr>
      <vt:lpstr>Helvetica Light</vt:lpstr>
      <vt:lpstr>Office Theme</vt:lpstr>
      <vt:lpstr>3_Office Theme</vt:lpstr>
      <vt:lpstr>2_Office Theme</vt:lpstr>
      <vt:lpstr>1_Office Theme</vt:lpstr>
      <vt:lpstr>1_White</vt:lpstr>
      <vt:lpstr>Professor David Flynn </vt:lpstr>
      <vt:lpstr>catch all</vt:lpstr>
      <vt:lpstr>bitwise operations</vt:lpstr>
      <vt:lpstr>Reminder, conversions</vt:lpstr>
      <vt:lpstr>single ascii characters</vt:lpstr>
      <vt:lpstr>bitwise operators</vt:lpstr>
      <vt:lpstr>PowerPoint Presentation</vt:lpstr>
      <vt:lpstr>PowerPoint Presentation</vt:lpstr>
      <vt:lpstr>Masking</vt:lpstr>
      <vt:lpstr>Complex bit bashing</vt:lpstr>
      <vt:lpstr>PowerPoint Presentation</vt:lpstr>
      <vt:lpstr>interfacing with reality</vt:lpstr>
      <vt:lpstr>interfacing with reality</vt:lpstr>
      <vt:lpstr>Advanced Plotting</vt:lpstr>
      <vt:lpstr>Plotting with np arrays</vt:lpstr>
      <vt:lpstr>Multiple plots</vt:lpstr>
      <vt:lpstr>multiple separate plots</vt:lpstr>
      <vt:lpstr>multiple separate plots</vt:lpstr>
      <vt:lpstr>multiple separate plots</vt:lpstr>
      <vt:lpstr>Plots with dates/times</vt:lpstr>
      <vt:lpstr>dates/times</vt:lpstr>
      <vt:lpstr>dates/times</vt:lpstr>
      <vt:lpstr>Example</vt:lpstr>
      <vt:lpstr>Example</vt:lpstr>
      <vt:lpstr>Discontinuous plots</vt:lpstr>
      <vt:lpstr>Discontinuous plots</vt:lpstr>
      <vt:lpstr>discontinuous plots</vt:lpstr>
      <vt:lpstr>Advanced Lists</vt:lpstr>
      <vt:lpstr>comprehensions</vt:lpstr>
      <vt:lpstr>as usual, example best</vt:lpstr>
      <vt:lpstr>as usual, example best</vt:lpstr>
      <vt:lpstr>specific examples</vt:lpstr>
      <vt:lpstr>more specific examples</vt:lpstr>
      <vt:lpstr>Advanced File I/O</vt:lpstr>
      <vt:lpstr>files</vt:lpstr>
      <vt:lpstr>files</vt:lpstr>
      <vt:lpstr>files</vt:lpstr>
      <vt:lpstr>Exceptions</vt:lpstr>
      <vt:lpstr>JSON</vt:lpstr>
      <vt:lpstr>C / C++ from Python </vt:lpstr>
      <vt:lpstr>Important differences</vt:lpstr>
      <vt:lpstr>statements / indenting</vt:lpstr>
      <vt:lpstr>Statements / indenting</vt:lpstr>
      <vt:lpstr>Overall structure</vt:lpstr>
      <vt:lpstr>code structure in C</vt:lpstr>
      <vt:lpstr>Code structure in C</vt:lpstr>
      <vt:lpstr>formatting output</vt:lpstr>
      <vt:lpstr>getting input</vt:lpstr>
      <vt:lpstr>declaring variables</vt:lpstr>
      <vt:lpstr>declaring variables in C</vt:lpstr>
      <vt:lpstr>example declarations</vt:lpstr>
      <vt:lpstr> loops, loops, loops</vt:lpstr>
      <vt:lpstr> loops, loops, loops</vt:lpstr>
      <vt:lpstr>for</vt:lpstr>
      <vt:lpstr>complex types - array</vt:lpstr>
      <vt:lpstr>Array declaration</vt:lpstr>
      <vt:lpstr>example</vt:lpstr>
      <vt:lpstr>Multiple Dimensions</vt:lpstr>
      <vt:lpstr>Two Dimensions</vt:lpstr>
      <vt:lpstr>strings in C</vt:lpstr>
      <vt:lpstr>complex types - struct</vt:lpstr>
      <vt:lpstr>declare &amp; initialise</vt:lpstr>
      <vt:lpstr>common declare trick</vt:lpstr>
      <vt:lpstr>accessing data by ‘dot’</vt:lpstr>
      <vt:lpstr>or by ‘-&gt;’</vt:lpstr>
      <vt:lpstr>pointers</vt:lpstr>
      <vt:lpstr>pointers</vt:lpstr>
      <vt:lpstr>pointers</vt:lpstr>
      <vt:lpstr>PowerPoint Presentation</vt:lpstr>
      <vt:lpstr>PowerPoint Presentation</vt:lpstr>
      <vt:lpstr>PowerPoint Presentation</vt:lpstr>
      <vt:lpstr>PowerPoint Presentation</vt:lpstr>
      <vt:lpstr>pointers</vt:lpstr>
      <vt:lpstr>Matlab from Python </vt:lpstr>
      <vt:lpstr>PowerPoint Presentation</vt:lpstr>
      <vt:lpstr>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 Howard</dc:creator>
  <cp:lastModifiedBy>Flynn, David</cp:lastModifiedBy>
  <cp:revision>159</cp:revision>
  <dcterms:created xsi:type="dcterms:W3CDTF">2021-01-06T14:22:07Z</dcterms:created>
  <dcterms:modified xsi:type="dcterms:W3CDTF">2022-09-04T13:51:28Z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0x01010074C3477AF0C32F4CAC49E6EEAF05E6C3</vt:lpwstr>
  </property>
</Properties>
</file>