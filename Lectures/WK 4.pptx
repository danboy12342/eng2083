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5" r:id="rId5"/>
  </p:sldMasterIdLst>
  <p:notesMasterIdLst>
    <p:notesMasterId r:id="rId65"/>
  </p:notesMasterIdLst>
  <p:sldIdLst>
    <p:sldId id="256" r:id="rId6"/>
    <p:sldId id="274" r:id="rId7"/>
    <p:sldId id="257" r:id="rId8"/>
    <p:sldId id="258" r:id="rId9"/>
    <p:sldId id="259" r:id="rId10"/>
    <p:sldId id="260" r:id="rId11"/>
    <p:sldId id="309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308" r:id="rId20"/>
    <p:sldId id="268" r:id="rId21"/>
    <p:sldId id="269" r:id="rId22"/>
    <p:sldId id="270" r:id="rId23"/>
    <p:sldId id="271" r:id="rId24"/>
    <p:sldId id="272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310" r:id="rId36"/>
    <p:sldId id="311" r:id="rId37"/>
    <p:sldId id="312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14" r:id="rId57"/>
    <p:sldId id="303" r:id="rId58"/>
    <p:sldId id="304" r:id="rId59"/>
    <p:sldId id="305" r:id="rId60"/>
    <p:sldId id="306" r:id="rId61"/>
    <p:sldId id="307" r:id="rId62"/>
    <p:sldId id="313" r:id="rId63"/>
    <p:sldId id="273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55F"/>
    <a:srgbClr val="303DF0"/>
    <a:srgbClr val="777777"/>
    <a:srgbClr val="666699"/>
    <a:srgbClr val="C0C0C0"/>
    <a:srgbClr val="66FFCC"/>
    <a:srgbClr val="99FFCC"/>
    <a:srgbClr val="7F9BB2"/>
    <a:srgbClr val="00CC66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1"/>
    <p:restoredTop sz="84495"/>
  </p:normalViewPr>
  <p:slideViewPr>
    <p:cSldViewPr snapToGrid="0">
      <p:cViewPr varScale="1">
        <p:scale>
          <a:sx n="103" d="100"/>
          <a:sy n="103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-112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0" name="Shape 1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 of functions hiding previous work to simplify code should be introduced here.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5" name="Shape 1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 of functions hiding previous work to simplify code should be introduced here.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" name="Shape 1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 of functions hiding previous work to simplify code should be introduced here.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9" name="Shape 1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 of functions hiding previous work to simplify code should be introduced here.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6" name="Shape 1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 of functions hiding previous work to simplify code should be introduced here.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1" name="Shape 19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 of functions hiding previous work to simplify code should be introduced here.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4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5" name="Shape 20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0" name="Shape 21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 that the last example was probably a problem better solved by a counter loop, but sometimes you just use the one that you are most comfortable with.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5" name="Shape 2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know it crosses the x axis at some point we can calculate that. F(x) is minus on the left side of the Y axis and +</a:t>
            </a:r>
            <a:r>
              <a:rPr lang="en-US" dirty="0" err="1"/>
              <a:t>ve</a:t>
            </a:r>
            <a:r>
              <a:rPr lang="en-US" dirty="0"/>
              <a:t> on the right.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You can also split the line in half each time by the bisection method to make the line shorter each time. However, always finds the root. However, Newton figured out a better method. Sliding down the tangent is a way to </a:t>
            </a:r>
            <a:r>
              <a:rPr lang="en-US" dirty="0" err="1"/>
              <a:t>summarise</a:t>
            </a:r>
            <a:r>
              <a:rPr lang="en-US" dirty="0"/>
              <a:t> this.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5" name="Shape 2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bisection method gets within 4% of √100 in eight iterations, Newton gets to machine precision in seven.</a:t>
            </a:r>
            <a:endParaRPr lang="en-GB" dirty="0"/>
          </a:p>
          <a:p>
            <a:endParaRPr lang="en-GB" dirty="0"/>
          </a:p>
          <a:p>
            <a:r>
              <a:rPr lang="en-GB" dirty="0"/>
              <a:t>Line two is the differential of f(x).</a:t>
            </a:r>
          </a:p>
          <a:p>
            <a:endParaRPr lang="en-GB" dirty="0"/>
          </a:p>
          <a:p>
            <a:r>
              <a:rPr lang="en-GB" dirty="0"/>
              <a:t>Final line with some rearranging is: 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0" name="Shape 25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if you swap y and x then the system will give you a warning and try and do the best it can</a:t>
            </a:r>
          </a:p>
          <a:p>
            <a:r>
              <a:rPr dirty="0"/>
              <a:t>flag what happens if the format is too small for the number.</a:t>
            </a:r>
          </a:p>
          <a:p>
            <a:r>
              <a:rPr dirty="0"/>
              <a:t>Oh, even better, how do you divide a binary number by two</a:t>
            </a:r>
            <a:endParaRPr lang="en-GB" dirty="0"/>
          </a:p>
          <a:p>
            <a:endParaRPr lang="en-GB" dirty="0"/>
          </a:p>
          <a:p>
            <a:r>
              <a:rPr lang="en-GB" dirty="0"/>
              <a:t>I input a number I want to figure out. Then I create it to be an </a:t>
            </a:r>
            <a:r>
              <a:rPr lang="en-GB" dirty="0" err="1"/>
              <a:t>integar</a:t>
            </a:r>
            <a:r>
              <a:rPr lang="en-GB" dirty="0"/>
              <a:t> as it came in as a string as it came from the input function.</a:t>
            </a:r>
            <a:br>
              <a:rPr lang="en-GB" dirty="0"/>
            </a:br>
            <a:r>
              <a:rPr lang="en-GB" dirty="0"/>
              <a:t>Your guess can then be anything but lets imagine its n/2 as a first guess. </a:t>
            </a:r>
          </a:p>
          <a:p>
            <a:r>
              <a:rPr lang="en-GB" dirty="0"/>
              <a:t>Declare an error- this is the error and when my guesses are closer to </a:t>
            </a:r>
            <a:r>
              <a:rPr lang="en-GB" dirty="0" err="1"/>
              <a:t>eachoether</a:t>
            </a:r>
            <a:r>
              <a:rPr lang="en-GB" dirty="0"/>
              <a:t> than this error then we have converged.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Loop goes like this- Forever</a:t>
            </a:r>
          </a:p>
          <a:p>
            <a:r>
              <a:rPr lang="en-GB" dirty="0"/>
              <a:t>Previous guess is the current guess so the old guess is setup</a:t>
            </a:r>
          </a:p>
          <a:p>
            <a:r>
              <a:rPr lang="en-GB" dirty="0"/>
              <a:t>New current guess is now going to be previous guess  + … </a:t>
            </a:r>
          </a:p>
          <a:p>
            <a:r>
              <a:rPr lang="en-GB" dirty="0"/>
              <a:t>If difference between previous guess and current guess is less than .0001 then jump out loop as </a:t>
            </a:r>
            <a:r>
              <a:rPr lang="en-GB" dirty="0" err="1"/>
              <a:t>ive</a:t>
            </a:r>
            <a:r>
              <a:rPr lang="en-GB" dirty="0"/>
              <a:t> converged enough.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Print root is. </a:t>
            </a:r>
          </a:p>
          <a:p>
            <a:endParaRPr lang="en-GB" dirty="0"/>
          </a:p>
          <a:p>
            <a:r>
              <a:rPr lang="en-GB" dirty="0"/>
              <a:t>While loops useful as you don’t know how many loops you need to </a:t>
            </a:r>
            <a:r>
              <a:rPr lang="en-GB"/>
              <a:t>do etc. 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5" name="Shape 2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you swap y and x then the system will give you a warning and try and do the best it can</a:t>
            </a:r>
          </a:p>
          <a:p>
            <a:r>
              <a:t>flag what happens if the format is too small for the number.</a:t>
            </a:r>
          </a:p>
          <a:p>
            <a:r>
              <a:t>Oh, even better, how do you divide a binary number by two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6" name="Shape 26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1" name="Shape 2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9" name="Shape 2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4" name="Shape 2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9" name="Shape 28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4" name="Shape 29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9" name="Shape 29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4" name="Shape 3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9" name="Shape 30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4" name="Shape 31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31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9" name="Shape 31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5" name="Shape 32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1" name="Shape 33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6" name="Shape 33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1" name="Shape 3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6" name="Shape 3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1" name="Shape 35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9" name="Shape 35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4" name="Shape 36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9" name="Shape 3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4" name="Shape 3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FB20B9-A0AD-4C29-9EAD-90052B40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190625" y="1151930"/>
            <a:ext cx="9810750" cy="2321719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90625" y="3536156"/>
            <a:ext cx="9810750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531"/>
            </a:lvl1pPr>
            <a:lvl2pPr marL="0" indent="0" algn="ctr">
              <a:spcBef>
                <a:spcPts val="0"/>
              </a:spcBef>
              <a:buSzTx/>
              <a:buNone/>
              <a:defRPr sz="2531"/>
            </a:lvl2pPr>
            <a:lvl3pPr marL="0" indent="0" algn="ctr">
              <a:spcBef>
                <a:spcPts val="0"/>
              </a:spcBef>
              <a:buSzTx/>
              <a:buNone/>
              <a:defRPr sz="2531"/>
            </a:lvl3pPr>
            <a:lvl4pPr marL="0" indent="0" algn="ctr">
              <a:spcBef>
                <a:spcPts val="0"/>
              </a:spcBef>
              <a:buSzTx/>
              <a:buNone/>
              <a:defRPr sz="2531"/>
            </a:lvl4pPr>
            <a:lvl5pPr marL="0" indent="0" algn="ctr">
              <a:spcBef>
                <a:spcPts val="0"/>
              </a:spcBef>
              <a:buSzTx/>
              <a:buNone/>
              <a:defRPr sz="253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67405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1190625" y="1946672"/>
            <a:ext cx="9810750" cy="4018359"/>
          </a:xfrm>
          <a:prstGeom prst="rect">
            <a:avLst/>
          </a:prstGeom>
        </p:spPr>
        <p:txBody>
          <a:bodyPr/>
          <a:lstStyle>
            <a:lvl1pPr>
              <a:spcBef>
                <a:spcPts val="1687"/>
              </a:spcBef>
            </a:lvl1pPr>
            <a:lvl2pPr>
              <a:spcBef>
                <a:spcPts val="1687"/>
              </a:spcBef>
            </a:lvl2pPr>
            <a:lvl3pPr>
              <a:spcBef>
                <a:spcPts val="1687"/>
              </a:spcBef>
            </a:lvl3pPr>
            <a:lvl4pPr>
              <a:spcBef>
                <a:spcPts val="1687"/>
              </a:spcBef>
            </a:lvl4pPr>
            <a:lvl5pPr>
              <a:spcBef>
                <a:spcPts val="1687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194282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xfrm>
            <a:off x="1190625" y="1946672"/>
            <a:ext cx="9810750" cy="4018359"/>
          </a:xfrm>
          <a:prstGeom prst="rect">
            <a:avLst/>
          </a:prstGeom>
        </p:spPr>
        <p:txBody>
          <a:bodyPr numCol="2" spcCol="523240" anchor="t"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687143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89555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88025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1190625" y="2089547"/>
            <a:ext cx="9810750" cy="267890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313839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Image"/>
          <p:cNvSpPr>
            <a:spLocks noGrp="1"/>
          </p:cNvSpPr>
          <p:nvPr>
            <p:ph type="pic" sz="half" idx="21"/>
          </p:nvPr>
        </p:nvSpPr>
        <p:spPr>
          <a:xfrm>
            <a:off x="2286000" y="1151930"/>
            <a:ext cx="7620000" cy="3545301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70" name="Title Text"/>
          <p:cNvSpPr txBox="1">
            <a:spLocks noGrp="1"/>
          </p:cNvSpPr>
          <p:nvPr>
            <p:ph type="title"/>
          </p:nvPr>
        </p:nvSpPr>
        <p:spPr>
          <a:xfrm>
            <a:off x="1190625" y="5179219"/>
            <a:ext cx="9810750" cy="119657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944668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Image"/>
          <p:cNvSpPr>
            <a:spLocks noGrp="1"/>
          </p:cNvSpPr>
          <p:nvPr>
            <p:ph type="pic" sz="half" idx="21"/>
          </p:nvPr>
        </p:nvSpPr>
        <p:spPr>
          <a:xfrm>
            <a:off x="2286000" y="1151930"/>
            <a:ext cx="7620000" cy="3545301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79" name="Title Text"/>
          <p:cNvSpPr txBox="1">
            <a:spLocks noGrp="1"/>
          </p:cNvSpPr>
          <p:nvPr>
            <p:ph type="title"/>
          </p:nvPr>
        </p:nvSpPr>
        <p:spPr>
          <a:xfrm>
            <a:off x="1190625" y="5179219"/>
            <a:ext cx="9810750" cy="119657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854292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Image"/>
          <p:cNvSpPr>
            <a:spLocks noGrp="1"/>
          </p:cNvSpPr>
          <p:nvPr>
            <p:ph type="pic" sz="half" idx="21"/>
          </p:nvPr>
        </p:nvSpPr>
        <p:spPr>
          <a:xfrm>
            <a:off x="6679406" y="1134070"/>
            <a:ext cx="3952875" cy="4449897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595312" y="991195"/>
            <a:ext cx="5500688" cy="2321719"/>
          </a:xfrm>
          <a:prstGeom prst="rect">
            <a:avLst/>
          </a:prstGeom>
        </p:spPr>
        <p:txBody>
          <a:bodyPr anchor="b"/>
          <a:lstStyle>
            <a:lvl1pPr>
              <a:defRPr sz="4922"/>
            </a:lvl1pPr>
          </a:lstStyle>
          <a:p>
            <a:r>
              <a:t>Title Text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95312" y="3366492"/>
            <a:ext cx="5500688" cy="232171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391"/>
            </a:lvl1pPr>
            <a:lvl2pPr marL="0" indent="0" algn="ctr">
              <a:spcBef>
                <a:spcPts val="0"/>
              </a:spcBef>
              <a:buSzTx/>
              <a:buNone/>
              <a:defRPr sz="2391"/>
            </a:lvl2pPr>
            <a:lvl3pPr marL="0" indent="0" algn="ctr">
              <a:spcBef>
                <a:spcPts val="0"/>
              </a:spcBef>
              <a:buSzTx/>
              <a:buNone/>
              <a:defRPr sz="2391"/>
            </a:lvl3pPr>
            <a:lvl4pPr marL="0" indent="0" algn="ctr">
              <a:spcBef>
                <a:spcPts val="0"/>
              </a:spcBef>
              <a:buSzTx/>
              <a:buNone/>
              <a:defRPr sz="2391"/>
            </a:lvl4pPr>
            <a:lvl5pPr marL="0" indent="0" algn="ctr">
              <a:spcBef>
                <a:spcPts val="0"/>
              </a:spcBef>
              <a:buSzTx/>
              <a:buNone/>
              <a:defRPr sz="239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251391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Image"/>
          <p:cNvSpPr>
            <a:spLocks noGrp="1"/>
          </p:cNvSpPr>
          <p:nvPr>
            <p:ph type="pic" sz="half" idx="21"/>
          </p:nvPr>
        </p:nvSpPr>
        <p:spPr>
          <a:xfrm>
            <a:off x="6679406" y="1134070"/>
            <a:ext cx="3952875" cy="4449897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595312" y="991195"/>
            <a:ext cx="5500688" cy="2321719"/>
          </a:xfrm>
          <a:prstGeom prst="rect">
            <a:avLst/>
          </a:prstGeom>
        </p:spPr>
        <p:txBody>
          <a:bodyPr anchor="b"/>
          <a:lstStyle>
            <a:lvl1pPr>
              <a:defRPr sz="4922"/>
            </a:lvl1pPr>
          </a:lstStyle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95312" y="3366492"/>
            <a:ext cx="5500688" cy="232171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391"/>
            </a:lvl1pPr>
            <a:lvl2pPr marL="0" indent="0" algn="ctr">
              <a:spcBef>
                <a:spcPts val="0"/>
              </a:spcBef>
              <a:buSzTx/>
              <a:buNone/>
              <a:defRPr sz="2391"/>
            </a:lvl2pPr>
            <a:lvl3pPr marL="0" indent="0" algn="ctr">
              <a:spcBef>
                <a:spcPts val="0"/>
              </a:spcBef>
              <a:buSzTx/>
              <a:buNone/>
              <a:defRPr sz="2391"/>
            </a:lvl3pPr>
            <a:lvl4pPr marL="0" indent="0" algn="ctr">
              <a:spcBef>
                <a:spcPts val="0"/>
              </a:spcBef>
              <a:buSzTx/>
              <a:buNone/>
              <a:defRPr sz="2391"/>
            </a:lvl4pPr>
            <a:lvl5pPr marL="0" indent="0" algn="ctr">
              <a:spcBef>
                <a:spcPts val="0"/>
              </a:spcBef>
              <a:buSzTx/>
              <a:buNone/>
              <a:defRPr sz="239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712258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Image"/>
          <p:cNvSpPr>
            <a:spLocks noGrp="1"/>
          </p:cNvSpPr>
          <p:nvPr>
            <p:ph type="pic" sz="quarter" idx="21"/>
          </p:nvPr>
        </p:nvSpPr>
        <p:spPr>
          <a:xfrm>
            <a:off x="6727031" y="1785938"/>
            <a:ext cx="3845719" cy="4329267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10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90625" y="1946672"/>
            <a:ext cx="4726781" cy="4018359"/>
          </a:xfrm>
          <a:prstGeom prst="rect">
            <a:avLst/>
          </a:prstGeom>
        </p:spPr>
        <p:txBody>
          <a:bodyPr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9482955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90625" y="1946672"/>
            <a:ext cx="4726781" cy="4018359"/>
          </a:xfrm>
          <a:prstGeom prst="rect">
            <a:avLst/>
          </a:prstGeom>
        </p:spPr>
        <p:txBody>
          <a:bodyPr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184167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86625" y="1946672"/>
            <a:ext cx="3714750" cy="4018359"/>
          </a:xfrm>
          <a:prstGeom prst="rect">
            <a:avLst/>
          </a:prstGeom>
        </p:spPr>
        <p:txBody>
          <a:bodyPr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31803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190625" y="892969"/>
            <a:ext cx="9810750" cy="5072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190625" y="178594"/>
            <a:ext cx="9810750" cy="171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29312" y="6471314"/>
            <a:ext cx="291747" cy="29738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266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52C45-BD67-4EC5-B42D-81D76A8DA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91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transition spd="med"/>
  <p:txStyles>
    <p:titleStyle>
      <a:lvl1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160729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321457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482186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642915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803643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964372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125101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285829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titleStyle>
    <p:bodyStyle>
      <a:lvl1pPr marL="625056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937584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1250112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1562640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1875168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2125190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2375212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2625235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2875257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bodyStyle>
    <p:otherStyle>
      <a:lvl1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160729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321457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482186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642915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803643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964372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125101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285829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wEM4t8IRpSo?feature=oembed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microsoft.com/office/2007/relationships/media" Target="../media/media1.mov"/><Relationship Id="rId1" Type="http://schemas.openxmlformats.org/officeDocument/2006/relationships/video" Target="NULL" TargetMode="Externa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jangoproject.com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ilbert Scott Building">
            <a:extLst>
              <a:ext uri="{FF2B5EF4-FFF2-40B4-BE49-F238E27FC236}">
                <a16:creationId xmlns:a16="http://schemas.microsoft.com/office/drawing/2014/main" id="{0BEDC7DD-9485-6F49-9598-637045E70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13631" cy="1062182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</a:rPr>
              <a:t>Professor David Flynn</a:t>
            </a:r>
            <a:br>
              <a:rPr lang="en-GB">
                <a:solidFill>
                  <a:schemeClr val="tx1"/>
                </a:solidFill>
              </a:rPr>
            </a:br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2721121"/>
            <a:ext cx="5680364" cy="1062182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Loops and Control - EN2083 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Loops and Control"/>
          <p:cNvSpPr txBox="1">
            <a:spLocks noGrp="1"/>
          </p:cNvSpPr>
          <p:nvPr>
            <p:ph type="ctrTitle"/>
          </p:nvPr>
        </p:nvSpPr>
        <p:spPr>
          <a:xfrm>
            <a:off x="-942975" y="503439"/>
            <a:ext cx="9810750" cy="2321719"/>
          </a:xfrm>
          <a:prstGeom prst="rect">
            <a:avLst/>
          </a:prstGeom>
        </p:spPr>
        <p:txBody>
          <a:bodyPr/>
          <a:lstStyle/>
          <a:p>
            <a:r>
              <a:rPr dirty="0"/>
              <a:t>Loops and Control</a:t>
            </a:r>
          </a:p>
        </p:txBody>
      </p:sp>
      <p:sp>
        <p:nvSpPr>
          <p:cNvPr id="138" name="(everything you need to do real work)…"/>
          <p:cNvSpPr txBox="1">
            <a:spLocks noGrp="1"/>
          </p:cNvSpPr>
          <p:nvPr>
            <p:ph type="subTitle" sz="quarter" idx="1"/>
          </p:nvPr>
        </p:nvSpPr>
        <p:spPr>
          <a:xfrm>
            <a:off x="283368" y="2639706"/>
            <a:ext cx="7358063" cy="1312664"/>
          </a:xfrm>
          <a:prstGeom prst="rect">
            <a:avLst/>
          </a:prstGeom>
        </p:spPr>
        <p:txBody>
          <a:bodyPr/>
          <a:lstStyle/>
          <a:p>
            <a:r>
              <a:rPr dirty="0"/>
              <a:t>(everything you need to do real work)</a:t>
            </a:r>
          </a:p>
          <a:p>
            <a:r>
              <a:rPr dirty="0"/>
              <a:t>(again, thanks to </a:t>
            </a:r>
            <a:r>
              <a:rPr lang="en-GB" dirty="0"/>
              <a:t>Dr Scott Roy</a:t>
            </a:r>
            <a:r>
              <a:rPr dirty="0"/>
              <a:t>)</a:t>
            </a:r>
          </a:p>
        </p:txBody>
      </p:sp>
      <p:pic>
        <p:nvPicPr>
          <p:cNvPr id="2" name="Online Media 1" title="Broken music box..">
            <a:hlinkClick r:id="" action="ppaction://media"/>
            <a:extLst>
              <a:ext uri="{FF2B5EF4-FFF2-40B4-BE49-F238E27FC236}">
                <a16:creationId xmlns:a16="http://schemas.microsoft.com/office/drawing/2014/main" id="{3F9F0153-3D11-1DD9-528D-1A58AE9D12E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685608" y="246888"/>
            <a:ext cx="2854121" cy="5051541"/>
          </a:xfrm>
          <a:prstGeom prst="rect">
            <a:avLst/>
          </a:prstGeom>
        </p:spPr>
      </p:pic>
      <p:sp>
        <p:nvSpPr>
          <p:cNvPr id="3" name="(everything you need to do real work)…">
            <a:extLst>
              <a:ext uri="{FF2B5EF4-FFF2-40B4-BE49-F238E27FC236}">
                <a16:creationId xmlns:a16="http://schemas.microsoft.com/office/drawing/2014/main" id="{EA506ACA-615D-3D74-3AF7-BC663A38694B}"/>
              </a:ext>
            </a:extLst>
          </p:cNvPr>
          <p:cNvSpPr txBox="1">
            <a:spLocks/>
          </p:cNvSpPr>
          <p:nvPr/>
        </p:nvSpPr>
        <p:spPr>
          <a:xfrm>
            <a:off x="8208169" y="5502490"/>
            <a:ext cx="3605880" cy="1312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t"/>
          <a:lstStyle>
            <a:lvl1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1pPr>
            <a:lvl2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2pPr>
            <a:lvl3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3pPr>
            <a:lvl4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4pPr>
            <a:lvl5pPr marL="0" marR="0" indent="0" algn="ctr" defTabSz="41075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31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5pPr>
            <a:lvl6pPr marL="2125190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6pPr>
            <a:lvl7pPr marL="2375212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7pPr>
            <a:lvl8pPr marL="2625235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8pPr>
            <a:lvl9pPr marL="2875257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r>
              <a:rPr lang="en-GB" sz="2000" kern="0" dirty="0"/>
              <a:t>The is similar to a loop but in mechanical form where the music repeats over again for the number of winds.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FDFDD-C6B1-7197-263D-6F4D0A0D335F}"/>
              </a:ext>
            </a:extLst>
          </p:cNvPr>
          <p:cNvSpPr txBox="1"/>
          <p:nvPr/>
        </p:nvSpPr>
        <p:spPr>
          <a:xfrm>
            <a:off x="697671" y="4301903"/>
            <a:ext cx="6988409" cy="1949252"/>
          </a:xfrm>
          <a:prstGeom prst="rect">
            <a:avLst/>
          </a:prstGeom>
          <a:noFill/>
          <a:ln w="12700" cap="flat">
            <a:solidFill>
              <a:srgbClr val="00355F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355F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Example of wind up music box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B050"/>
                </a:solidFill>
                <a:sym typeface="Gill Sans"/>
              </a:rPr>
              <a:t>#Pseudocode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00355F"/>
                </a:solidFill>
                <a:sym typeface="Gill Sans"/>
              </a:rPr>
              <a:t>k=minimum energy required for music box to work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355F"/>
                </a:solidFill>
                <a:sym typeface="Gill Sans"/>
              </a:rPr>
              <a:t>While strength of coil &gt; k        </a:t>
            </a:r>
            <a:r>
              <a:rPr lang="en-US" sz="1200" dirty="0">
                <a:solidFill>
                  <a:srgbClr val="00B050"/>
                </a:solidFill>
                <a:sym typeface="Gill Sans"/>
              </a:rPr>
              <a:t>#Provided there are several turns of the coil the music will play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355F"/>
                </a:solidFill>
                <a:sym typeface="Gill Sans"/>
              </a:rPr>
              <a:t>	Play music 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00355F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355F"/>
                </a:solidFill>
                <a:sym typeface="Gill Sans"/>
              </a:rPr>
              <a:t>Else:  Music stops		</a:t>
            </a:r>
            <a:r>
              <a:rPr lang="en-US" sz="1200" dirty="0">
                <a:solidFill>
                  <a:srgbClr val="00B050"/>
                </a:solidFill>
                <a:sym typeface="Gill Sans"/>
              </a:rPr>
              <a:t>	#Once the coil has no energy the music stops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B05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9C6E8D76-97E7-9B7A-E8E7-E17CD382BFB8}"/>
              </a:ext>
            </a:extLst>
          </p:cNvPr>
          <p:cNvSpPr/>
          <p:nvPr/>
        </p:nvSpPr>
        <p:spPr>
          <a:xfrm rot="14807343">
            <a:off x="7151106" y="3498359"/>
            <a:ext cx="724619" cy="1607089"/>
          </a:xfrm>
          <a:prstGeom prst="down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tatements"/>
          <p:cNvSpPr txBox="1">
            <a:spLocks noGrp="1"/>
          </p:cNvSpPr>
          <p:nvPr>
            <p:ph type="ctrTitle"/>
          </p:nvPr>
        </p:nvSpPr>
        <p:spPr>
          <a:xfrm>
            <a:off x="1190625" y="2555913"/>
            <a:ext cx="9810750" cy="917736"/>
          </a:xfrm>
          <a:prstGeom prst="rect">
            <a:avLst/>
          </a:prstGeom>
        </p:spPr>
        <p:txBody>
          <a:bodyPr/>
          <a:lstStyle/>
          <a:p>
            <a:r>
              <a:rPr dirty="0"/>
              <a:t>Statements</a:t>
            </a:r>
          </a:p>
        </p:txBody>
      </p:sp>
      <p:sp>
        <p:nvSpPr>
          <p:cNvPr id="141" name="(just to formalise what we know, and introduce ‘scope’)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(just to </a:t>
            </a:r>
            <a:r>
              <a:rPr dirty="0" err="1"/>
              <a:t>formalise</a:t>
            </a:r>
            <a:r>
              <a:rPr dirty="0"/>
              <a:t> what we know, and introduce ‘scope’)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tatements"/>
          <p:cNvSpPr txBox="1">
            <a:spLocks noGrp="1"/>
          </p:cNvSpPr>
          <p:nvPr>
            <p:ph type="title"/>
          </p:nvPr>
        </p:nvSpPr>
        <p:spPr>
          <a:xfrm>
            <a:off x="1190625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t>Statements</a:t>
            </a:r>
          </a:p>
        </p:txBody>
      </p:sp>
      <p:sp>
        <p:nvSpPr>
          <p:cNvPr id="144" name="A statement is a unit of command…"/>
          <p:cNvSpPr txBox="1">
            <a:spLocks noGrp="1"/>
          </p:cNvSpPr>
          <p:nvPr>
            <p:ph type="body" idx="1"/>
          </p:nvPr>
        </p:nvSpPr>
        <p:spPr>
          <a:xfrm>
            <a:off x="1950243" y="1603772"/>
            <a:ext cx="9051132" cy="4607719"/>
          </a:xfrm>
          <a:prstGeom prst="rect">
            <a:avLst/>
          </a:prstGeom>
        </p:spPr>
        <p:txBody>
          <a:bodyPr/>
          <a:lstStyle/>
          <a:p>
            <a:pPr marL="624840" indent="-401320"/>
            <a:r>
              <a:rPr sz="2950"/>
              <a:t>A </a:t>
            </a:r>
            <a:r>
              <a:rPr sz="2950" i="1"/>
              <a:t>statement</a:t>
            </a:r>
            <a:r>
              <a:rPr sz="2950"/>
              <a:t> is a unit of command</a:t>
            </a:r>
            <a:endParaRPr lang="en-US" sz="2950"/>
          </a:p>
          <a:p>
            <a:pPr marL="624840" indent="-401320"/>
            <a:r>
              <a:rPr sz="2950"/>
              <a:t>A </a:t>
            </a:r>
            <a:r>
              <a:rPr sz="2950" i="1"/>
              <a:t>program</a:t>
            </a:r>
            <a:r>
              <a:rPr sz="2950"/>
              <a:t> contains one or more statements, each terminated by an end of line (or </a:t>
            </a:r>
            <a:r>
              <a:rPr lang="en-GB" sz="2950"/>
              <a:t>‘</a:t>
            </a:r>
            <a:r>
              <a:rPr lang="en-GB" sz="2950">
                <a:latin typeface="Courier"/>
                <a:sym typeface="Courier"/>
              </a:rPr>
              <a:t>;</a:t>
            </a:r>
            <a:r>
              <a:rPr lang="en-GB" sz="2950"/>
              <a:t>’)</a:t>
            </a:r>
            <a:endParaRPr sz="2950"/>
          </a:p>
          <a:p>
            <a:pPr marL="1249680" lvl="2" indent="-401320">
              <a:spcBef>
                <a:spcPts val="0"/>
              </a:spcBef>
              <a:buSzPct val="100000"/>
            </a:pPr>
            <a:r>
              <a:t>assignment statements</a:t>
            </a:r>
          </a:p>
          <a:p>
            <a:pPr marL="1249680" lvl="2" indent="-401320">
              <a:spcBef>
                <a:spcPts val="0"/>
              </a:spcBef>
              <a:buSzPct val="100000"/>
            </a:pPr>
            <a:r>
              <a:t>decision/selection statements</a:t>
            </a:r>
          </a:p>
          <a:p>
            <a:pPr marL="1249680" lvl="2" indent="-401320">
              <a:spcBef>
                <a:spcPts val="0"/>
              </a:spcBef>
              <a:buSzPct val="100000"/>
            </a:pPr>
            <a:r>
              <a:t>repetition/loop statements</a:t>
            </a:r>
          </a:p>
          <a:p>
            <a:pPr marL="1249680" lvl="2" indent="-401320">
              <a:spcBef>
                <a:spcPts val="0"/>
              </a:spcBef>
              <a:buSzPct val="100000"/>
            </a:pPr>
            <a:r>
              <a:t>function calls</a:t>
            </a:r>
          </a:p>
          <a:p>
            <a:pPr marL="624840" indent="-401320">
              <a:spcBef>
                <a:spcPts val="0"/>
              </a:spcBef>
            </a:pPr>
            <a:r>
              <a:rPr i="1"/>
              <a:t>functions</a:t>
            </a:r>
            <a:r>
              <a:t> / </a:t>
            </a:r>
            <a:r>
              <a:rPr i="1"/>
              <a:t>classes</a:t>
            </a:r>
            <a:r>
              <a:t> also define their interface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ompound Statements"/>
          <p:cNvSpPr txBox="1">
            <a:spLocks noGrp="1"/>
          </p:cNvSpPr>
          <p:nvPr>
            <p:ph type="title"/>
          </p:nvPr>
        </p:nvSpPr>
        <p:spPr>
          <a:xfrm>
            <a:off x="1909493" y="140254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t>Compound Statements</a:t>
            </a:r>
          </a:p>
        </p:txBody>
      </p:sp>
      <p:sp>
        <p:nvSpPr>
          <p:cNvPr id="147" name="In Python a compound statement is a group of statements collected in a single unit by their level of indentation."/>
          <p:cNvSpPr txBox="1">
            <a:spLocks noGrp="1"/>
          </p:cNvSpPr>
          <p:nvPr>
            <p:ph type="body" sz="quarter" idx="1"/>
          </p:nvPr>
        </p:nvSpPr>
        <p:spPr>
          <a:xfrm>
            <a:off x="170725" y="1959125"/>
            <a:ext cx="7383014" cy="1414800"/>
          </a:xfrm>
          <a:prstGeom prst="rect">
            <a:avLst/>
          </a:prstGeom>
        </p:spPr>
        <p:txBody>
          <a:bodyPr/>
          <a:lstStyle/>
          <a:p>
            <a:r>
              <a:t>In Python a </a:t>
            </a:r>
            <a:r>
              <a:rPr i="1"/>
              <a:t>compound</a:t>
            </a:r>
            <a:r>
              <a:t> </a:t>
            </a:r>
            <a:r>
              <a:rPr i="1"/>
              <a:t>statement</a:t>
            </a:r>
            <a:r>
              <a:t> is a group of statements collected in a single unit by their level of </a:t>
            </a:r>
            <a:r>
              <a:rPr>
                <a:solidFill>
                  <a:srgbClr val="FF2600"/>
                </a:solidFill>
              </a:rPr>
              <a:t>indentation</a:t>
            </a:r>
            <a:r>
              <a:t>. </a:t>
            </a:r>
          </a:p>
        </p:txBody>
      </p:sp>
      <p:sp>
        <p:nvSpPr>
          <p:cNvPr id="148" name="while student&lt;=10 :       # when student counter &lt;=10…"/>
          <p:cNvSpPr txBox="1"/>
          <p:nvPr/>
        </p:nvSpPr>
        <p:spPr>
          <a:xfrm>
            <a:off x="170725" y="3429000"/>
            <a:ext cx="7383014" cy="2977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pPr marL="0" lvl="2" indent="4821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1687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marL="0" lvl="2" indent="4821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while student&lt;=10 :       </a:t>
            </a:r>
            <a:r>
              <a:rPr sz="1687" kern="0" dirty="0">
                <a:solidFill>
                  <a:srgbClr val="0433FF"/>
                </a:solidFill>
                <a:latin typeface="Courier"/>
                <a:sym typeface="Courier"/>
              </a:rPr>
              <a:t># when student counter &lt;=10</a:t>
            </a:r>
          </a:p>
          <a:p>
            <a:pPr marL="0" lvl="2" indent="4821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  result = input(“Enter(1=pass,2=fail):”)</a:t>
            </a:r>
          </a:p>
          <a:p>
            <a:pPr marL="0" lvl="2" indent="4821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  result=int(result)     </a:t>
            </a:r>
            <a:r>
              <a:rPr sz="1687" kern="0" dirty="0">
                <a:solidFill>
                  <a:srgbClr val="0433FF"/>
                </a:solidFill>
                <a:latin typeface="Courier"/>
                <a:sym typeface="Courier"/>
              </a:rPr>
              <a:t># input next exam result</a:t>
            </a:r>
          </a:p>
          <a:p>
            <a:pPr marL="0" lvl="2" indent="4821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  if result==1 :         </a:t>
            </a:r>
            <a:r>
              <a:rPr sz="1687" kern="0" dirty="0">
                <a:solidFill>
                  <a:srgbClr val="0433FF"/>
                </a:solidFill>
                <a:latin typeface="Courier"/>
                <a:sym typeface="Courier"/>
              </a:rPr>
              <a:t># if student passes</a:t>
            </a:r>
          </a:p>
          <a:p>
            <a:pPr marL="0" lvl="2" indent="4821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      passes+=1          </a:t>
            </a:r>
            <a:r>
              <a:rPr sz="1687" kern="0" dirty="0">
                <a:solidFill>
                  <a:srgbClr val="0433FF"/>
                </a:solidFill>
                <a:latin typeface="Courier"/>
                <a:sym typeface="Courier"/>
              </a:rPr>
              <a:t># add one to passes</a:t>
            </a:r>
          </a:p>
          <a:p>
            <a:pPr marL="0" lvl="2" indent="4821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  else:                  </a:t>
            </a:r>
            <a:r>
              <a:rPr sz="1687" kern="0" dirty="0">
                <a:solidFill>
                  <a:srgbClr val="0433FF"/>
                </a:solidFill>
                <a:latin typeface="Courier"/>
                <a:sym typeface="Courier"/>
              </a:rPr>
              <a:t># else</a:t>
            </a:r>
          </a:p>
          <a:p>
            <a:pPr marL="0" lvl="2" indent="4821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      failures+=1        </a:t>
            </a:r>
            <a:r>
              <a:rPr sz="1687" kern="0" dirty="0">
                <a:solidFill>
                  <a:srgbClr val="0433FF"/>
                </a:solidFill>
                <a:latin typeface="Courier"/>
                <a:sym typeface="Courier"/>
              </a:rPr>
              <a:t># add one to failures</a:t>
            </a:r>
          </a:p>
          <a:p>
            <a:pPr marL="0" lvl="2" indent="4821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  student+=1             </a:t>
            </a:r>
            <a:r>
              <a:rPr sz="1687" kern="0" dirty="0">
                <a:solidFill>
                  <a:srgbClr val="0433FF"/>
                </a:solidFill>
                <a:latin typeface="Courier"/>
                <a:sym typeface="Courier"/>
              </a:rPr>
              <a:t># add one to counter</a:t>
            </a:r>
          </a:p>
        </p:txBody>
      </p:sp>
      <p:pic>
        <p:nvPicPr>
          <p:cNvPr id="1026" name="Picture 2" descr="How Memes can help you learn Python | by Susanne van Wagensveld | Medium">
            <a:extLst>
              <a:ext uri="{FF2B5EF4-FFF2-40B4-BE49-F238E27FC236}">
                <a16:creationId xmlns:a16="http://schemas.microsoft.com/office/drawing/2014/main" id="{3B858A85-522A-927F-4D0D-FD699E71E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661" y="1723807"/>
            <a:ext cx="3500582" cy="388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BF9C9A-F11E-007A-0A97-A41E089BB38E}"/>
              </a:ext>
            </a:extLst>
          </p:cNvPr>
          <p:cNvSpPr txBox="1"/>
          <p:nvPr/>
        </p:nvSpPr>
        <p:spPr>
          <a:xfrm>
            <a:off x="8092812" y="5537936"/>
            <a:ext cx="3907621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 good thing about Python is it will often recognise and tell you via the command window when you have an indentation error</a:t>
            </a: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D7EFE2-D6E5-7E8D-6A82-DEAB5262DDA9}"/>
              </a:ext>
            </a:extLst>
          </p:cNvPr>
          <p:cNvSpPr/>
          <p:nvPr/>
        </p:nvSpPr>
        <p:spPr>
          <a:xfrm>
            <a:off x="884420" y="3927061"/>
            <a:ext cx="5211580" cy="330146"/>
          </a:xfrm>
          <a:prstGeom prst="rect">
            <a:avLst/>
          </a:prstGeom>
          <a:noFill/>
          <a:ln w="12700" cap="flat">
            <a:solidFill>
              <a:srgbClr val="FF0000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820009-0AE5-4276-ECEB-B9F63477C9A4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6096000" y="3373925"/>
            <a:ext cx="529652" cy="718209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F181ADD-2A79-B3DA-52AB-0AD29B0E6479}"/>
              </a:ext>
            </a:extLst>
          </p:cNvPr>
          <p:cNvSpPr txBox="1"/>
          <p:nvPr/>
        </p:nvSpPr>
        <p:spPr>
          <a:xfrm>
            <a:off x="6435043" y="3006374"/>
            <a:ext cx="1641475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 single statement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E8E354-FE95-9C4A-D9CC-1111101975A8}"/>
              </a:ext>
            </a:extLst>
          </p:cNvPr>
          <p:cNvSpPr/>
          <p:nvPr/>
        </p:nvSpPr>
        <p:spPr>
          <a:xfrm>
            <a:off x="604230" y="3706912"/>
            <a:ext cx="2888478" cy="2184221"/>
          </a:xfrm>
          <a:prstGeom prst="rect">
            <a:avLst/>
          </a:prstGeom>
          <a:noFill/>
          <a:ln w="12700" cap="flat">
            <a:solidFill>
              <a:schemeClr val="accent1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262562-2285-6D6C-A016-EDF9AAF8B0A8}"/>
              </a:ext>
            </a:extLst>
          </p:cNvPr>
          <p:cNvCxnSpPr>
            <a:cxnSpLocks/>
          </p:cNvCxnSpPr>
          <p:nvPr/>
        </p:nvCxnSpPr>
        <p:spPr>
          <a:xfrm flipH="1" flipV="1">
            <a:off x="2908092" y="5891133"/>
            <a:ext cx="1798819" cy="570052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CA6BFDC-795D-2A00-E47D-C651C5B385F0}"/>
              </a:ext>
            </a:extLst>
          </p:cNvPr>
          <p:cNvSpPr txBox="1"/>
          <p:nvPr/>
        </p:nvSpPr>
        <p:spPr>
          <a:xfrm>
            <a:off x="4777676" y="6231703"/>
            <a:ext cx="2072683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 compound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8A2DC2-DF76-3DEC-1BDB-DBE09A34E1C5}"/>
              </a:ext>
            </a:extLst>
          </p:cNvPr>
          <p:cNvSpPr txBox="1"/>
          <p:nvPr/>
        </p:nvSpPr>
        <p:spPr>
          <a:xfrm>
            <a:off x="545654" y="6476282"/>
            <a:ext cx="2739789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Gill Sans"/>
              </a:rPr>
              <a:t>*</a:t>
            </a:r>
            <a:r>
              <a:rPr lang="en-US" sz="1200">
                <a:sym typeface="Gill Sans"/>
              </a:rPr>
              <a:t>A</a:t>
            </a:r>
            <a:r>
              <a:rPr kumimoji="0" lang="en-US" sz="1200" b="0" i="0" u="none" strike="noStrike" cap="none" spc="0" normalizeH="0" baseline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Gill Sans"/>
              </a:rPr>
              <a:t>ny line of code you write is a statement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functions &amp; variable scope"/>
          <p:cNvSpPr txBox="1">
            <a:spLocks noGrp="1"/>
          </p:cNvSpPr>
          <p:nvPr>
            <p:ph type="title"/>
          </p:nvPr>
        </p:nvSpPr>
        <p:spPr>
          <a:xfrm>
            <a:off x="2291367" y="1753"/>
            <a:ext cx="9324846" cy="17145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F</a:t>
            </a:r>
            <a:r>
              <a:rPr err="1"/>
              <a:t>unctions</a:t>
            </a:r>
            <a:r>
              <a:t> &amp; variable scope</a:t>
            </a:r>
          </a:p>
        </p:txBody>
      </p:sp>
      <p:sp>
        <p:nvSpPr>
          <p:cNvPr id="151" name="'Usually, the local scope references the local names of the current function. Outside functions, the scope references the... module’s namespace. '…"/>
          <p:cNvSpPr txBox="1">
            <a:spLocks noGrp="1"/>
          </p:cNvSpPr>
          <p:nvPr>
            <p:ph type="body" idx="1"/>
          </p:nvPr>
        </p:nvSpPr>
        <p:spPr>
          <a:xfrm>
            <a:off x="523951" y="1946672"/>
            <a:ext cx="6144268" cy="2095715"/>
          </a:xfrm>
          <a:prstGeom prst="rect">
            <a:avLst/>
          </a:prstGeom>
        </p:spPr>
        <p:txBody>
          <a:bodyPr/>
          <a:lstStyle/>
          <a:p>
            <a:r>
              <a:rPr dirty="0"/>
              <a:t>'Usually, the local scope references the local names of the current function. Outside functions, the scope references the... module’s namespace. '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D6D20-2B80-2B8E-4DC7-3AD45B96CEB6}"/>
              </a:ext>
            </a:extLst>
          </p:cNvPr>
          <p:cNvSpPr txBox="1"/>
          <p:nvPr/>
        </p:nvSpPr>
        <p:spPr>
          <a:xfrm>
            <a:off x="6613355" y="2327550"/>
            <a:ext cx="5420149" cy="1384995"/>
          </a:xfrm>
          <a:prstGeom prst="rect">
            <a:avLst/>
          </a:prstGeom>
          <a:noFill/>
          <a:ln w="12700" cap="flat">
            <a:solidFill>
              <a:srgbClr val="00355F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1400" kern="0" dirty="0">
                <a:solidFill>
                  <a:srgbClr val="303DF0"/>
                </a:solidFill>
                <a:latin typeface="Courier"/>
                <a:sym typeface="Courier"/>
              </a:rPr>
              <a:t># First setup variables</a:t>
            </a: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1400" kern="0" dirty="0">
                <a:solidFill>
                  <a:srgbClr val="000000"/>
                </a:solidFill>
                <a:latin typeface="Courier"/>
                <a:sym typeface="Courier"/>
              </a:rPr>
              <a:t>C=3.0 × 10</a:t>
            </a:r>
            <a:r>
              <a:rPr lang="en-GB" sz="1400" kern="0" baseline="30000" dirty="0">
                <a:solidFill>
                  <a:srgbClr val="000000"/>
                </a:solidFill>
                <a:latin typeface="Courier"/>
                <a:sym typeface="Courier"/>
              </a:rPr>
              <a:t>8		      </a:t>
            </a:r>
            <a:r>
              <a:rPr lang="en-GB" sz="1400" kern="0" dirty="0">
                <a:solidFill>
                  <a:srgbClr val="303DF0"/>
                </a:solidFill>
                <a:latin typeface="Courier"/>
                <a:sym typeface="Courier"/>
              </a:rPr>
              <a:t>#speed of light</a:t>
            </a:r>
            <a:endParaRPr lang="en-GB" sz="1400" kern="0" baseline="30000" dirty="0">
              <a:solidFill>
                <a:srgbClr val="303DF0"/>
              </a:solidFill>
              <a:latin typeface="Courier"/>
              <a:sym typeface="Courier"/>
            </a:endParaRP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1400" kern="0" dirty="0" err="1">
                <a:solidFill>
                  <a:srgbClr val="000000"/>
                </a:solidFill>
                <a:latin typeface="Courier"/>
                <a:sym typeface="Courier"/>
              </a:rPr>
              <a:t>V_sound</a:t>
            </a:r>
            <a:r>
              <a:rPr lang="en-GB" sz="1400" kern="0" dirty="0">
                <a:solidFill>
                  <a:srgbClr val="000000"/>
                </a:solidFill>
                <a:latin typeface="Courier"/>
                <a:sym typeface="Courier"/>
              </a:rPr>
              <a:t> = 340		    </a:t>
            </a:r>
            <a:r>
              <a:rPr lang="en-GB" sz="1400" kern="0" dirty="0">
                <a:solidFill>
                  <a:srgbClr val="303DF0"/>
                </a:solidFill>
                <a:latin typeface="Courier"/>
                <a:sym typeface="Courier"/>
              </a:rPr>
              <a:t>#speed of sound</a:t>
            </a: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l-GR" sz="1400" kern="0" dirty="0">
                <a:solidFill>
                  <a:srgbClr val="000000"/>
                </a:solidFill>
                <a:latin typeface="Courier"/>
                <a:sym typeface="Courier"/>
              </a:rPr>
              <a:t>ϵ</a:t>
            </a:r>
            <a:r>
              <a:rPr lang="en-GB" sz="1400" kern="0" dirty="0">
                <a:solidFill>
                  <a:srgbClr val="000000"/>
                </a:solidFill>
                <a:latin typeface="Courier"/>
                <a:sym typeface="Courier"/>
              </a:rPr>
              <a:t>r= 8.854 x 10-12	    </a:t>
            </a:r>
            <a:r>
              <a:rPr lang="en-GB" sz="1400" kern="0" dirty="0">
                <a:solidFill>
                  <a:srgbClr val="303DF0"/>
                </a:solidFill>
                <a:latin typeface="Courier"/>
                <a:sym typeface="Courier"/>
              </a:rPr>
              <a:t>#Permittivity of free space</a:t>
            </a: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1400" kern="0" dirty="0" err="1">
                <a:latin typeface="Courier"/>
                <a:sym typeface="Courier"/>
              </a:rPr>
              <a:t>n_air</a:t>
            </a:r>
            <a:r>
              <a:rPr lang="en-GB" sz="1400" kern="0" dirty="0">
                <a:latin typeface="Courier"/>
                <a:sym typeface="Courier"/>
              </a:rPr>
              <a:t>= 1.0            </a:t>
            </a:r>
            <a:r>
              <a:rPr lang="en-GB" sz="1400" kern="0" dirty="0">
                <a:solidFill>
                  <a:srgbClr val="303DF0"/>
                </a:solidFill>
                <a:latin typeface="Courier"/>
                <a:sym typeface="Courier"/>
              </a:rPr>
              <a:t>#Refractive index air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5046BD-0FE0-3866-B621-4C5E01D04EA2}"/>
              </a:ext>
            </a:extLst>
          </p:cNvPr>
          <p:cNvSpPr txBox="1"/>
          <p:nvPr/>
        </p:nvSpPr>
        <p:spPr>
          <a:xfrm>
            <a:off x="862642" y="4301416"/>
            <a:ext cx="9307902" cy="19082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950" dirty="0"/>
              <a:t>i.e. function variables are in a 'black box' - and can't be seen outside. A </a:t>
            </a:r>
            <a:r>
              <a:rPr lang="en-GB" sz="2950" i="1" dirty="0"/>
              <a:t>good thing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950" dirty="0"/>
              <a:t>actually scope is a bit more subtle than that, but let's not go into that here.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EE3077E-BE47-4E41-2A81-C762B441BBE4}"/>
              </a:ext>
            </a:extLst>
          </p:cNvPr>
          <p:cNvCxnSpPr>
            <a:cxnSpLocks/>
          </p:cNvCxnSpPr>
          <p:nvPr/>
        </p:nvCxnSpPr>
        <p:spPr>
          <a:xfrm flipV="1">
            <a:off x="6607834" y="3712545"/>
            <a:ext cx="579350" cy="71072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AE42D0-910A-677F-2B62-6E29C6D39361}"/>
              </a:ext>
            </a:extLst>
          </p:cNvPr>
          <p:cNvSpPr txBox="1"/>
          <p:nvPr/>
        </p:nvSpPr>
        <p:spPr>
          <a:xfrm>
            <a:off x="7017775" y="3855234"/>
            <a:ext cx="2941253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Bl</a:t>
            </a:r>
            <a:r>
              <a:rPr lang="en-US" sz="1400" dirty="0">
                <a:solidFill>
                  <a:srgbClr val="000000"/>
                </a:solidFill>
                <a:sym typeface="Gill Sans"/>
              </a:rPr>
              <a:t>ack box as the variables don’t change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595D-65EA-668B-0BDB-60B043FD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1485966"/>
            <a:ext cx="9810750" cy="899708"/>
          </a:xfrm>
        </p:spPr>
        <p:txBody>
          <a:bodyPr/>
          <a:lstStyle/>
          <a:p>
            <a:r>
              <a:rPr lang="en-US" sz="3600" dirty="0"/>
              <a:t>Class Question…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5F471-15BE-A2C7-710C-20359009B3DF}"/>
              </a:ext>
            </a:extLst>
          </p:cNvPr>
          <p:cNvSpPr txBox="1"/>
          <p:nvPr/>
        </p:nvSpPr>
        <p:spPr>
          <a:xfrm>
            <a:off x="2562046" y="162907"/>
            <a:ext cx="9221637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marR="0" indent="-28575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Gill Sans"/>
              </a:rPr>
              <a:t>Function Variables are typically values that don’t change. Such as permittivity of free space, speed of sound, speed of light…</a:t>
            </a:r>
            <a:endParaRPr lang="en-US" sz="2000" dirty="0">
              <a:solidFill>
                <a:srgbClr val="000000"/>
              </a:solidFill>
              <a:sym typeface="Gill Sans"/>
            </a:endParaRPr>
          </a:p>
          <a:p>
            <a:pPr marL="285750" marR="0" indent="-28575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Gill Sans"/>
              </a:rPr>
              <a:t>These are usually the first thing that is defined within your code and are called within your equations later in your code.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B3D52-FEA5-F77C-1A56-D23F3A88A6EF}"/>
              </a:ext>
            </a:extLst>
          </p:cNvPr>
          <p:cNvSpPr txBox="1"/>
          <p:nvPr/>
        </p:nvSpPr>
        <p:spPr>
          <a:xfrm>
            <a:off x="560718" y="2989538"/>
            <a:ext cx="6612146" cy="2554545"/>
          </a:xfrm>
          <a:prstGeom prst="rect">
            <a:avLst/>
          </a:prstGeom>
          <a:noFill/>
          <a:ln w="12700" cap="flat">
            <a:solidFill>
              <a:srgbClr val="00355F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1600" kern="0" dirty="0">
                <a:solidFill>
                  <a:srgbClr val="303DF0"/>
                </a:solidFill>
                <a:latin typeface="Courier"/>
                <a:sym typeface="Courier"/>
              </a:rPr>
              <a:t># First setup variables</a:t>
            </a: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1600" kern="0" dirty="0" err="1">
                <a:latin typeface="Courier"/>
                <a:sym typeface="Courier"/>
              </a:rPr>
              <a:t>n_Zircon</a:t>
            </a:r>
            <a:r>
              <a:rPr lang="en-GB" sz="1600" kern="0" dirty="0">
                <a:latin typeface="Courier"/>
                <a:sym typeface="Courier"/>
              </a:rPr>
              <a:t>= 1.923           </a:t>
            </a:r>
            <a:r>
              <a:rPr lang="en-GB" sz="1600" kern="0" dirty="0">
                <a:solidFill>
                  <a:srgbClr val="303DF0"/>
                </a:solidFill>
                <a:latin typeface="Courier"/>
                <a:sym typeface="Courier"/>
              </a:rPr>
              <a:t>#Refractive index Zircon</a:t>
            </a: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1600" kern="0" dirty="0">
                <a:solidFill>
                  <a:srgbClr val="000000"/>
                </a:solidFill>
                <a:latin typeface="Courier"/>
                <a:sym typeface="Courier"/>
              </a:rPr>
              <a:t>C=3.0 × 10</a:t>
            </a:r>
            <a:r>
              <a:rPr lang="en-GB" sz="1600" kern="0" baseline="30000" dirty="0">
                <a:solidFill>
                  <a:srgbClr val="000000"/>
                </a:solidFill>
                <a:latin typeface="Courier"/>
                <a:sym typeface="Courier"/>
              </a:rPr>
              <a:t>8		              </a:t>
            </a:r>
            <a:r>
              <a:rPr lang="en-GB" sz="1600" kern="0" dirty="0">
                <a:solidFill>
                  <a:srgbClr val="303DF0"/>
                </a:solidFill>
                <a:latin typeface="Courier"/>
                <a:sym typeface="Courier"/>
              </a:rPr>
              <a:t>#speed of light</a:t>
            </a:r>
            <a:endParaRPr lang="en-GB" sz="1600" kern="0" baseline="30000" dirty="0">
              <a:solidFill>
                <a:srgbClr val="303DF0"/>
              </a:solidFill>
              <a:latin typeface="Courier"/>
              <a:sym typeface="Courier"/>
            </a:endParaRP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lang="en-GB" sz="16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lang="en-US" sz="16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600" kern="0" dirty="0">
                <a:solidFill>
                  <a:srgbClr val="000000"/>
                </a:solidFill>
                <a:latin typeface="Courier"/>
                <a:sym typeface="Courier"/>
              </a:rPr>
              <a:t>#equation for refractive index n=c/v</a:t>
            </a: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600" kern="0" dirty="0">
                <a:solidFill>
                  <a:srgbClr val="000000"/>
                </a:solidFill>
                <a:latin typeface="Courier"/>
                <a:sym typeface="Courier"/>
              </a:rPr>
              <a:t>#rearrange equation</a:t>
            </a: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1600" kern="0" dirty="0">
                <a:solidFill>
                  <a:srgbClr val="000000"/>
                </a:solidFill>
                <a:latin typeface="Courier"/>
                <a:sym typeface="Courier"/>
              </a:rPr>
              <a:t>v=C/</a:t>
            </a:r>
            <a:r>
              <a:rPr lang="en-US" sz="1600" kern="0" dirty="0" err="1">
                <a:solidFill>
                  <a:srgbClr val="000000"/>
                </a:solidFill>
                <a:latin typeface="Courier"/>
                <a:sym typeface="Courier"/>
              </a:rPr>
              <a:t>n_zircon</a:t>
            </a:r>
            <a:endParaRPr lang="en-US" sz="16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lang="en-GB" sz="16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marL="0" lvl="1" indent="24986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1600" kern="0" dirty="0">
                <a:solidFill>
                  <a:srgbClr val="000000"/>
                </a:solidFill>
                <a:latin typeface="Courier"/>
                <a:sym typeface="Courier"/>
              </a:rPr>
              <a:t>print(‘v’)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9775EC-4527-67F0-6F41-481902500176}"/>
              </a:ext>
            </a:extLst>
          </p:cNvPr>
          <p:cNvSpPr txBox="1"/>
          <p:nvPr/>
        </p:nvSpPr>
        <p:spPr>
          <a:xfrm>
            <a:off x="560718" y="2385297"/>
            <a:ext cx="781553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Calculate the speed of light in zircon, a material used in jewellery to imitate diamond.</a:t>
            </a:r>
          </a:p>
          <a:p>
            <a:pPr algn="l"/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The equation for the index of refraction is n=c/v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75BAF-AFCC-2B04-4FB6-E7FA930065EB}"/>
              </a:ext>
            </a:extLst>
          </p:cNvPr>
          <p:cNvSpPr txBox="1"/>
          <p:nvPr/>
        </p:nvSpPr>
        <p:spPr>
          <a:xfrm>
            <a:off x="8798945" y="2385296"/>
            <a:ext cx="207896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Function variable</a:t>
            </a:r>
          </a:p>
          <a:p>
            <a:pPr algn="l"/>
            <a:r>
              <a:rPr kumimoji="0" lang="en-US" sz="16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n_zircon</a:t>
            </a: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= 1.923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122B94-B686-33F5-1929-E110D128E387}"/>
              </a:ext>
            </a:extLst>
          </p:cNvPr>
          <p:cNvSpPr/>
          <p:nvPr/>
        </p:nvSpPr>
        <p:spPr>
          <a:xfrm>
            <a:off x="649224" y="5639637"/>
            <a:ext cx="1912822" cy="65659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Terminal Window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sym typeface="Gill Sans"/>
              </a:rPr>
              <a:t>Error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2CC3F5-6F13-B5A0-70DB-2C121D86DBE4}"/>
              </a:ext>
            </a:extLst>
          </p:cNvPr>
          <p:cNvSpPr/>
          <p:nvPr/>
        </p:nvSpPr>
        <p:spPr>
          <a:xfrm>
            <a:off x="3003200" y="5838150"/>
            <a:ext cx="4169664" cy="841256"/>
          </a:xfrm>
          <a:prstGeom prst="rect">
            <a:avLst/>
          </a:prstGeom>
          <a:solidFill>
            <a:srgbClr val="00355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What is wrong with the code here? 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9FDFAE8A-325E-042B-AF3F-F8AFE02FFB77}"/>
              </a:ext>
            </a:extLst>
          </p:cNvPr>
          <p:cNvSpPr/>
          <p:nvPr/>
        </p:nvSpPr>
        <p:spPr>
          <a:xfrm rot="8385871">
            <a:off x="3695214" y="4953247"/>
            <a:ext cx="343153" cy="811643"/>
          </a:xfrm>
          <a:prstGeom prst="downArrow">
            <a:avLst/>
          </a:prstGeom>
          <a:solidFill>
            <a:srgbClr val="00355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0483AE-81CF-6A66-81AA-8AF9DEDFE58B}"/>
              </a:ext>
            </a:extLst>
          </p:cNvPr>
          <p:cNvSpPr/>
          <p:nvPr/>
        </p:nvSpPr>
        <p:spPr>
          <a:xfrm>
            <a:off x="7526432" y="3879284"/>
            <a:ext cx="4169664" cy="471924"/>
          </a:xfrm>
          <a:prstGeom prst="rect">
            <a:avLst/>
          </a:prstGeom>
          <a:solidFill>
            <a:srgbClr val="00355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Clue : Think to variables lecture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882085-2B52-DD6A-3EAF-64AE69D69B53}"/>
              </a:ext>
            </a:extLst>
          </p:cNvPr>
          <p:cNvSpPr/>
          <p:nvPr/>
        </p:nvSpPr>
        <p:spPr>
          <a:xfrm>
            <a:off x="7526432" y="5250160"/>
            <a:ext cx="4169664" cy="841256"/>
          </a:xfrm>
          <a:prstGeom prst="rect">
            <a:avLst/>
          </a:prstGeom>
          <a:solidFill>
            <a:srgbClr val="00355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Answer: spelling of variables for </a:t>
            </a:r>
            <a:r>
              <a:rPr kumimoji="0" lang="en-US" sz="24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n_zircon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 versus </a:t>
            </a:r>
            <a:r>
              <a:rPr kumimoji="0" lang="en-US" sz="24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n_Zircon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0E384C-CF94-01B7-9200-D6C4863DDC12}"/>
              </a:ext>
            </a:extLst>
          </p:cNvPr>
          <p:cNvSpPr txBox="1"/>
          <p:nvPr/>
        </p:nvSpPr>
        <p:spPr>
          <a:xfrm>
            <a:off x="7747227" y="4554261"/>
            <a:ext cx="359822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Next click reveals answer…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DA6CD0-FAA0-60C8-468F-69CABC7AE20E}"/>
              </a:ext>
            </a:extLst>
          </p:cNvPr>
          <p:cNvSpPr txBox="1"/>
          <p:nvPr/>
        </p:nvSpPr>
        <p:spPr>
          <a:xfrm>
            <a:off x="8270350" y="6182408"/>
            <a:ext cx="2551981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Gill Sans"/>
              </a:rPr>
              <a:t>This will help in debugging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Gill Sans"/>
              </a:rPr>
              <a:t> code to</a:t>
            </a:r>
            <a:r>
              <a:rPr kumimoji="0" lang="en-US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Gill Sans"/>
              </a:rPr>
              <a:t> fix </a:t>
            </a:r>
            <a:r>
              <a:rPr lang="en-US" dirty="0">
                <a:solidFill>
                  <a:srgbClr val="000000"/>
                </a:solidFill>
                <a:sym typeface="Gill Sans"/>
              </a:rPr>
              <a:t>errors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9972942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Decision making"/>
          <p:cNvSpPr txBox="1">
            <a:spLocks noGrp="1"/>
          </p:cNvSpPr>
          <p:nvPr>
            <p:ph type="ctrTitle"/>
          </p:nvPr>
        </p:nvSpPr>
        <p:spPr>
          <a:xfrm>
            <a:off x="1057275" y="-549883"/>
            <a:ext cx="9810750" cy="2321719"/>
          </a:xfrm>
          <a:prstGeom prst="rect">
            <a:avLst/>
          </a:prstGeom>
        </p:spPr>
        <p:txBody>
          <a:bodyPr/>
          <a:lstStyle/>
          <a:p>
            <a:r>
              <a:rPr dirty="0"/>
              <a:t>Decision making</a:t>
            </a:r>
          </a:p>
        </p:txBody>
      </p:sp>
      <p:sp>
        <p:nvSpPr>
          <p:cNvPr id="154" name="“Operations of thought are like cavalry charges in a battle—they are strictly limited in number, they require fresh horses, and must only be made at  decisive moments”                Alfred North Whitehead 1861-1947"/>
          <p:cNvSpPr txBox="1">
            <a:spLocks noGrp="1"/>
          </p:cNvSpPr>
          <p:nvPr>
            <p:ph type="subTitle" sz="half" idx="1"/>
          </p:nvPr>
        </p:nvSpPr>
        <p:spPr>
          <a:xfrm>
            <a:off x="2416968" y="2191122"/>
            <a:ext cx="7358063" cy="2009180"/>
          </a:xfrm>
          <a:prstGeom prst="rect">
            <a:avLst/>
          </a:prstGeom>
        </p:spPr>
        <p:txBody>
          <a:bodyPr/>
          <a:lstStyle/>
          <a:p>
            <a:pPr lvl="1" algn="l"/>
            <a:r>
              <a:rPr dirty="0"/>
              <a:t>“Operations of thought are like cavalry charges in a battle—they are strictly limited in number, they require fresh horses, and must only be made at </a:t>
            </a:r>
            <a:br>
              <a:rPr dirty="0"/>
            </a:br>
            <a:r>
              <a:rPr dirty="0"/>
              <a:t>decisive moments” </a:t>
            </a:r>
            <a:br>
              <a:rPr dirty="0"/>
            </a:br>
            <a:r>
              <a:rPr dirty="0"/>
              <a:t>              Alfred North Whitehead 1861-1947</a:t>
            </a:r>
          </a:p>
        </p:txBody>
      </p:sp>
      <p:pic>
        <p:nvPicPr>
          <p:cNvPr id="155" name="Whitehead1.jpg" descr="Alfred North Whitehea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183" y="3519562"/>
            <a:ext cx="1955602" cy="2200052"/>
          </a:xfrm>
          <a:prstGeom prst="rect">
            <a:avLst/>
          </a:prstGeom>
          <a:ln w="12700">
            <a:miter lim="400000"/>
          </a:ln>
          <a:effectLst>
            <a:outerShdw blurRad="127000" dist="76200" dir="12420000" rotWithShape="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if statements"/>
          <p:cNvSpPr txBox="1">
            <a:spLocks noGrp="1"/>
          </p:cNvSpPr>
          <p:nvPr>
            <p:ph type="title"/>
          </p:nvPr>
        </p:nvSpPr>
        <p:spPr>
          <a:xfrm>
            <a:off x="2247900" y="0"/>
            <a:ext cx="7143750" cy="1472803"/>
          </a:xfrm>
          <a:prstGeom prst="rect">
            <a:avLst/>
          </a:prstGeom>
        </p:spPr>
        <p:txBody>
          <a:bodyPr/>
          <a:lstStyle/>
          <a:p>
            <a:r>
              <a:rPr i="1" dirty="0"/>
              <a:t>if</a:t>
            </a:r>
            <a:r>
              <a:rPr dirty="0"/>
              <a:t> statements</a:t>
            </a:r>
          </a:p>
        </p:txBody>
      </p:sp>
      <p:sp>
        <p:nvSpPr>
          <p:cNvPr id="158" name="consider again the example of finding quadratic equation roots.…"/>
          <p:cNvSpPr txBox="1">
            <a:spLocks noGrp="1"/>
          </p:cNvSpPr>
          <p:nvPr>
            <p:ph type="body" idx="1"/>
          </p:nvPr>
        </p:nvSpPr>
        <p:spPr>
          <a:xfrm>
            <a:off x="960062" y="1924566"/>
            <a:ext cx="10664855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consider again the example of finding quadratic equation roots.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discrim</a:t>
            </a:r>
            <a:r>
              <a:rPr dirty="0"/>
              <a:t> = pow(coeff_2,2) - 4*coeff_1*coeff_3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denom</a:t>
            </a:r>
            <a:r>
              <a:rPr dirty="0"/>
              <a:t> = 2*coeff_1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root_1 = (-b + sqrt(</a:t>
            </a:r>
            <a:r>
              <a:rPr dirty="0" err="1"/>
              <a:t>discrim</a:t>
            </a:r>
            <a:r>
              <a:rPr dirty="0"/>
              <a:t>))/</a:t>
            </a:r>
            <a:r>
              <a:rPr dirty="0" err="1"/>
              <a:t>denom</a:t>
            </a:r>
            <a:endParaRPr dirty="0"/>
          </a:p>
          <a:p>
            <a:pPr marL="401822"/>
            <a:r>
              <a:rPr dirty="0"/>
              <a:t>real roots only exist if the discriminant is positive.</a:t>
            </a:r>
          </a:p>
          <a:p>
            <a:pPr marL="401822"/>
            <a:r>
              <a:rPr dirty="0"/>
              <a:t>in an algorithm we should be able to make logical decisions based on our calculations.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8F1FF3-AC49-FC11-4D34-8F7C2480BCEC}"/>
              </a:ext>
            </a:extLst>
          </p:cNvPr>
          <p:cNvSpPr txBox="1"/>
          <p:nvPr/>
        </p:nvSpPr>
        <p:spPr>
          <a:xfrm>
            <a:off x="292680" y="6198298"/>
            <a:ext cx="1160663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0000"/>
                </a:solidFill>
                <a:sym typeface="Gill Sans"/>
              </a:rPr>
              <a:t>Mastering if statements will make life easier throughout your programming career as they are used everywhere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if statements"/>
          <p:cNvSpPr txBox="1">
            <a:spLocks noGrp="1"/>
          </p:cNvSpPr>
          <p:nvPr>
            <p:ph type="title"/>
          </p:nvPr>
        </p:nvSpPr>
        <p:spPr>
          <a:xfrm>
            <a:off x="1190625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i="1"/>
              <a:t>if</a:t>
            </a:r>
            <a:r>
              <a:t> statements</a:t>
            </a:r>
          </a:p>
        </p:txBody>
      </p:sp>
      <p:sp>
        <p:nvSpPr>
          <p:cNvPr id="163" name="would like to do this, for people who haven't learned about complex numbers :…"/>
          <p:cNvSpPr txBox="1">
            <a:spLocks noGrp="1"/>
          </p:cNvSpPr>
          <p:nvPr>
            <p:ph type="body" idx="1"/>
          </p:nvPr>
        </p:nvSpPr>
        <p:spPr>
          <a:xfrm>
            <a:off x="514351" y="1565672"/>
            <a:ext cx="11610974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would like to do this, for people who haven't learned about complex numbers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discrim</a:t>
            </a:r>
            <a:r>
              <a:rPr dirty="0"/>
              <a:t> = pow(coeff_2,2) - 4*coeff_1*coeff_3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denom</a:t>
            </a:r>
            <a:r>
              <a:rPr dirty="0"/>
              <a:t> = 2*coeff_1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if (</a:t>
            </a:r>
            <a:r>
              <a:rPr dirty="0" err="1"/>
              <a:t>discrim</a:t>
            </a:r>
            <a:r>
              <a:rPr dirty="0"/>
              <a:t> &lt; 0):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print(“no real roots”)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break   # terminates program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else: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root_1 = (-b + sqrt(</a:t>
            </a:r>
            <a:r>
              <a:rPr dirty="0" err="1"/>
              <a:t>discrim</a:t>
            </a:r>
            <a:r>
              <a:rPr dirty="0"/>
              <a:t>))/</a:t>
            </a:r>
            <a:r>
              <a:rPr dirty="0" err="1"/>
              <a:t>denom</a:t>
            </a:r>
            <a:endParaRPr dirty="0"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root_2 = (-b - sqrt(</a:t>
            </a:r>
            <a:r>
              <a:rPr dirty="0" err="1"/>
              <a:t>discrim</a:t>
            </a:r>
            <a:r>
              <a:rPr dirty="0"/>
              <a:t>))/</a:t>
            </a:r>
            <a:r>
              <a:rPr dirty="0" err="1"/>
              <a:t>denom</a:t>
            </a:r>
            <a:endParaRPr dirty="0"/>
          </a:p>
          <a:p>
            <a:pPr marL="401822"/>
            <a:r>
              <a:rPr dirty="0"/>
              <a:t>and indeed we can ☺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election statements take three forms:…"/>
          <p:cNvSpPr txBox="1">
            <a:spLocks noGrp="1"/>
          </p:cNvSpPr>
          <p:nvPr>
            <p:ph type="body" idx="1"/>
          </p:nvPr>
        </p:nvSpPr>
        <p:spPr>
          <a:xfrm>
            <a:off x="2416969" y="1946672"/>
            <a:ext cx="7358063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Selection statements take three forms:</a:t>
            </a:r>
          </a:p>
          <a:p>
            <a:pPr marL="401822"/>
            <a:r>
              <a:rPr dirty="0"/>
              <a:t>single selection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if (</a:t>
            </a:r>
            <a:r>
              <a:rPr dirty="0" err="1"/>
              <a:t>att</a:t>
            </a:r>
            <a:r>
              <a:rPr dirty="0"/>
              <a:t> &lt; 75):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grade = “CR”</a:t>
            </a:r>
          </a:p>
          <a:p>
            <a:pPr marL="401822"/>
            <a:r>
              <a:rPr dirty="0"/>
              <a:t>double selection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if (marks &lt; 40):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passed = 0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else: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passed = 1</a:t>
            </a:r>
          </a:p>
          <a:p>
            <a:pPr marL="401822"/>
            <a:r>
              <a:rPr dirty="0"/>
              <a:t>indentation tells how much is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dirty="0"/>
              <a:t> or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else</a:t>
            </a:r>
          </a:p>
        </p:txBody>
      </p:sp>
      <p:sp>
        <p:nvSpPr>
          <p:cNvPr id="168" name="Callout" descr="note the colon"/>
          <p:cNvSpPr/>
          <p:nvPr/>
        </p:nvSpPr>
        <p:spPr>
          <a:xfrm>
            <a:off x="4744827" y="4768454"/>
            <a:ext cx="3845068" cy="564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62" y="0"/>
                </a:moveTo>
                <a:cubicBezTo>
                  <a:pt x="13624" y="0"/>
                  <a:pt x="13025" y="3896"/>
                  <a:pt x="12969" y="8830"/>
                </a:cubicBezTo>
                <a:lnTo>
                  <a:pt x="0" y="21600"/>
                </a:lnTo>
                <a:lnTo>
                  <a:pt x="13118" y="15631"/>
                </a:lnTo>
                <a:cubicBezTo>
                  <a:pt x="13351" y="18714"/>
                  <a:pt x="13818" y="20842"/>
                  <a:pt x="14362" y="20842"/>
                </a:cubicBezTo>
                <a:lnTo>
                  <a:pt x="20195" y="20842"/>
                </a:lnTo>
                <a:cubicBezTo>
                  <a:pt x="20971" y="20842"/>
                  <a:pt x="21600" y="16559"/>
                  <a:pt x="21600" y="11275"/>
                </a:cubicBezTo>
                <a:lnTo>
                  <a:pt x="21600" y="9567"/>
                </a:lnTo>
                <a:cubicBezTo>
                  <a:pt x="21600" y="4283"/>
                  <a:pt x="20971" y="0"/>
                  <a:pt x="20195" y="0"/>
                </a:cubicBezTo>
                <a:lnTo>
                  <a:pt x="14362" y="0"/>
                </a:lnTo>
                <a:close/>
              </a:path>
            </a:pathLst>
          </a:custGeom>
          <a:blipFill>
            <a:blip r:embed="rId3"/>
          </a:blip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169" name="Callout" descr="note the colon and lack of 'then'"/>
          <p:cNvSpPr/>
          <p:nvPr/>
        </p:nvSpPr>
        <p:spPr>
          <a:xfrm>
            <a:off x="5988786" y="2808921"/>
            <a:ext cx="5019880" cy="564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001" y="0"/>
                </a:moveTo>
                <a:cubicBezTo>
                  <a:pt x="10435" y="0"/>
                  <a:pt x="9977" y="3896"/>
                  <a:pt x="9934" y="8830"/>
                </a:cubicBezTo>
                <a:lnTo>
                  <a:pt x="0" y="21600"/>
                </a:lnTo>
                <a:lnTo>
                  <a:pt x="10048" y="15631"/>
                </a:lnTo>
                <a:cubicBezTo>
                  <a:pt x="10226" y="18714"/>
                  <a:pt x="10584" y="20842"/>
                  <a:pt x="11001" y="20842"/>
                </a:cubicBezTo>
                <a:lnTo>
                  <a:pt x="20524" y="20842"/>
                </a:lnTo>
                <a:cubicBezTo>
                  <a:pt x="21118" y="20842"/>
                  <a:pt x="21600" y="16559"/>
                  <a:pt x="21600" y="11275"/>
                </a:cubicBezTo>
                <a:lnTo>
                  <a:pt x="21600" y="9567"/>
                </a:lnTo>
                <a:cubicBezTo>
                  <a:pt x="21600" y="4283"/>
                  <a:pt x="21118" y="0"/>
                  <a:pt x="20524" y="0"/>
                </a:cubicBezTo>
                <a:lnTo>
                  <a:pt x="11001" y="0"/>
                </a:lnTo>
                <a:close/>
              </a:path>
            </a:pathLst>
          </a:custGeom>
          <a:blipFill>
            <a:blip r:embed="rId3"/>
          </a:blip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170" name="if statements"/>
          <p:cNvSpPr txBox="1">
            <a:spLocks noGrp="1"/>
          </p:cNvSpPr>
          <p:nvPr>
            <p:ph type="title"/>
          </p:nvPr>
        </p:nvSpPr>
        <p:spPr>
          <a:xfrm>
            <a:off x="1276889" y="-99368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i="1"/>
              <a:t>if</a:t>
            </a:r>
            <a:r>
              <a:t> statements</a:t>
            </a:r>
          </a:p>
        </p:txBody>
      </p:sp>
      <p:sp>
        <p:nvSpPr>
          <p:cNvPr id="171" name="note ':', no ‘then’"/>
          <p:cNvSpPr txBox="1"/>
          <p:nvPr/>
        </p:nvSpPr>
        <p:spPr>
          <a:xfrm>
            <a:off x="8263902" y="2810379"/>
            <a:ext cx="2705870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note ':', no ‘then’</a:t>
            </a:r>
          </a:p>
        </p:txBody>
      </p:sp>
      <p:sp>
        <p:nvSpPr>
          <p:cNvPr id="172" name="note ':'"/>
          <p:cNvSpPr txBox="1"/>
          <p:nvPr/>
        </p:nvSpPr>
        <p:spPr>
          <a:xfrm>
            <a:off x="7304874" y="4715023"/>
            <a:ext cx="1139736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note ':'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if statements"/>
          <p:cNvSpPr txBox="1">
            <a:spLocks noGrp="1"/>
          </p:cNvSpPr>
          <p:nvPr>
            <p:ph type="title"/>
          </p:nvPr>
        </p:nvSpPr>
        <p:spPr>
          <a:xfrm>
            <a:off x="2562225" y="-166688"/>
            <a:ext cx="7439025" cy="1888331"/>
          </a:xfrm>
          <a:prstGeom prst="rect">
            <a:avLst/>
          </a:prstGeom>
        </p:spPr>
        <p:txBody>
          <a:bodyPr/>
          <a:lstStyle/>
          <a:p>
            <a:r>
              <a:rPr i="1"/>
              <a:t>if</a:t>
            </a:r>
            <a:r>
              <a:t> statements</a:t>
            </a:r>
          </a:p>
        </p:txBody>
      </p:sp>
      <p:sp>
        <p:nvSpPr>
          <p:cNvPr id="177" name="with multiple statements, the third type, the formatting is done like this:…"/>
          <p:cNvSpPr txBox="1">
            <a:spLocks noGrp="1"/>
          </p:cNvSpPr>
          <p:nvPr>
            <p:ph type="body" idx="1"/>
          </p:nvPr>
        </p:nvSpPr>
        <p:spPr>
          <a:xfrm>
            <a:off x="2190750" y="1594247"/>
            <a:ext cx="8993981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with multiple statements, the third type, the formatting is done like this: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if (&lt;expression1&gt;):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statements indented by 4 spaces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when &lt;expression1&gt; true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elif</a:t>
            </a:r>
            <a:r>
              <a:rPr dirty="0"/>
              <a:t> (&lt;expression2&gt;):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statements indented by 4 spaces</a:t>
            </a:r>
            <a:br>
              <a:rPr dirty="0"/>
            </a:br>
            <a:r>
              <a:rPr dirty="0"/>
              <a:t># when &lt;exp2&gt; true but &lt;exp1&gt; false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else: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statements indented by 4 spaces</a:t>
            </a:r>
            <a:br>
              <a:rPr dirty="0"/>
            </a:br>
            <a:r>
              <a:rPr dirty="0"/>
              <a:t># when both expressions false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if statements"/>
          <p:cNvSpPr txBox="1">
            <a:spLocks noGrp="1"/>
          </p:cNvSpPr>
          <p:nvPr>
            <p:ph type="title"/>
          </p:nvPr>
        </p:nvSpPr>
        <p:spPr>
          <a:xfrm>
            <a:off x="2334596" y="0"/>
            <a:ext cx="6810375" cy="1535906"/>
          </a:xfrm>
          <a:prstGeom prst="rect">
            <a:avLst/>
          </a:prstGeom>
        </p:spPr>
        <p:txBody>
          <a:bodyPr/>
          <a:lstStyle/>
          <a:p>
            <a:r>
              <a:rPr i="1"/>
              <a:t>if</a:t>
            </a:r>
            <a:r>
              <a:t> statements</a:t>
            </a:r>
          </a:p>
        </p:txBody>
      </p:sp>
      <p:sp>
        <p:nvSpPr>
          <p:cNvPr id="182" name="note that in Python you must indent for code to work properly. It forces you to be good!…"/>
          <p:cNvSpPr txBox="1">
            <a:spLocks noGrp="1"/>
          </p:cNvSpPr>
          <p:nvPr>
            <p:ph type="body" sz="half" idx="1"/>
          </p:nvPr>
        </p:nvSpPr>
        <p:spPr>
          <a:xfrm>
            <a:off x="810599" y="1800764"/>
            <a:ext cx="10894892" cy="17145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note that in Python you </a:t>
            </a:r>
            <a:r>
              <a:rPr i="1" dirty="0"/>
              <a:t>must</a:t>
            </a:r>
            <a:r>
              <a:rPr dirty="0"/>
              <a:t> indent for code to work properly. It </a:t>
            </a:r>
            <a:r>
              <a:rPr i="1" dirty="0"/>
              <a:t>forces</a:t>
            </a:r>
            <a:r>
              <a:rPr dirty="0"/>
              <a:t> you to be good!</a:t>
            </a:r>
          </a:p>
          <a:p>
            <a:pPr marL="401822"/>
            <a:r>
              <a:rPr dirty="0"/>
              <a:t>these both work, but the second is neater</a:t>
            </a:r>
          </a:p>
        </p:txBody>
      </p:sp>
      <p:sp>
        <p:nvSpPr>
          <p:cNvPr id="183" name="if (marks&lt;=50):…"/>
          <p:cNvSpPr txBox="1"/>
          <p:nvPr/>
        </p:nvSpPr>
        <p:spPr>
          <a:xfrm>
            <a:off x="2334596" y="3751898"/>
            <a:ext cx="3525645" cy="240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if (marks&lt;=50):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grade=’D’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err="1">
                <a:solidFill>
                  <a:srgbClr val="000000"/>
                </a:solidFill>
                <a:latin typeface="Courier"/>
                <a:sym typeface="Courier"/>
              </a:rPr>
              <a:t>elif</a:t>
            </a: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(marks&lt;=59):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grade=’C’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else: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if (marks&lt;=69): 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    grade=’B’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else: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    grade=’A’</a:t>
            </a:r>
          </a:p>
        </p:txBody>
      </p:sp>
      <p:sp>
        <p:nvSpPr>
          <p:cNvPr id="184" name="if (marks&lt;=50):…"/>
          <p:cNvSpPr txBox="1"/>
          <p:nvPr/>
        </p:nvSpPr>
        <p:spPr>
          <a:xfrm>
            <a:off x="6424393" y="3881710"/>
            <a:ext cx="3265959" cy="214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if (marks&lt;=50):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grade=’D’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elif (marks&lt;=59):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grade=’C’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elif (marks&lt;=69): 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grade=’B’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else:</a:t>
            </a:r>
          </a:p>
          <a:p>
            <a:pPr marL="0" lvl="2" indent="848290"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grade=’A’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2393991-22A9-4B39-2238-4836EA6F3469}"/>
              </a:ext>
            </a:extLst>
          </p:cNvPr>
          <p:cNvCxnSpPr>
            <a:cxnSpLocks/>
            <a:stCxn id="182" idx="1"/>
          </p:cNvCxnSpPr>
          <p:nvPr/>
        </p:nvCxnSpPr>
        <p:spPr>
          <a:xfrm rot="10800000" flipV="1">
            <a:off x="486509" y="2658014"/>
            <a:ext cx="324090" cy="3601586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2B1B130-8E46-7F9E-225B-67183768FF82}"/>
              </a:ext>
            </a:extLst>
          </p:cNvPr>
          <p:cNvSpPr txBox="1"/>
          <p:nvPr/>
        </p:nvSpPr>
        <p:spPr>
          <a:xfrm>
            <a:off x="247500" y="6259600"/>
            <a:ext cx="10291985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Good to point this out when debugging as this is one of the most common errors when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practising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if statements"/>
          <p:cNvSpPr txBox="1">
            <a:spLocks noGrp="1"/>
          </p:cNvSpPr>
          <p:nvPr>
            <p:ph type="title"/>
          </p:nvPr>
        </p:nvSpPr>
        <p:spPr>
          <a:xfrm>
            <a:off x="1190625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i="1"/>
              <a:t>if</a:t>
            </a:r>
            <a:r>
              <a:t> statements</a:t>
            </a:r>
          </a:p>
        </p:txBody>
      </p:sp>
      <p:sp>
        <p:nvSpPr>
          <p:cNvPr id="189" name="another example - probably wrong :…"/>
          <p:cNvSpPr txBox="1">
            <a:spLocks noGrp="1"/>
          </p:cNvSpPr>
          <p:nvPr>
            <p:ph type="body" idx="1"/>
          </p:nvPr>
        </p:nvSpPr>
        <p:spPr>
          <a:xfrm>
            <a:off x="542925" y="1518047"/>
            <a:ext cx="11277600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 dirty="0"/>
              <a:t>another example - probably wrong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if (marks&gt;40):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if (marks&gt;69): 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 print(“distinction”)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else: 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 print(“sorry, repeat the course”)</a:t>
            </a:r>
          </a:p>
          <a:p>
            <a:pPr marL="401822"/>
            <a:r>
              <a:rPr sz="2200" dirty="0"/>
              <a:t>and probably correct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if (marks&gt;40):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if (marks&gt;69)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    print(“distinction”)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else: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print(“sorry, repeat the course”)</a:t>
            </a:r>
          </a:p>
          <a:p>
            <a:pPr marL="401822"/>
            <a:r>
              <a:rPr sz="2200" dirty="0"/>
              <a:t>always use a full set of braces.</a:t>
            </a:r>
          </a:p>
        </p:txBody>
      </p:sp>
      <p:pic>
        <p:nvPicPr>
          <p:cNvPr id="1026" name="Picture 2" descr="How to Grade Papers and Assignments When Homeschooling">
            <a:extLst>
              <a:ext uri="{FF2B5EF4-FFF2-40B4-BE49-F238E27FC236}">
                <a16:creationId xmlns:a16="http://schemas.microsoft.com/office/drawing/2014/main" id="{4FA8C329-251E-E2C0-85AA-EB1A7D77E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620" y="3965944"/>
            <a:ext cx="3839905" cy="255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5240-3F63-8BC3-7DE9-EE9A644D6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9963" y="178594"/>
            <a:ext cx="8521411" cy="902061"/>
          </a:xfrm>
        </p:spPr>
        <p:txBody>
          <a:bodyPr/>
          <a:lstStyle/>
          <a:p>
            <a:r>
              <a:rPr lang="en-US" sz="4000" dirty="0"/>
              <a:t>Money Management Example</a:t>
            </a:r>
          </a:p>
        </p:txBody>
      </p:sp>
      <p:pic>
        <p:nvPicPr>
          <p:cNvPr id="5" name="Picture 4" descr="Stacks of gold coins">
            <a:extLst>
              <a:ext uri="{FF2B5EF4-FFF2-40B4-BE49-F238E27FC236}">
                <a16:creationId xmlns:a16="http://schemas.microsoft.com/office/drawing/2014/main" id="{AC1CA3C4-608A-FC6A-B955-A459CF4AB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845" y="1184562"/>
            <a:ext cx="3939019" cy="262601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F6A64-4D6F-B969-6F32-EF40E1BFE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910" y="1413164"/>
            <a:ext cx="11305308" cy="5266242"/>
          </a:xfrm>
        </p:spPr>
        <p:txBody>
          <a:bodyPr/>
          <a:lstStyle/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#A relatable example to help where you figure out your ingoing </a:t>
            </a: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and </a:t>
            </a:r>
            <a:r>
              <a:rPr lang="en-US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ougoings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#Setup Variables first</a:t>
            </a: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Rent = 600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#My rent costs £600 for my flat</a:t>
            </a: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Dan_Cost_of_Living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600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#Cost of living crisis</a:t>
            </a: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Beer=6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#West End prices of beer is expensive…</a:t>
            </a: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Dan_Salary_Per_Month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£1500</a:t>
            </a:r>
            <a:b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Beer Number = X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Insert number of beers I have here…</a:t>
            </a:r>
          </a:p>
          <a:p>
            <a:pPr marL="223234" indent="0">
              <a:spcBef>
                <a:spcPts val="0"/>
              </a:spcBef>
              <a:buNone/>
            </a:pP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student@UoG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			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#As long as I am a student I will have the salary</a:t>
            </a: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#Calculate costs out my bank account</a:t>
            </a: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Dan_Outgoings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Dan_Salary_Per_Month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(Rent -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Dan_Cost_of_Living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X*Beer)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3234" indent="0">
              <a:spcBef>
                <a:spcPts val="0"/>
              </a:spcBef>
              <a:buNone/>
            </a:pP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Dan_Outgoings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Dan_Salary_Per_Month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 spend more money than goes in my account here…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print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’Dan you’re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…’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Skint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Scottish for little or no money available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3234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Dan_Outgoings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Dan_Salary_Per_Month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 spend less money than goes in my account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3234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print (‘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You’ve saved some money-&gt; Can afford more beer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162996087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while loops"/>
          <p:cNvSpPr txBox="1">
            <a:spLocks noGrp="1"/>
          </p:cNvSpPr>
          <p:nvPr>
            <p:ph type="ctrTitle"/>
          </p:nvPr>
        </p:nvSpPr>
        <p:spPr>
          <a:xfrm>
            <a:off x="1190625" y="207814"/>
            <a:ext cx="9810750" cy="1173792"/>
          </a:xfrm>
          <a:prstGeom prst="rect">
            <a:avLst/>
          </a:prstGeom>
        </p:spPr>
        <p:txBody>
          <a:bodyPr/>
          <a:lstStyle/>
          <a:p>
            <a:r>
              <a:rPr lang="en-GB"/>
              <a:t>W</a:t>
            </a:r>
            <a:r>
              <a:rPr err="1"/>
              <a:t>hile</a:t>
            </a:r>
            <a:r>
              <a:t> </a:t>
            </a:r>
            <a:r>
              <a:rPr lang="en-GB"/>
              <a:t>L</a:t>
            </a:r>
            <a:r>
              <a:t>oops</a:t>
            </a:r>
          </a:p>
        </p:txBody>
      </p:sp>
      <p:sp>
        <p:nvSpPr>
          <p:cNvPr id="194" name="(repetition, repetition, repetition, repetition…)"/>
          <p:cNvSpPr txBox="1">
            <a:spLocks noGrp="1"/>
          </p:cNvSpPr>
          <p:nvPr>
            <p:ph type="subTitle" sz="quarter" idx="1"/>
          </p:nvPr>
        </p:nvSpPr>
        <p:spPr>
          <a:xfrm>
            <a:off x="1190625" y="1444113"/>
            <a:ext cx="9810750" cy="794742"/>
          </a:xfrm>
          <a:prstGeom prst="rect">
            <a:avLst/>
          </a:prstGeom>
        </p:spPr>
        <p:txBody>
          <a:bodyPr/>
          <a:lstStyle/>
          <a:p>
            <a:r>
              <a:t>(repetition, repetition, repetition, repetition…)</a:t>
            </a:r>
          </a:p>
        </p:txBody>
      </p:sp>
      <p:pic>
        <p:nvPicPr>
          <p:cNvPr id="1026" name="Picture 2" descr="while loop in C - GeeksforGeeks">
            <a:extLst>
              <a:ext uri="{FF2B5EF4-FFF2-40B4-BE49-F238E27FC236}">
                <a16:creationId xmlns:a16="http://schemas.microsoft.com/office/drawing/2014/main" id="{A257427C-64BD-ADFE-B58A-AEA5B8F0D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56" y="2177872"/>
            <a:ext cx="3867137" cy="4173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96661A7-0BA5-5481-614C-940DF7EEEBB1}"/>
              </a:ext>
            </a:extLst>
          </p:cNvPr>
          <p:cNvSpPr/>
          <p:nvPr/>
        </p:nvSpPr>
        <p:spPr>
          <a:xfrm>
            <a:off x="8645237" y="2231861"/>
            <a:ext cx="1995920" cy="490498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Loop Starts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192FC2-D0C5-FDAD-68CB-E97A042C0FF7}"/>
              </a:ext>
            </a:extLst>
          </p:cNvPr>
          <p:cNvSpPr/>
          <p:nvPr/>
        </p:nvSpPr>
        <p:spPr>
          <a:xfrm>
            <a:off x="9095939" y="5701957"/>
            <a:ext cx="1108364" cy="65659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Car still works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C39D223C-ACF9-31D9-F0C9-53BB20DB9163}"/>
              </a:ext>
            </a:extLst>
          </p:cNvPr>
          <p:cNvSpPr/>
          <p:nvPr/>
        </p:nvSpPr>
        <p:spPr>
          <a:xfrm>
            <a:off x="8825779" y="3429000"/>
            <a:ext cx="1634836" cy="1671122"/>
          </a:xfrm>
          <a:prstGeom prst="diamond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584200" hangingPunct="0"/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Whilst there is fuel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B85310-3A40-28E0-72F9-BFBC3073A977}"/>
              </a:ext>
            </a:extLst>
          </p:cNvPr>
          <p:cNvCxnSpPr>
            <a:cxnSpLocks/>
            <a:stCxn id="3" idx="4"/>
            <a:endCxn id="12" idx="0"/>
          </p:cNvCxnSpPr>
          <p:nvPr/>
        </p:nvCxnSpPr>
        <p:spPr>
          <a:xfrm>
            <a:off x="9643197" y="2722359"/>
            <a:ext cx="0" cy="706641"/>
          </a:xfrm>
          <a:prstGeom prst="straightConnector1">
            <a:avLst/>
          </a:prstGeom>
          <a:noFill/>
          <a:ln w="34925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FF43C9-FFF2-502C-E368-C9D4A36CD8AF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049491" y="6030252"/>
            <a:ext cx="1046448" cy="0"/>
          </a:xfrm>
          <a:prstGeom prst="straightConnector1">
            <a:avLst/>
          </a:prstGeom>
          <a:noFill/>
          <a:ln w="34925" cap="flat">
            <a:solidFill>
              <a:srgbClr val="000000"/>
            </a:solidFill>
            <a:prstDash val="solid"/>
            <a:miter lim="400000"/>
            <a:tailEnd type="non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E93ACF9-CD87-436A-873A-E430CEDFDF18}"/>
              </a:ext>
            </a:extLst>
          </p:cNvPr>
          <p:cNvCxnSpPr>
            <a:cxnSpLocks/>
            <a:stCxn id="12" idx="2"/>
            <a:endCxn id="7" idx="0"/>
          </p:cNvCxnSpPr>
          <p:nvPr/>
        </p:nvCxnSpPr>
        <p:spPr>
          <a:xfrm>
            <a:off x="9643197" y="5100122"/>
            <a:ext cx="6924" cy="601835"/>
          </a:xfrm>
          <a:prstGeom prst="straightConnector1">
            <a:avLst/>
          </a:prstGeom>
          <a:noFill/>
          <a:ln w="34925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9271E9E-162C-1475-8CEF-CA1176826A3C}"/>
              </a:ext>
            </a:extLst>
          </p:cNvPr>
          <p:cNvCxnSpPr>
            <a:cxnSpLocks/>
          </p:cNvCxnSpPr>
          <p:nvPr/>
        </p:nvCxnSpPr>
        <p:spPr>
          <a:xfrm flipV="1">
            <a:off x="8049491" y="3020291"/>
            <a:ext cx="0" cy="3009961"/>
          </a:xfrm>
          <a:prstGeom prst="straightConnector1">
            <a:avLst/>
          </a:prstGeom>
          <a:noFill/>
          <a:ln w="34925" cap="flat">
            <a:solidFill>
              <a:srgbClr val="000000"/>
            </a:solidFill>
            <a:prstDash val="solid"/>
            <a:miter lim="400000"/>
            <a:tailEnd type="non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5569AF6-8B58-1BE6-2550-84C150B32DC8}"/>
              </a:ext>
            </a:extLst>
          </p:cNvPr>
          <p:cNvCxnSpPr>
            <a:cxnSpLocks/>
          </p:cNvCxnSpPr>
          <p:nvPr/>
        </p:nvCxnSpPr>
        <p:spPr>
          <a:xfrm>
            <a:off x="8049491" y="3020291"/>
            <a:ext cx="1593706" cy="59695"/>
          </a:xfrm>
          <a:prstGeom prst="straightConnector1">
            <a:avLst/>
          </a:prstGeom>
          <a:noFill/>
          <a:ln w="34925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21F17BCF-2E3E-9960-A404-06D1053B84AB}"/>
              </a:ext>
            </a:extLst>
          </p:cNvPr>
          <p:cNvSpPr/>
          <p:nvPr/>
        </p:nvSpPr>
        <p:spPr>
          <a:xfrm>
            <a:off x="10641157" y="5611886"/>
            <a:ext cx="1469054" cy="836732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While Loop Ends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88F896-3B6E-A22B-A88B-1A3039E868A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10460615" y="4264561"/>
            <a:ext cx="915069" cy="0"/>
          </a:xfrm>
          <a:prstGeom prst="straightConnector1">
            <a:avLst/>
          </a:prstGeom>
          <a:noFill/>
          <a:ln w="34925" cap="flat">
            <a:solidFill>
              <a:srgbClr val="000000"/>
            </a:solidFill>
            <a:prstDash val="sysDash"/>
            <a:miter lim="400000"/>
            <a:tailEnd type="non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A4389CF-B548-CE69-0121-38D06E1710E4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1375684" y="4264561"/>
            <a:ext cx="0" cy="1347325"/>
          </a:xfrm>
          <a:prstGeom prst="straightConnector1">
            <a:avLst/>
          </a:prstGeom>
          <a:noFill/>
          <a:ln w="34925" cap="flat">
            <a:solidFill>
              <a:srgbClr val="000000"/>
            </a:solidFill>
            <a:prstDash val="sysDash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2583438-E32E-0694-DC75-2747679097F5}"/>
              </a:ext>
            </a:extLst>
          </p:cNvPr>
          <p:cNvSpPr txBox="1"/>
          <p:nvPr/>
        </p:nvSpPr>
        <p:spPr>
          <a:xfrm>
            <a:off x="5108573" y="3566934"/>
            <a:ext cx="2694426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0000"/>
                </a:solidFill>
                <a:sym typeface="Gill Sans"/>
              </a:rPr>
              <a:t>Does your car have enough fuel example? 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1ACB04-A0C9-F93D-58DE-923E829A2651}"/>
              </a:ext>
            </a:extLst>
          </p:cNvPr>
          <p:cNvSpPr txBox="1"/>
          <p:nvPr/>
        </p:nvSpPr>
        <p:spPr>
          <a:xfrm>
            <a:off x="10460615" y="6467917"/>
            <a:ext cx="1649491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000000"/>
                </a:solidFill>
                <a:sym typeface="Gill Sans"/>
              </a:rPr>
              <a:t>Fuel has ran out…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Loo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Loops</a:t>
            </a:r>
          </a:p>
        </p:txBody>
      </p:sp>
      <p:sp>
        <p:nvSpPr>
          <p:cNvPr id="197" name="One of the most important parts of any programming language - the whole point of computers is to do the repetitive boring stuff.…"/>
          <p:cNvSpPr txBox="1">
            <a:spLocks noGrp="1"/>
          </p:cNvSpPr>
          <p:nvPr>
            <p:ph type="body" idx="1"/>
          </p:nvPr>
        </p:nvSpPr>
        <p:spPr>
          <a:xfrm>
            <a:off x="1190625" y="1946672"/>
            <a:ext cx="5376430" cy="4018359"/>
          </a:xfrm>
          <a:prstGeom prst="rect">
            <a:avLst/>
          </a:prstGeom>
        </p:spPr>
        <p:txBody>
          <a:bodyPr/>
          <a:lstStyle/>
          <a:p>
            <a:r>
              <a:t>One of the most important parts of any programming language - the whole point of computers is to do the repetitive boring stuff.</a:t>
            </a:r>
          </a:p>
          <a:p>
            <a:r>
              <a:t>Python has two loop/iteration constructs</a:t>
            </a:r>
          </a:p>
          <a:p>
            <a:pPr lvl="1"/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while</a:t>
            </a:r>
            <a:r>
              <a:t>,   and 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for</a:t>
            </a:r>
            <a:r>
              <a:t> </a:t>
            </a:r>
          </a:p>
        </p:txBody>
      </p:sp>
      <p:pic>
        <p:nvPicPr>
          <p:cNvPr id="2050" name="Picture 2" descr="Python &quot;while&quot; Loops (Indefinite Iteration) – Real Python">
            <a:extLst>
              <a:ext uri="{FF2B5EF4-FFF2-40B4-BE49-F238E27FC236}">
                <a16:creationId xmlns:a16="http://schemas.microsoft.com/office/drawing/2014/main" id="{3810FCDD-9090-3FB1-74BE-27E0A3453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498" y="1620982"/>
            <a:ext cx="5123102" cy="2881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333005-96DF-DEBC-3D80-874AFEC0C74F}"/>
              </a:ext>
            </a:extLst>
          </p:cNvPr>
          <p:cNvSpPr txBox="1"/>
          <p:nvPr/>
        </p:nvSpPr>
        <p:spPr>
          <a:xfrm>
            <a:off x="7000490" y="4544279"/>
            <a:ext cx="512310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Typically means repeat the code </a:t>
            </a:r>
            <a:r>
              <a:rPr lang="en-US" sz="2400" i="1">
                <a:solidFill>
                  <a:srgbClr val="000000"/>
                </a:solidFill>
                <a:sym typeface="Gill Sans"/>
              </a:rPr>
              <a:t>w</a:t>
            </a:r>
            <a:r>
              <a:rPr kumimoji="0" lang="en-US" sz="2400" b="0" i="1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hile the loop is tru</a:t>
            </a:r>
            <a:r>
              <a:rPr lang="en-US" sz="2400" i="1">
                <a:solidFill>
                  <a:srgbClr val="000000"/>
                </a:solidFill>
                <a:sym typeface="Gill Sans"/>
              </a:rPr>
              <a:t>e or false</a:t>
            </a:r>
            <a:endParaRPr kumimoji="0" lang="en-US" sz="2400" b="0" i="1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whi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W</a:t>
            </a:r>
            <a:r>
              <a:rPr err="1"/>
              <a:t>hile</a:t>
            </a:r>
            <a:endParaRPr/>
          </a:p>
        </p:txBody>
      </p:sp>
      <p:sp>
        <p:nvSpPr>
          <p:cNvPr id="200" name="the syntax is :…"/>
          <p:cNvSpPr txBox="1">
            <a:spLocks noGrp="1"/>
          </p:cNvSpPr>
          <p:nvPr>
            <p:ph type="body" idx="1"/>
          </p:nvPr>
        </p:nvSpPr>
        <p:spPr>
          <a:xfrm>
            <a:off x="1638300" y="1813322"/>
            <a:ext cx="9670257" cy="4393406"/>
          </a:xfrm>
          <a:prstGeom prst="rect">
            <a:avLst/>
          </a:prstGeom>
        </p:spPr>
        <p:txBody>
          <a:bodyPr/>
          <a:lstStyle/>
          <a:p>
            <a:r>
              <a:t>the syntax is : </a:t>
            </a:r>
          </a:p>
          <a:p>
            <a:pPr marL="0" lvl="1" indent="0">
              <a:buSzTx/>
              <a:buNone/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t>while (&lt;expression&gt;):</a:t>
            </a:r>
            <a:br>
              <a:rPr/>
            </a:br>
            <a:r>
              <a:t>    &lt;statement&gt;  </a:t>
            </a:r>
            <a:r>
              <a:rPr>
                <a:solidFill>
                  <a:srgbClr val="0433FF"/>
                </a:solidFill>
              </a:rPr>
              <a:t># can be lots!</a:t>
            </a:r>
          </a:p>
          <a:p>
            <a:r>
              <a:t>the computer evaluates the expression, and exits the loop if it is false.</a:t>
            </a:r>
          </a:p>
          <a:p>
            <a:r>
              <a:t>if the expression was true, the computer executes the statement(</a:t>
            </a:r>
            <a:r>
              <a:rPr>
                <a:solidFill>
                  <a:srgbClr val="FF2600"/>
                </a:solidFill>
              </a:rPr>
              <a:t>s</a:t>
            </a:r>
            <a:r>
              <a:t>) and then goes back to check the expression again.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while"/>
          <p:cNvSpPr txBox="1">
            <a:spLocks noGrp="1"/>
          </p:cNvSpPr>
          <p:nvPr>
            <p:ph type="title"/>
          </p:nvPr>
        </p:nvSpPr>
        <p:spPr>
          <a:xfrm>
            <a:off x="2876550" y="121444"/>
            <a:ext cx="5438775" cy="1450181"/>
          </a:xfrm>
          <a:prstGeom prst="rect">
            <a:avLst/>
          </a:prstGeom>
        </p:spPr>
        <p:txBody>
          <a:bodyPr/>
          <a:lstStyle/>
          <a:p>
            <a:r>
              <a:rPr lang="en-GB"/>
              <a:t>W</a:t>
            </a:r>
            <a:r>
              <a:rPr err="1"/>
              <a:t>hile</a:t>
            </a:r>
            <a:endParaRPr/>
          </a:p>
        </p:txBody>
      </p:sp>
      <p:sp>
        <p:nvSpPr>
          <p:cNvPr id="203" name="as a (bad-ish) example try printing the powers of 2 until we get to 2N :…"/>
          <p:cNvSpPr txBox="1">
            <a:spLocks noGrp="1"/>
          </p:cNvSpPr>
          <p:nvPr>
            <p:ph type="body" idx="1"/>
          </p:nvPr>
        </p:nvSpPr>
        <p:spPr>
          <a:xfrm>
            <a:off x="1645443" y="1699022"/>
            <a:ext cx="9355932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as a (bad-ish) example try printing the powers of 2 until we get to 2</a:t>
            </a:r>
            <a:r>
              <a:rPr baseline="31999"/>
              <a:t>N</a:t>
            </a:r>
            <a:r>
              <a:t> 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counter, value = 0, 1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n = input("value for index?")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n = int(n)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print("current value </a:t>
            </a:r>
            <a:r>
              <a:rPr err="1"/>
              <a:t>is"+str</a:t>
            </a:r>
            <a:r>
              <a:t>(value))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while (counter&lt;n):</a:t>
            </a:r>
          </a:p>
          <a:p>
            <a:pPr marL="0" lvl="6" indent="197339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value = 2*value;   # or  value *= 2;</a:t>
            </a:r>
          </a:p>
          <a:p>
            <a:pPr marL="0" lvl="6" indent="197339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print("current value </a:t>
            </a:r>
            <a:r>
              <a:rPr err="1"/>
              <a:t>is"+str</a:t>
            </a:r>
            <a:r>
              <a:t>(value))</a:t>
            </a:r>
          </a:p>
          <a:p>
            <a:pPr marL="0" lvl="6" indent="197339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counter+=1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6DD0DF-0101-D245-E592-A19400D9E015}"/>
              </a:ext>
            </a:extLst>
          </p:cNvPr>
          <p:cNvSpPr txBox="1"/>
          <p:nvPr/>
        </p:nvSpPr>
        <p:spPr>
          <a:xfrm>
            <a:off x="650725" y="6201532"/>
            <a:ext cx="9394303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00"/>
                </a:solidFill>
                <a:sym typeface="Gill Sans"/>
              </a:rPr>
              <a:t>*Doing this would save you having to type it into a calculator lots of times resulting in less stress… 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7" name="Picture 6" descr="mental illness: Role of stress in mental illness. Learning how to cope -  The Economic Times">
            <a:extLst>
              <a:ext uri="{FF2B5EF4-FFF2-40B4-BE49-F238E27FC236}">
                <a16:creationId xmlns:a16="http://schemas.microsoft.com/office/drawing/2014/main" id="{5CD19268-AF68-B66A-DDF0-0BB38A94B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9" t="14115" r="37162"/>
          <a:stretch>
            <a:fillRect/>
          </a:stretch>
        </p:blipFill>
        <p:spPr bwMode="auto">
          <a:xfrm>
            <a:off x="295201" y="4083627"/>
            <a:ext cx="1790848" cy="2150701"/>
          </a:xfrm>
          <a:custGeom>
            <a:avLst/>
            <a:gdLst>
              <a:gd name="connsiteX0" fmla="*/ 2452255 w 4904510"/>
              <a:gd name="connsiteY0" fmla="*/ 0 h 5890022"/>
              <a:gd name="connsiteX1" fmla="*/ 4904510 w 4904510"/>
              <a:gd name="connsiteY1" fmla="*/ 3005733 h 5890022"/>
              <a:gd name="connsiteX2" fmla="*/ 3181481 w 4904510"/>
              <a:gd name="connsiteY2" fmla="*/ 5876334 h 5890022"/>
              <a:gd name="connsiteX3" fmla="*/ 3138050 w 4904510"/>
              <a:gd name="connsiteY3" fmla="*/ 5890022 h 5890022"/>
              <a:gd name="connsiteX4" fmla="*/ 1766461 w 4904510"/>
              <a:gd name="connsiteY4" fmla="*/ 5890022 h 5890022"/>
              <a:gd name="connsiteX5" fmla="*/ 1723030 w 4904510"/>
              <a:gd name="connsiteY5" fmla="*/ 5876334 h 5890022"/>
              <a:gd name="connsiteX6" fmla="*/ 0 w 4904510"/>
              <a:gd name="connsiteY6" fmla="*/ 3005733 h 5890022"/>
              <a:gd name="connsiteX7" fmla="*/ 2452255 w 4904510"/>
              <a:gd name="connsiteY7" fmla="*/ 0 h 589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04510" h="5890022">
                <a:moveTo>
                  <a:pt x="2452255" y="0"/>
                </a:moveTo>
                <a:cubicBezTo>
                  <a:pt x="3806598" y="0"/>
                  <a:pt x="4904510" y="1345713"/>
                  <a:pt x="4904510" y="3005733"/>
                </a:cubicBezTo>
                <a:cubicBezTo>
                  <a:pt x="4904510" y="4354500"/>
                  <a:pt x="4179717" y="5495774"/>
                  <a:pt x="3181481" y="5876334"/>
                </a:cubicBezTo>
                <a:lnTo>
                  <a:pt x="3138050" y="5890022"/>
                </a:lnTo>
                <a:lnTo>
                  <a:pt x="1766461" y="5890022"/>
                </a:lnTo>
                <a:lnTo>
                  <a:pt x="1723030" y="5876334"/>
                </a:lnTo>
                <a:cubicBezTo>
                  <a:pt x="724794" y="5495774"/>
                  <a:pt x="0" y="4354500"/>
                  <a:pt x="0" y="3005733"/>
                </a:cubicBezTo>
                <a:cubicBezTo>
                  <a:pt x="0" y="1345713"/>
                  <a:pt x="1097912" y="0"/>
                  <a:pt x="245225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396CD3-F63F-82B5-7D9A-C659D37A2403}"/>
              </a:ext>
            </a:extLst>
          </p:cNvPr>
          <p:cNvCxnSpPr>
            <a:cxnSpLocks/>
          </p:cNvCxnSpPr>
          <p:nvPr/>
        </p:nvCxnSpPr>
        <p:spPr>
          <a:xfrm>
            <a:off x="2086049" y="5721927"/>
            <a:ext cx="1045078" cy="479605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Loo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Loops</a:t>
            </a:r>
          </a:p>
        </p:txBody>
      </p:sp>
      <p:sp>
        <p:nvSpPr>
          <p:cNvPr id="208" name="there are largely two kinds of loops in programming…"/>
          <p:cNvSpPr txBox="1">
            <a:spLocks noGrp="1"/>
          </p:cNvSpPr>
          <p:nvPr>
            <p:ph type="body" idx="1"/>
          </p:nvPr>
        </p:nvSpPr>
        <p:spPr>
          <a:xfrm>
            <a:off x="456332" y="1946672"/>
            <a:ext cx="6124578" cy="4333358"/>
          </a:xfrm>
          <a:prstGeom prst="rect">
            <a:avLst/>
          </a:prstGeom>
        </p:spPr>
        <p:txBody>
          <a:bodyPr/>
          <a:lstStyle/>
          <a:p>
            <a:r>
              <a:rPr sz="2600" dirty="0"/>
              <a:t>there are largely two kinds of loops in programming</a:t>
            </a:r>
          </a:p>
          <a:p>
            <a:r>
              <a:rPr sz="2600" i="1" dirty="0"/>
              <a:t>sentinel</a:t>
            </a:r>
            <a:r>
              <a:rPr sz="2600" dirty="0"/>
              <a:t> loops, where the loop runs until a condition is encountered which you don’t know in advance - either due to external inputs or complex calculations.</a:t>
            </a:r>
          </a:p>
          <a:p>
            <a:r>
              <a:rPr sz="2600" i="1" dirty="0"/>
              <a:t>counter</a:t>
            </a:r>
            <a:r>
              <a:rPr sz="2600" dirty="0"/>
              <a:t> loops, where you can be clear in advance how many iterations will occur.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591819-1562-69BA-9047-111B751960A5}"/>
              </a:ext>
            </a:extLst>
          </p:cNvPr>
          <p:cNvSpPr/>
          <p:nvPr/>
        </p:nvSpPr>
        <p:spPr>
          <a:xfrm>
            <a:off x="8160324" y="1477051"/>
            <a:ext cx="3325091" cy="5256000"/>
          </a:xfrm>
          <a:prstGeom prst="rect">
            <a:avLst/>
          </a:prstGeom>
          <a:solidFill>
            <a:srgbClr val="00355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08685-3863-0BF6-C1B4-B4F22E9A2CA2}"/>
              </a:ext>
            </a:extLst>
          </p:cNvPr>
          <p:cNvSpPr txBox="1"/>
          <p:nvPr/>
        </p:nvSpPr>
        <p:spPr>
          <a:xfrm>
            <a:off x="8294394" y="2147806"/>
            <a:ext cx="3056953" cy="2318583"/>
          </a:xfrm>
          <a:prstGeom prst="rect">
            <a:avLst/>
          </a:prstGeom>
          <a:noFill/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b="1" dirty="0">
                <a:solidFill>
                  <a:schemeClr val="bg1"/>
                </a:solidFill>
                <a:sym typeface="Gill Sans"/>
              </a:rPr>
              <a:t>‘While skittles, count the number of skittles and </a:t>
            </a:r>
            <a:r>
              <a:rPr lang="en-US" sz="1600" b="1" dirty="0" err="1">
                <a:solidFill>
                  <a:schemeClr val="bg1"/>
                </a:solidFill>
                <a:sym typeface="Gill Sans"/>
              </a:rPr>
              <a:t>colour</a:t>
            </a:r>
            <a:r>
              <a:rPr lang="en-US" sz="1600" b="1" dirty="0">
                <a:solidFill>
                  <a:schemeClr val="bg1"/>
                </a:solidFill>
                <a:sym typeface="Gill Sans"/>
              </a:rPr>
              <a:t>’</a:t>
            </a:r>
            <a:br>
              <a:rPr lang="en-US" sz="1600" dirty="0">
                <a:solidFill>
                  <a:schemeClr val="bg1"/>
                </a:solidFill>
                <a:sym typeface="Gill Sans"/>
              </a:rPr>
            </a:br>
            <a:r>
              <a:rPr lang="en-US" sz="1600" dirty="0">
                <a:solidFill>
                  <a:schemeClr val="bg1"/>
                </a:solidFill>
                <a:sym typeface="Gill Sans"/>
              </a:rPr>
              <a:t>- The human counts the number of skittles in the bag and records their </a:t>
            </a:r>
            <a:r>
              <a:rPr lang="en-US" sz="1600" dirty="0" err="1">
                <a:solidFill>
                  <a:schemeClr val="bg1"/>
                </a:solidFill>
                <a:sym typeface="Gill Sans"/>
              </a:rPr>
              <a:t>colour</a:t>
            </a:r>
            <a:r>
              <a:rPr lang="en-US" sz="1600" dirty="0">
                <a:solidFill>
                  <a:schemeClr val="bg1"/>
                </a:solidFill>
                <a:sym typeface="Gill Sans"/>
              </a:rPr>
              <a:t> until the bag is empty.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600" dirty="0">
              <a:solidFill>
                <a:schemeClr val="bg1"/>
              </a:solidFill>
              <a:sym typeface="Gill Sans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sym typeface="Gill Sans"/>
              </a:rPr>
              <a:t>Condition encountered = An empty bag of skittles…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E632A-2F2E-89D5-A48F-75F73C0B50B8}"/>
              </a:ext>
            </a:extLst>
          </p:cNvPr>
          <p:cNvSpPr txBox="1"/>
          <p:nvPr/>
        </p:nvSpPr>
        <p:spPr>
          <a:xfrm>
            <a:off x="8294395" y="4614253"/>
            <a:ext cx="3056953" cy="2072362"/>
          </a:xfrm>
          <a:prstGeom prst="rect">
            <a:avLst/>
          </a:prstGeom>
          <a:noFill/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b="1">
                <a:solidFill>
                  <a:schemeClr val="bg1"/>
                </a:solidFill>
                <a:sym typeface="Gill Sans"/>
              </a:rPr>
              <a:t>‘While k&lt;10, count the skittles and record their </a:t>
            </a:r>
            <a:r>
              <a:rPr lang="en-US" sz="1600" b="1" err="1">
                <a:solidFill>
                  <a:schemeClr val="bg1"/>
                </a:solidFill>
                <a:sym typeface="Gill Sans"/>
              </a:rPr>
              <a:t>colour</a:t>
            </a:r>
            <a:r>
              <a:rPr lang="en-US" sz="1600" b="1">
                <a:solidFill>
                  <a:schemeClr val="bg1"/>
                </a:solidFill>
                <a:sym typeface="Gill Sans"/>
              </a:rPr>
              <a:t>’</a:t>
            </a:r>
            <a:br>
              <a:rPr lang="en-US" sz="1600">
                <a:solidFill>
                  <a:schemeClr val="bg1"/>
                </a:solidFill>
                <a:sym typeface="Gill Sans"/>
              </a:rPr>
            </a:br>
            <a:r>
              <a:rPr lang="en-US" sz="1600">
                <a:solidFill>
                  <a:schemeClr val="bg1"/>
                </a:solidFill>
                <a:sym typeface="Gill Sans"/>
              </a:rPr>
              <a:t>- The human counts the skittles and records the </a:t>
            </a:r>
            <a:r>
              <a:rPr lang="en-US" sz="1600" err="1">
                <a:solidFill>
                  <a:schemeClr val="bg1"/>
                </a:solidFill>
                <a:sym typeface="Gill Sans"/>
              </a:rPr>
              <a:t>colour</a:t>
            </a:r>
            <a:r>
              <a:rPr lang="en-US" sz="1600">
                <a:solidFill>
                  <a:schemeClr val="bg1"/>
                </a:solidFill>
                <a:sym typeface="Gill Sans"/>
              </a:rPr>
              <a:t> for the first 10 skittle.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>
                <a:solidFill>
                  <a:schemeClr val="bg1"/>
                </a:solidFill>
                <a:sym typeface="Gill Sans"/>
              </a:rPr>
              <a:t>Condition encountered = when the 10</a:t>
            </a:r>
            <a:r>
              <a:rPr lang="en-US" sz="1600" baseline="30000">
                <a:solidFill>
                  <a:schemeClr val="bg1"/>
                </a:solidFill>
                <a:sym typeface="Gill Sans"/>
              </a:rPr>
              <a:t>th</a:t>
            </a:r>
            <a:r>
              <a:rPr lang="en-US" sz="1600">
                <a:solidFill>
                  <a:schemeClr val="bg1"/>
                </a:solidFill>
                <a:sym typeface="Gill Sans"/>
              </a:rPr>
              <a:t> skittle is pulled out </a:t>
            </a:r>
          </a:p>
        </p:txBody>
      </p:sp>
      <p:pic>
        <p:nvPicPr>
          <p:cNvPr id="4098" name="Picture 2" descr="Skittles (confectionery) - Wikipedia">
            <a:extLst>
              <a:ext uri="{FF2B5EF4-FFF2-40B4-BE49-F238E27FC236}">
                <a16:creationId xmlns:a16="http://schemas.microsoft.com/office/drawing/2014/main" id="{8A84FF38-E0EE-CF3F-E012-7C8F77E37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7488" y="256307"/>
            <a:ext cx="2530764" cy="189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E1D44F-3A3B-2521-88D2-B8AA673C6E0B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249362" y="2599486"/>
            <a:ext cx="910962" cy="829514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1E3A64-9E1A-68DA-D779-DB0864641763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7273407" y="5236234"/>
            <a:ext cx="1032107" cy="659582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51F7A1A-A4A7-08CA-8558-1F02B98C25A8}"/>
              </a:ext>
            </a:extLst>
          </p:cNvPr>
          <p:cNvSpPr txBox="1"/>
          <p:nvPr/>
        </p:nvSpPr>
        <p:spPr>
          <a:xfrm>
            <a:off x="6580909" y="2281450"/>
            <a:ext cx="1336905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Sentinel Example</a:t>
            </a:r>
            <a:endParaRPr kumimoji="0" lang="en-US" sz="4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EB05AC-4368-4B54-6775-3C28E0117127}"/>
              </a:ext>
            </a:extLst>
          </p:cNvPr>
          <p:cNvSpPr txBox="1"/>
          <p:nvPr/>
        </p:nvSpPr>
        <p:spPr>
          <a:xfrm>
            <a:off x="6580909" y="4918198"/>
            <a:ext cx="1384995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Counter Example</a:t>
            </a:r>
            <a:endParaRPr kumimoji="0" lang="en-US" sz="4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while = sentin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W</a:t>
            </a:r>
            <a:r>
              <a:rPr err="1"/>
              <a:t>hile</a:t>
            </a:r>
            <a:r>
              <a:t> = sentinel</a:t>
            </a:r>
          </a:p>
        </p:txBody>
      </p:sp>
      <p:sp>
        <p:nvSpPr>
          <p:cNvPr id="213" name="find perfect numbers  (sum of divisors add to number itself) :…"/>
          <p:cNvSpPr txBox="1">
            <a:spLocks noGrp="1"/>
          </p:cNvSpPr>
          <p:nvPr>
            <p:ph type="body" idx="1"/>
          </p:nvPr>
        </p:nvSpPr>
        <p:spPr>
          <a:xfrm>
            <a:off x="371475" y="1613297"/>
            <a:ext cx="11744325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/>
              <a:t>find perfect numbers </a:t>
            </a:r>
            <a:br>
              <a:rPr sz="2200"/>
            </a:br>
            <a:r>
              <a:rPr sz="2200"/>
              <a:t>(sum of divisors add to number itself)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d, sum = 2, 1    </a:t>
            </a:r>
            <a:r>
              <a:rPr sz="2200">
                <a:solidFill>
                  <a:srgbClr val="0433FF"/>
                </a:solidFill>
              </a:rPr>
              <a:t># scanner and accumulator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n = input("number to be tested")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n = int(n)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while (d &lt;= (n/2)):   </a:t>
            </a:r>
            <a:r>
              <a:rPr sz="2200">
                <a:solidFill>
                  <a:srgbClr val="0433FF"/>
                </a:solidFill>
              </a:rPr>
              <a:t># bit of a lazy sentinel !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if (</a:t>
            </a:r>
            <a:r>
              <a:rPr sz="2200" err="1"/>
              <a:t>n%d</a:t>
            </a:r>
            <a:r>
              <a:rPr sz="2200"/>
              <a:t>==0):     </a:t>
            </a:r>
            <a:r>
              <a:rPr sz="2200">
                <a:solidFill>
                  <a:srgbClr val="0433FF"/>
                </a:solidFill>
              </a:rPr>
              <a:t># I could have worked out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sum += d     </a:t>
            </a:r>
            <a:r>
              <a:rPr sz="2200">
                <a:solidFill>
                  <a:srgbClr val="0433FF"/>
                </a:solidFill>
              </a:rPr>
              <a:t># how high to count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d+=1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if (sum==n):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print("number {} is </a:t>
            </a:r>
            <a:r>
              <a:rPr sz="2200" err="1"/>
              <a:t>perfect".format</a:t>
            </a:r>
            <a:r>
              <a:rPr sz="2200"/>
              <a:t>(n))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else: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print("number {} is not </a:t>
            </a:r>
            <a:r>
              <a:rPr sz="2200" err="1"/>
              <a:t>perfect".format</a:t>
            </a:r>
            <a:r>
              <a:rPr sz="2200"/>
              <a:t>(n))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etting out early !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G</a:t>
            </a:r>
            <a:r>
              <a:rPr err="1"/>
              <a:t>etting</a:t>
            </a:r>
            <a:r>
              <a:t> out early !</a:t>
            </a:r>
          </a:p>
        </p:txBody>
      </p:sp>
      <p:sp>
        <p:nvSpPr>
          <p:cNvPr id="218" name="while (and for) loops can 'abort' :…"/>
          <p:cNvSpPr txBox="1">
            <a:spLocks noGrp="1"/>
          </p:cNvSpPr>
          <p:nvPr>
            <p:ph type="body" idx="1"/>
          </p:nvPr>
        </p:nvSpPr>
        <p:spPr>
          <a:xfrm>
            <a:off x="505042" y="1893094"/>
            <a:ext cx="7358063" cy="4393406"/>
          </a:xfrm>
          <a:prstGeom prst="rect">
            <a:avLst/>
          </a:prstGeom>
        </p:spPr>
        <p:txBody>
          <a:bodyPr/>
          <a:lstStyle/>
          <a:p>
            <a:pPr marL="567653" indent="-344418"/>
            <a:r>
              <a:rPr sz="2531">
                <a:latin typeface="Courier"/>
                <a:ea typeface="Courier"/>
                <a:cs typeface="Courier"/>
                <a:sym typeface="Courier"/>
              </a:rPr>
              <a:t>while</a:t>
            </a:r>
            <a:r>
              <a:t> (and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for</a:t>
            </a:r>
            <a:r>
              <a:t>) loops can 'abort' :</a:t>
            </a:r>
          </a:p>
          <a:p>
            <a:pPr marL="567653" indent="-344418"/>
            <a:r>
              <a:rPr sz="2531">
                <a:latin typeface="Courier"/>
                <a:ea typeface="Courier"/>
                <a:cs typeface="Courier"/>
                <a:sym typeface="Courier"/>
              </a:rPr>
              <a:t>break </a:t>
            </a:r>
            <a:br>
              <a:rPr sz="2531">
                <a:latin typeface="Courier"/>
                <a:ea typeface="Courier"/>
                <a:cs typeface="Courier"/>
                <a:sym typeface="Courier"/>
              </a:rPr>
            </a:br>
            <a:r>
              <a:t>aborts the whole set of all possible loops, and moves on...</a:t>
            </a:r>
          </a:p>
          <a:p>
            <a:pPr marL="567653" indent="-344418"/>
            <a:r>
              <a:rPr sz="2531">
                <a:latin typeface="Courier"/>
                <a:ea typeface="Courier"/>
                <a:cs typeface="Courier"/>
                <a:sym typeface="Courier"/>
              </a:rPr>
              <a:t>continue </a:t>
            </a:r>
            <a:br>
              <a:rPr sz="2531">
                <a:latin typeface="Courier"/>
                <a:ea typeface="Courier"/>
                <a:cs typeface="Courier"/>
                <a:sym typeface="Courier"/>
              </a:rPr>
            </a:br>
            <a:r>
              <a:t>aborts this particular loop at the 'continue' point, but goes back to see if more loops need carried out.</a:t>
            </a:r>
          </a:p>
        </p:txBody>
      </p:sp>
      <p:pic>
        <p:nvPicPr>
          <p:cNvPr id="5122" name="Picture 2" descr="Abort Mission by Michael Nathan - Airbit">
            <a:extLst>
              <a:ext uri="{FF2B5EF4-FFF2-40B4-BE49-F238E27FC236}">
                <a16:creationId xmlns:a16="http://schemas.microsoft.com/office/drawing/2014/main" id="{421C8FD3-D2C8-A6E0-7755-AF54C5BDD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649" y="1868091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doing other stuff !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D</a:t>
            </a:r>
            <a:r>
              <a:rPr err="1"/>
              <a:t>oing</a:t>
            </a:r>
            <a:r>
              <a:t> other stuff !</a:t>
            </a:r>
          </a:p>
        </p:txBody>
      </p:sp>
      <p:sp>
        <p:nvSpPr>
          <p:cNvPr id="221" name="while (and for) loops can have an else clause, although it's less often used.…"/>
          <p:cNvSpPr txBox="1">
            <a:spLocks noGrp="1"/>
          </p:cNvSpPr>
          <p:nvPr>
            <p:ph type="body" idx="1"/>
          </p:nvPr>
        </p:nvSpPr>
        <p:spPr>
          <a:xfrm>
            <a:off x="2416969" y="1946672"/>
            <a:ext cx="7358063" cy="4393406"/>
          </a:xfrm>
          <a:prstGeom prst="rect">
            <a:avLst/>
          </a:prstGeom>
        </p:spPr>
        <p:txBody>
          <a:bodyPr/>
          <a:lstStyle/>
          <a:p>
            <a:pPr marL="567653" indent="-344418"/>
            <a:r>
              <a:rPr sz="2531">
                <a:latin typeface="Courier"/>
                <a:ea typeface="Courier"/>
                <a:cs typeface="Courier"/>
                <a:sym typeface="Courier"/>
              </a:rPr>
              <a:t>while</a:t>
            </a:r>
            <a:r>
              <a:t> (and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for</a:t>
            </a:r>
            <a:r>
              <a:t>) loops can have an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else</a:t>
            </a:r>
            <a:r>
              <a:t> clause, although it's less often used.</a:t>
            </a:r>
          </a:p>
          <a:p>
            <a:r>
              <a:t>The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else</a:t>
            </a:r>
            <a:r>
              <a:t> clause gets done if the loop finishes through exhaustion, but 'naturally' - i.e. it hasn't finished through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break</a:t>
            </a:r>
          </a:p>
          <a:p>
            <a:r>
              <a:t>Oh, and the following is used more often than you'd think</a:t>
            </a:r>
            <a:br/>
            <a:r>
              <a:rPr sz="1687">
                <a:latin typeface="Courier"/>
                <a:ea typeface="Courier"/>
                <a:cs typeface="Courier"/>
                <a:sym typeface="Courier"/>
              </a:rPr>
              <a:t>while True:</a:t>
            </a:r>
            <a:br>
              <a:rPr sz="1687">
                <a:latin typeface="Courier"/>
                <a:ea typeface="Courier"/>
                <a:cs typeface="Courier"/>
                <a:sym typeface="Courier"/>
              </a:rPr>
            </a:br>
            <a:r>
              <a:rPr sz="1687">
                <a:latin typeface="Courier"/>
                <a:ea typeface="Courier"/>
                <a:cs typeface="Courier"/>
                <a:sym typeface="Courier"/>
              </a:rPr>
              <a:t>    name = input("Who are you?")       </a:t>
            </a:r>
            <a:r>
              <a:rPr sz="1687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# infinite</a:t>
            </a:r>
            <a:br>
              <a:rPr sz="1687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1687">
                <a:latin typeface="Courier"/>
                <a:ea typeface="Courier"/>
                <a:cs typeface="Courier"/>
                <a:sym typeface="Courier"/>
              </a:rPr>
              <a:t>    print("Nice to meet you, "+ name)  </a:t>
            </a:r>
            <a:r>
              <a:rPr sz="1687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# loop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ummary Examp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Summary Example</a:t>
            </a:r>
          </a:p>
        </p:txBody>
      </p:sp>
      <p:sp>
        <p:nvSpPr>
          <p:cNvPr id="224" name="(Find a square root by Newton-Raphson)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(Find a square root by Newton-Raphson)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First Newton’s Method"/>
          <p:cNvSpPr txBox="1">
            <a:spLocks noGrp="1"/>
          </p:cNvSpPr>
          <p:nvPr>
            <p:ph type="title"/>
          </p:nvPr>
        </p:nvSpPr>
        <p:spPr>
          <a:xfrm>
            <a:off x="1693833" y="58783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t>First Newton’s Method</a:t>
            </a:r>
          </a:p>
        </p:txBody>
      </p:sp>
      <p:sp>
        <p:nvSpPr>
          <p:cNvPr id="227" name="Get closer to the goal by sliding down the tangent"/>
          <p:cNvSpPr txBox="1"/>
          <p:nvPr/>
        </p:nvSpPr>
        <p:spPr>
          <a:xfrm>
            <a:off x="2343571" y="6152703"/>
            <a:ext cx="772968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Get closer to the goal by sliding down the tangent</a:t>
            </a:r>
          </a:p>
        </p:txBody>
      </p:sp>
      <p:pic>
        <p:nvPicPr>
          <p:cNvPr id="228" name="droppedImage.pdf" descr="f dashed of x = f of x minus zero all over the distance between x and the next value of 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171" y="2089547"/>
            <a:ext cx="3146612" cy="9286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droppedImage.pdf" descr="the next value of x is the old value of x minus the ratio between the function of old x divided by the differential of the function of 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601" y="3893344"/>
            <a:ext cx="3120822" cy="92868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7" name="Group"/>
          <p:cNvGrpSpPr/>
          <p:nvPr/>
        </p:nvGrpSpPr>
        <p:grpSpPr>
          <a:xfrm>
            <a:off x="5301258" y="1607344"/>
            <a:ext cx="5295305" cy="4697016"/>
            <a:chOff x="0" y="0"/>
            <a:chExt cx="7531100" cy="6680200"/>
          </a:xfrm>
        </p:grpSpPr>
        <p:pic>
          <p:nvPicPr>
            <p:cNvPr id="230" name="Screen shot 2013-01-16 at 20.18.59.png" descr="graph of Newton's method in operation to find the nexw vallue of x from the old one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7531100" cy="6680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1" name="droppedImage.pdf" descr="droppedImage.pdf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6900" y="12700"/>
              <a:ext cx="1054100" cy="6000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2" name="droppedImage.pdf" descr="droppedImage.pdf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75450" y="4927600"/>
              <a:ext cx="330200" cy="29544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3" name="Rectangle"/>
            <p:cNvSpPr/>
            <p:nvPr/>
          </p:nvSpPr>
          <p:spPr>
            <a:xfrm>
              <a:off x="3886200" y="5549900"/>
              <a:ext cx="2476500" cy="5715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algn="ctr" defTabSz="410751" hangingPunct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endParaRPr>
            </a:p>
          </p:txBody>
        </p:sp>
        <p:sp>
          <p:nvSpPr>
            <p:cNvPr id="234" name="Rectangle"/>
            <p:cNvSpPr/>
            <p:nvPr/>
          </p:nvSpPr>
          <p:spPr>
            <a:xfrm>
              <a:off x="2603500" y="5562600"/>
              <a:ext cx="762000" cy="3556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algn="ctr" defTabSz="410751" hangingPunct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812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endParaRPr>
            </a:p>
          </p:txBody>
        </p:sp>
        <p:pic>
          <p:nvPicPr>
            <p:cNvPr id="235" name="droppedImage.pdf" descr="droppedImage.pdf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92800" y="5549900"/>
              <a:ext cx="419100" cy="3323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6" name="droppedImage.pdf" descr="droppedImage.pdf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86200" y="5549900"/>
              <a:ext cx="939800" cy="3817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Newton’s Metho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Newton’s Method</a:t>
            </a:r>
          </a:p>
        </p:txBody>
      </p:sp>
      <p:sp>
        <p:nvSpPr>
          <p:cNvPr id="240" name="So to find the square root of ‘n’ find a formula where f(x)=0 when x=√n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So to find the square root of ‘n’ find a formula where f(x)=0 when x=√</a:t>
            </a:r>
            <a:r>
              <a:rPr b="1"/>
              <a:t>n</a:t>
            </a:r>
            <a:r>
              <a:t>.</a:t>
            </a:r>
          </a:p>
          <a:p>
            <a:r>
              <a:t>Voila :</a:t>
            </a:r>
          </a:p>
          <a:p>
            <a:pPr>
              <a:spcBef>
                <a:spcPts val="4219"/>
              </a:spcBef>
            </a:pPr>
            <a:r>
              <a:t>Hence :</a:t>
            </a:r>
          </a:p>
        </p:txBody>
      </p:sp>
      <p:pic>
        <p:nvPicPr>
          <p:cNvPr id="241" name="droppedImage.pdf" descr="f of x = x squared minus 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663" y="3152180"/>
            <a:ext cx="2126791" cy="40183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droppedImage.pdf" descr="algebra dropping the formula above into the generic formula on the previous sli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332" y="3821906"/>
            <a:ext cx="5197078" cy="8843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droppedImage.pdf" descr="Newtons method to find the square root of a number n: the next approximation is equal to the old approximation x plus n over x, all divied by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375" y="5045273"/>
            <a:ext cx="2544961" cy="8847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quare root by Newton"/>
          <p:cNvSpPr txBox="1">
            <a:spLocks noGrp="1"/>
          </p:cNvSpPr>
          <p:nvPr>
            <p:ph type="title"/>
          </p:nvPr>
        </p:nvSpPr>
        <p:spPr>
          <a:xfrm>
            <a:off x="1609725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S</a:t>
            </a:r>
            <a:r>
              <a:rPr err="1"/>
              <a:t>quare</a:t>
            </a:r>
            <a:r>
              <a:t> root by Newton</a:t>
            </a:r>
          </a:p>
        </p:txBody>
      </p:sp>
      <p:sp>
        <p:nvSpPr>
          <p:cNvPr id="248" name="n = input(&quot;Root to be found for?&quot;)…"/>
          <p:cNvSpPr txBox="1"/>
          <p:nvPr/>
        </p:nvSpPr>
        <p:spPr>
          <a:xfrm>
            <a:off x="2416969" y="1946672"/>
            <a:ext cx="7358063" cy="444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n = input("Root to be found for?")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n = int(n)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 err="1">
                <a:solidFill>
                  <a:srgbClr val="000000"/>
                </a:solidFill>
                <a:latin typeface="Courier"/>
                <a:sym typeface="Courier"/>
              </a:rPr>
              <a:t>currentGuess</a:t>
            </a: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= n/2     </a:t>
            </a:r>
            <a:r>
              <a:rPr sz="1687" kern="0" dirty="0">
                <a:solidFill>
                  <a:srgbClr val="0433FF"/>
                </a:solidFill>
                <a:latin typeface="Courier"/>
                <a:sym typeface="Courier"/>
              </a:rPr>
              <a:t># very rough initial guess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error = 0.0001         </a:t>
            </a:r>
            <a:r>
              <a:rPr sz="1687" kern="0" dirty="0">
                <a:solidFill>
                  <a:srgbClr val="0433FF"/>
                </a:solidFill>
                <a:latin typeface="Courier"/>
                <a:sym typeface="Courier"/>
              </a:rPr>
              <a:t># are we close enough?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1687" kern="0" dirty="0">
              <a:solidFill>
                <a:srgbClr val="0433FF"/>
              </a:solidFill>
              <a:latin typeface="Courier"/>
              <a:sym typeface="Courier"/>
            </a:endParaRP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while True:            </a:t>
            </a:r>
            <a:r>
              <a:rPr sz="1687" kern="0" dirty="0">
                <a:solidFill>
                  <a:srgbClr val="0433FF"/>
                </a:solidFill>
                <a:latin typeface="Courier"/>
                <a:sym typeface="Courier"/>
              </a:rPr>
              <a:t># always do the loop once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   </a:t>
            </a:r>
            <a:r>
              <a:rPr sz="1687" kern="0" dirty="0" err="1">
                <a:solidFill>
                  <a:srgbClr val="000000"/>
                </a:solidFill>
                <a:latin typeface="Courier"/>
                <a:sym typeface="Courier"/>
              </a:rPr>
              <a:t>prevGuess</a:t>
            </a: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= </a:t>
            </a:r>
            <a:r>
              <a:rPr sz="1687" kern="0" dirty="0" err="1">
                <a:solidFill>
                  <a:srgbClr val="000000"/>
                </a:solidFill>
                <a:latin typeface="Courier"/>
                <a:sym typeface="Courier"/>
              </a:rPr>
              <a:t>currentGuess</a:t>
            </a:r>
            <a:endParaRPr sz="1687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   </a:t>
            </a:r>
            <a:r>
              <a:rPr sz="1687" kern="0" dirty="0" err="1">
                <a:solidFill>
                  <a:srgbClr val="000000"/>
                </a:solidFill>
                <a:highlight>
                  <a:srgbClr val="FFFF00"/>
                </a:highlight>
                <a:latin typeface="Courier"/>
                <a:sym typeface="Courier"/>
              </a:rPr>
              <a:t>currentGuess</a:t>
            </a:r>
            <a:r>
              <a:rPr sz="1687" kern="0" dirty="0">
                <a:solidFill>
                  <a:srgbClr val="000000"/>
                </a:solidFill>
                <a:highlight>
                  <a:srgbClr val="FFFF00"/>
                </a:highlight>
                <a:latin typeface="Courier"/>
                <a:sym typeface="Courier"/>
              </a:rPr>
              <a:t> = (</a:t>
            </a:r>
            <a:r>
              <a:rPr sz="1687" kern="0" dirty="0" err="1">
                <a:solidFill>
                  <a:srgbClr val="000000"/>
                </a:solidFill>
                <a:highlight>
                  <a:srgbClr val="FFFF00"/>
                </a:highlight>
                <a:latin typeface="Courier"/>
                <a:sym typeface="Courier"/>
              </a:rPr>
              <a:t>prevGuess</a:t>
            </a:r>
            <a:r>
              <a:rPr sz="1687" kern="0" dirty="0">
                <a:solidFill>
                  <a:srgbClr val="000000"/>
                </a:solidFill>
                <a:highlight>
                  <a:srgbClr val="FFFF00"/>
                </a:highlight>
                <a:latin typeface="Courier"/>
                <a:sym typeface="Courier"/>
              </a:rPr>
              <a:t> + n/</a:t>
            </a:r>
            <a:r>
              <a:rPr sz="1687" kern="0" dirty="0" err="1">
                <a:solidFill>
                  <a:srgbClr val="000000"/>
                </a:solidFill>
                <a:highlight>
                  <a:srgbClr val="FFFF00"/>
                </a:highlight>
                <a:latin typeface="Courier"/>
                <a:sym typeface="Courier"/>
              </a:rPr>
              <a:t>prevGuess</a:t>
            </a:r>
            <a:r>
              <a:rPr sz="1687" kern="0" dirty="0">
                <a:solidFill>
                  <a:srgbClr val="000000"/>
                </a:solidFill>
                <a:highlight>
                  <a:srgbClr val="FFFF00"/>
                </a:highlight>
                <a:latin typeface="Courier"/>
                <a:sym typeface="Courier"/>
              </a:rPr>
              <a:t>)/2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   if abs(</a:t>
            </a:r>
            <a:r>
              <a:rPr sz="1687" kern="0" dirty="0" err="1">
                <a:solidFill>
                  <a:srgbClr val="000000"/>
                </a:solidFill>
                <a:latin typeface="Courier"/>
                <a:sym typeface="Courier"/>
              </a:rPr>
              <a:t>prevGuess-currentGuess</a:t>
            </a: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)&lt;error: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       break          </a:t>
            </a:r>
            <a:r>
              <a:rPr sz="1687" kern="0" dirty="0">
                <a:solidFill>
                  <a:srgbClr val="0433FF"/>
                </a:solidFill>
                <a:latin typeface="Courier"/>
                <a:sym typeface="Courier"/>
              </a:rPr>
              <a:t># get out if condition met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1687" kern="0" dirty="0">
              <a:solidFill>
                <a:srgbClr val="0433FF"/>
              </a:solidFill>
              <a:latin typeface="Courier"/>
              <a:sym typeface="Courier"/>
            </a:endParaRP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 err="1">
                <a:solidFill>
                  <a:srgbClr val="000000"/>
                </a:solidFill>
                <a:latin typeface="Courier"/>
                <a:sym typeface="Courier"/>
              </a:rPr>
              <a:t>sqRoot</a:t>
            </a: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 = </a:t>
            </a:r>
            <a:r>
              <a:rPr sz="1687" kern="0" dirty="0" err="1">
                <a:solidFill>
                  <a:srgbClr val="000000"/>
                </a:solidFill>
                <a:latin typeface="Courier"/>
                <a:sym typeface="Courier"/>
              </a:rPr>
              <a:t>currentGuess</a:t>
            </a:r>
            <a:endParaRPr sz="1687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print("Root is {:.2f}".format(</a:t>
            </a:r>
            <a:r>
              <a:rPr sz="1687" kern="0" dirty="0" err="1">
                <a:solidFill>
                  <a:srgbClr val="000000"/>
                </a:solidFill>
                <a:latin typeface="Courier"/>
                <a:sym typeface="Courier"/>
              </a:rPr>
              <a:t>sqRoot</a:t>
            </a:r>
            <a:r>
              <a:rPr sz="1687" kern="0" dirty="0">
                <a:solidFill>
                  <a:srgbClr val="000000"/>
                </a:solidFill>
                <a:latin typeface="Courier"/>
                <a:sym typeface="Courier"/>
              </a:rPr>
              <a:t>))</a:t>
            </a:r>
          </a:p>
          <a:p>
            <a:pPr defTabSz="321457" hangingPunct="0">
              <a:defRPr sz="1300">
                <a:solidFill>
                  <a:srgbClr val="30333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sz="914" kern="0" dirty="0">
              <a:solidFill>
                <a:srgbClr val="303336"/>
              </a:solidFill>
              <a:latin typeface="Menlo Regular"/>
              <a:sym typeface="Menlo Regular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6E2EF9B-8672-FAC2-D7F5-F8CDA91AAE14}"/>
              </a:ext>
            </a:extLst>
          </p:cNvPr>
          <p:cNvCxnSpPr>
            <a:cxnSpLocks/>
          </p:cNvCxnSpPr>
          <p:nvPr/>
        </p:nvCxnSpPr>
        <p:spPr>
          <a:xfrm flipH="1">
            <a:off x="8514643" y="3286897"/>
            <a:ext cx="604644" cy="56223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616E1C9-BB5A-9B2B-690C-6F45688B3362}"/>
              </a:ext>
            </a:extLst>
          </p:cNvPr>
          <p:cNvSpPr txBox="1"/>
          <p:nvPr/>
        </p:nvSpPr>
        <p:spPr>
          <a:xfrm>
            <a:off x="8642560" y="2924969"/>
            <a:ext cx="2979982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This is the previous end function on previous slide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by Newton, 2"/>
              <p:cNvSpPr txBox="1">
                <a:spLocks noGrp="1"/>
              </p:cNvSpPr>
              <p:nvPr>
                <p:ph type="title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sz="6187" i="1">
                        <a:latin typeface="Cambria Math" panose="02040503050406030204" pitchFamily="18" charset="0"/>
                      </a:rPr>
                      <m:t>√</m:t>
                    </m:r>
                  </m:oMath>
                </a14:m>
                <a:r>
                  <a:t> by Newton, 2</a:t>
                </a:r>
              </a:p>
            </p:txBody>
          </p:sp>
        </mc:Choice>
        <mc:Fallback xmlns="">
          <p:sp>
            <p:nvSpPr>
              <p:cNvPr id="252" name="by Newton,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b="-6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3" name="# some people find 'break' statements unpleasant…"/>
          <p:cNvSpPr txBox="1"/>
          <p:nvPr/>
        </p:nvSpPr>
        <p:spPr>
          <a:xfrm>
            <a:off x="2416969" y="1946672"/>
            <a:ext cx="7358063" cy="444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pPr defTabSz="410751" hangingPunct="0"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433FF"/>
                </a:solidFill>
                <a:latin typeface="Courier"/>
                <a:sym typeface="Courier"/>
              </a:rPr>
              <a:t># some people find 'break' statements unpleasant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1687" kern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n = input("Root to be found for?")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n = int(n)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currentGuess = n/2     </a:t>
            </a:r>
            <a:r>
              <a:rPr sz="1687" kern="0">
                <a:solidFill>
                  <a:srgbClr val="0433FF"/>
                </a:solidFill>
                <a:latin typeface="Courier"/>
                <a:sym typeface="Courier"/>
              </a:rPr>
              <a:t># very rough initial guess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error = 0.0001         </a:t>
            </a:r>
            <a:r>
              <a:rPr sz="1687" kern="0">
                <a:solidFill>
                  <a:srgbClr val="0433FF"/>
                </a:solidFill>
                <a:latin typeface="Courier"/>
                <a:sym typeface="Courier"/>
              </a:rPr>
              <a:t># are we close enough?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1687" kern="0">
              <a:solidFill>
                <a:srgbClr val="0433FF"/>
              </a:solidFill>
              <a:latin typeface="Courier"/>
              <a:sym typeface="Courier"/>
            </a:endParaRP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while abs(prevGuess-currentGuess)&gt;error:  </a:t>
            </a:r>
            <a:r>
              <a:rPr sz="1687" kern="0">
                <a:solidFill>
                  <a:srgbClr val="0433FF"/>
                </a:solidFill>
                <a:latin typeface="Courier"/>
                <a:sym typeface="Courier"/>
              </a:rPr>
              <a:t># note!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prevGuess = currentGuess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    currentGuess = (prevGuess + n/prevGuess)/2</a:t>
            </a:r>
          </a:p>
          <a:p>
            <a:pPr defTabSz="410751" hangingPunct="0"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433FF"/>
                </a:solidFill>
                <a:latin typeface="Courier"/>
                <a:sym typeface="Courier"/>
              </a:rPr>
              <a:t># note different logic</a:t>
            </a:r>
          </a:p>
          <a:p>
            <a:pPr defTabSz="410751" hangingPunct="0"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433FF"/>
                </a:solidFill>
                <a:latin typeface="Courier"/>
                <a:sym typeface="Courier"/>
              </a:rPr>
              <a:t># note different number of iterations - happens to be ok</a:t>
            </a:r>
          </a:p>
          <a:p>
            <a:pPr defTabSz="410751" hangingPunct="0"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433FF"/>
                </a:solidFill>
                <a:latin typeface="Courier"/>
                <a:sym typeface="Courier"/>
              </a:rPr>
              <a:t># usually need to do first check outside loop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1687" kern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sqRoot = currentGuess</a:t>
            </a:r>
          </a:p>
          <a:p>
            <a:pPr defTabSz="410751" hangingPunct="0"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687" kern="0">
                <a:solidFill>
                  <a:srgbClr val="000000"/>
                </a:solidFill>
                <a:latin typeface="Courier"/>
                <a:sym typeface="Courier"/>
              </a:rPr>
              <a:t>print("Root is {:.2f}".format(sqRoot))</a:t>
            </a:r>
          </a:p>
          <a:p>
            <a:pPr defTabSz="321457" hangingPunct="0">
              <a:defRPr sz="1300">
                <a:solidFill>
                  <a:srgbClr val="30333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sz="914" kern="0">
              <a:solidFill>
                <a:srgbClr val="303336"/>
              </a:solidFill>
              <a:latin typeface="Menlo Regular"/>
              <a:sym typeface="Menlo Regular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for loop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F</a:t>
            </a:r>
            <a:r>
              <a:t>or loops</a:t>
            </a:r>
          </a:p>
        </p:txBody>
      </p:sp>
      <p:sp>
        <p:nvSpPr>
          <p:cNvPr id="258" name="Really nice fix for annoying source of errors !…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Really nice fix for annoying source of errors !</a:t>
            </a:r>
          </a:p>
          <a:p>
            <a:r>
              <a:t>But we'll need to do </a:t>
            </a:r>
            <a:r>
              <a:rPr i="1"/>
              <a:t>lists</a:t>
            </a:r>
            <a:r>
              <a:t>, </a:t>
            </a:r>
            <a:r>
              <a:rPr i="1"/>
              <a:t>tuples</a:t>
            </a:r>
            <a:r>
              <a:t> and </a:t>
            </a:r>
            <a:r>
              <a:rPr i="1"/>
              <a:t>dictionaries</a:t>
            </a:r>
            <a:r>
              <a:t> first.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for"/>
          <p:cNvSpPr txBox="1">
            <a:spLocks noGrp="1"/>
          </p:cNvSpPr>
          <p:nvPr>
            <p:ph type="title"/>
          </p:nvPr>
        </p:nvSpPr>
        <p:spPr>
          <a:xfrm>
            <a:off x="1847850" y="0"/>
            <a:ext cx="3733800" cy="1828800"/>
          </a:xfrm>
          <a:prstGeom prst="rect">
            <a:avLst/>
          </a:prstGeom>
        </p:spPr>
        <p:txBody>
          <a:bodyPr/>
          <a:lstStyle/>
          <a:p>
            <a:r>
              <a:t>for</a:t>
            </a:r>
          </a:p>
        </p:txBody>
      </p:sp>
      <p:sp>
        <p:nvSpPr>
          <p:cNvPr id="261" name="the classic counter loop in C, Pascal, etc :…"/>
          <p:cNvSpPr txBox="1">
            <a:spLocks noGrp="1"/>
          </p:cNvSpPr>
          <p:nvPr>
            <p:ph type="body" idx="1"/>
          </p:nvPr>
        </p:nvSpPr>
        <p:spPr>
          <a:xfrm>
            <a:off x="752475" y="1546622"/>
            <a:ext cx="11229975" cy="4393406"/>
          </a:xfrm>
          <a:prstGeom prst="rect">
            <a:avLst/>
          </a:prstGeom>
        </p:spPr>
        <p:txBody>
          <a:bodyPr/>
          <a:lstStyle/>
          <a:p>
            <a:r>
              <a:rPr dirty="0"/>
              <a:t>the classic counter loop in C, Pascal, </a:t>
            </a:r>
            <a:r>
              <a:rPr dirty="0" err="1"/>
              <a:t>etc</a:t>
            </a:r>
            <a:r>
              <a:rPr dirty="0"/>
              <a:t> : </a:t>
            </a:r>
          </a:p>
          <a:p>
            <a:pPr marL="0" lvl="1" indent="0">
              <a:buSzTx/>
              <a:buNone/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for (</a:t>
            </a:r>
            <a:r>
              <a:rPr dirty="0" err="1"/>
              <a:t>i</a:t>
            </a:r>
            <a:r>
              <a:rPr dirty="0"/>
              <a:t>=0;i&lt;10;i++) &lt;statement&gt;</a:t>
            </a:r>
          </a:p>
          <a:p>
            <a:r>
              <a:rPr dirty="0" err="1"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dirty="0"/>
              <a:t> is a loop counter, which counts from zero to 9 or 10, and increments by one each time (the </a:t>
            </a:r>
            <a:r>
              <a:rPr sz="2531" dirty="0" err="1"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++</a:t>
            </a:r>
            <a:r>
              <a:rPr dirty="0"/>
              <a:t>).</a:t>
            </a:r>
          </a:p>
          <a:p>
            <a:r>
              <a:rPr dirty="0"/>
              <a:t>counting loops are ubiquitous in all programming languages - and big source of errors (</a:t>
            </a:r>
            <a:r>
              <a:rPr dirty="0">
                <a:solidFill>
                  <a:srgbClr val="FF2600"/>
                </a:solidFill>
              </a:rPr>
              <a:t>is it 9 or 10?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16040-7CF4-E417-AA04-DF4CCDFFB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400" dirty="0"/>
              <a:t>Why do we use loops for counting? </a:t>
            </a:r>
          </a:p>
          <a:p>
            <a:r>
              <a:rPr lang="en-US" sz="4400" dirty="0"/>
              <a:t>Any ideas? </a:t>
            </a:r>
          </a:p>
        </p:txBody>
      </p:sp>
    </p:spTree>
    <p:extLst>
      <p:ext uri="{BB962C8B-B14F-4D97-AF65-F5344CB8AC3E}">
        <p14:creationId xmlns:p14="http://schemas.microsoft.com/office/powerpoint/2010/main" val="139490562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C0B2D-4DA6-95FC-7563-77A0C50B0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7676" y="1900953"/>
            <a:ext cx="10016986" cy="1167464"/>
          </a:xfrm>
        </p:spPr>
        <p:txBody>
          <a:bodyPr/>
          <a:lstStyle/>
          <a:p>
            <a:pPr marL="265056">
              <a:spcBef>
                <a:spcPts val="0"/>
              </a:spcBef>
            </a:pPr>
            <a:r>
              <a:rPr lang="en-US" sz="2400" dirty="0"/>
              <a:t>Because they can do accelerated calculations and monitor things better than a human</a:t>
            </a:r>
          </a:p>
          <a:p>
            <a:pPr marL="265056">
              <a:spcBef>
                <a:spcPts val="0"/>
              </a:spcBef>
            </a:pPr>
            <a:r>
              <a:rPr lang="en-US" sz="2400" dirty="0"/>
              <a:t>Take this easy example- Find the pink Dot?</a:t>
            </a:r>
          </a:p>
          <a:p>
            <a:pPr marL="265056">
              <a:spcBef>
                <a:spcPts val="0"/>
              </a:spcBef>
            </a:pPr>
            <a:r>
              <a:rPr lang="en-US" sz="2400" dirty="0"/>
              <a:t>FYI If you blink you will miss it </a:t>
            </a:r>
          </a:p>
          <a:p>
            <a:pPr marL="265056">
              <a:spcBef>
                <a:spcPts val="0"/>
              </a:spcBef>
            </a:pPr>
            <a:r>
              <a:rPr lang="en-US" sz="2400" dirty="0"/>
              <a:t>Next click of the mouse will start the animation. 3, 2,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AE9728-ADC6-754B-0593-B99DF0DC0BF2}"/>
              </a:ext>
            </a:extLst>
          </p:cNvPr>
          <p:cNvSpPr/>
          <p:nvPr/>
        </p:nvSpPr>
        <p:spPr>
          <a:xfrm>
            <a:off x="827798" y="3913632"/>
            <a:ext cx="914400" cy="9144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9EFE0F-B453-C613-4160-D84BA0B3F48D}"/>
              </a:ext>
            </a:extLst>
          </p:cNvPr>
          <p:cNvSpPr/>
          <p:nvPr/>
        </p:nvSpPr>
        <p:spPr>
          <a:xfrm>
            <a:off x="2028263" y="3913632"/>
            <a:ext cx="914400" cy="9144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D4CCBE-B417-4840-233F-7806111574A5}"/>
              </a:ext>
            </a:extLst>
          </p:cNvPr>
          <p:cNvSpPr/>
          <p:nvPr/>
        </p:nvSpPr>
        <p:spPr>
          <a:xfrm>
            <a:off x="3228728" y="3913632"/>
            <a:ext cx="914400" cy="9144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542B1C-457F-6597-7739-792D5A50FE64}"/>
              </a:ext>
            </a:extLst>
          </p:cNvPr>
          <p:cNvSpPr/>
          <p:nvPr/>
        </p:nvSpPr>
        <p:spPr>
          <a:xfrm>
            <a:off x="4429193" y="3913632"/>
            <a:ext cx="914400" cy="9144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76508E-C046-CF26-42C2-0A6CDA57BF21}"/>
              </a:ext>
            </a:extLst>
          </p:cNvPr>
          <p:cNvSpPr/>
          <p:nvPr/>
        </p:nvSpPr>
        <p:spPr>
          <a:xfrm>
            <a:off x="5629658" y="3913632"/>
            <a:ext cx="914400" cy="9144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8A7C9E-A8B0-9F9E-F123-9125C0913B69}"/>
              </a:ext>
            </a:extLst>
          </p:cNvPr>
          <p:cNvSpPr/>
          <p:nvPr/>
        </p:nvSpPr>
        <p:spPr>
          <a:xfrm>
            <a:off x="6830123" y="3913632"/>
            <a:ext cx="914400" cy="914400"/>
          </a:xfrm>
          <a:prstGeom prst="ellipse">
            <a:avLst/>
          </a:prstGeom>
          <a:solidFill>
            <a:schemeClr val="accent6">
              <a:alpha val="99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01080E-1D10-DF41-2B75-3EB309AF0B16}"/>
              </a:ext>
            </a:extLst>
          </p:cNvPr>
          <p:cNvSpPr/>
          <p:nvPr/>
        </p:nvSpPr>
        <p:spPr>
          <a:xfrm>
            <a:off x="8030588" y="3913632"/>
            <a:ext cx="914400" cy="9144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CF607BE-C3F7-36A5-ED4C-BA874940E142}"/>
              </a:ext>
            </a:extLst>
          </p:cNvPr>
          <p:cNvSpPr/>
          <p:nvPr/>
        </p:nvSpPr>
        <p:spPr>
          <a:xfrm>
            <a:off x="9231053" y="3913632"/>
            <a:ext cx="914400" cy="9144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D9B8AA-6DFD-664F-1912-0962BBB79F30}"/>
              </a:ext>
            </a:extLst>
          </p:cNvPr>
          <p:cNvSpPr/>
          <p:nvPr/>
        </p:nvSpPr>
        <p:spPr>
          <a:xfrm>
            <a:off x="10431514" y="3913632"/>
            <a:ext cx="914400" cy="91440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F71909-2D95-DD94-5B83-416C14A195F1}"/>
              </a:ext>
            </a:extLst>
          </p:cNvPr>
          <p:cNvSpPr txBox="1"/>
          <p:nvPr/>
        </p:nvSpPr>
        <p:spPr>
          <a:xfrm>
            <a:off x="1038485" y="5065256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81DB71-D1C9-C99E-D20D-E9C712AEFDA0}"/>
              </a:ext>
            </a:extLst>
          </p:cNvPr>
          <p:cNvSpPr txBox="1"/>
          <p:nvPr/>
        </p:nvSpPr>
        <p:spPr>
          <a:xfrm>
            <a:off x="2299514" y="5065256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200" dirty="0">
                <a:solidFill>
                  <a:srgbClr val="000000"/>
                </a:solidFill>
                <a:sym typeface="Gill Sans"/>
              </a:rPr>
              <a:t>2</a:t>
            </a:r>
            <a:endParaRPr kumimoji="0" lang="en-US" sz="4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72FB6-DD28-D9D0-7930-0345F0A576A6}"/>
              </a:ext>
            </a:extLst>
          </p:cNvPr>
          <p:cNvSpPr txBox="1"/>
          <p:nvPr/>
        </p:nvSpPr>
        <p:spPr>
          <a:xfrm>
            <a:off x="3499979" y="5065256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FCBA8F-40FE-A354-B42C-E60CDCA0A85C}"/>
              </a:ext>
            </a:extLst>
          </p:cNvPr>
          <p:cNvSpPr txBox="1"/>
          <p:nvPr/>
        </p:nvSpPr>
        <p:spPr>
          <a:xfrm>
            <a:off x="4700444" y="5065256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4AF619-7F00-1141-C07C-76DD47B1A61A}"/>
              </a:ext>
            </a:extLst>
          </p:cNvPr>
          <p:cNvSpPr txBox="1"/>
          <p:nvPr/>
        </p:nvSpPr>
        <p:spPr>
          <a:xfrm>
            <a:off x="5900909" y="5065256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E6674C-DBBA-AB92-9F1C-356090233100}"/>
              </a:ext>
            </a:extLst>
          </p:cNvPr>
          <p:cNvSpPr txBox="1"/>
          <p:nvPr/>
        </p:nvSpPr>
        <p:spPr>
          <a:xfrm>
            <a:off x="7101373" y="5065256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BD8473-5717-8644-5CCC-69A9DEDAAE70}"/>
              </a:ext>
            </a:extLst>
          </p:cNvPr>
          <p:cNvSpPr txBox="1"/>
          <p:nvPr/>
        </p:nvSpPr>
        <p:spPr>
          <a:xfrm>
            <a:off x="8301837" y="5065256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6AC638-2040-C09C-0666-733B350A681A}"/>
              </a:ext>
            </a:extLst>
          </p:cNvPr>
          <p:cNvSpPr txBox="1"/>
          <p:nvPr/>
        </p:nvSpPr>
        <p:spPr>
          <a:xfrm>
            <a:off x="9502304" y="5065256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69AF3F-F04C-FB0B-B903-5D84FB62328D}"/>
              </a:ext>
            </a:extLst>
          </p:cNvPr>
          <p:cNvSpPr txBox="1"/>
          <p:nvPr/>
        </p:nvSpPr>
        <p:spPr>
          <a:xfrm>
            <a:off x="10702765" y="5065256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09A3CA-70D5-4EC6-AA82-F003FCE15FA0}"/>
              </a:ext>
            </a:extLst>
          </p:cNvPr>
          <p:cNvSpPr txBox="1"/>
          <p:nvPr/>
        </p:nvSpPr>
        <p:spPr>
          <a:xfrm>
            <a:off x="6738567" y="5971475"/>
            <a:ext cx="258404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200" dirty="0">
                <a:solidFill>
                  <a:srgbClr val="000000"/>
                </a:solidFill>
                <a:sym typeface="Gill Sans"/>
              </a:rPr>
              <a:t>Answer is? </a:t>
            </a:r>
            <a:endParaRPr kumimoji="0" lang="en-US" sz="4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93C35ED-60C7-E85F-64E2-97435FF1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442770"/>
            <a:ext cx="9810750" cy="900398"/>
          </a:xfrm>
        </p:spPr>
        <p:txBody>
          <a:bodyPr/>
          <a:lstStyle/>
          <a:p>
            <a:r>
              <a:rPr lang="en-US" dirty="0"/>
              <a:t>Example 1- Level Easy</a:t>
            </a:r>
          </a:p>
        </p:txBody>
      </p:sp>
    </p:spTree>
    <p:extLst>
      <p:ext uri="{BB962C8B-B14F-4D97-AF65-F5344CB8AC3E}">
        <p14:creationId xmlns:p14="http://schemas.microsoft.com/office/powerpoint/2010/main" val="30029063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B813-0B29-4EAD-574D-92F40C3E3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809" y="442770"/>
            <a:ext cx="9810750" cy="900398"/>
          </a:xfrm>
        </p:spPr>
        <p:txBody>
          <a:bodyPr/>
          <a:lstStyle/>
          <a:p>
            <a:r>
              <a:rPr lang="en-US" dirty="0"/>
              <a:t>Example 2- Level Difficult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35C8D-6F44-6D4C-8A31-45E454318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625" y="1946673"/>
            <a:ext cx="9810750" cy="1866376"/>
          </a:xfrm>
        </p:spPr>
        <p:txBody>
          <a:bodyPr/>
          <a:lstStyle/>
          <a:p>
            <a:r>
              <a:rPr lang="en-US" dirty="0"/>
              <a:t>Lets say you are </a:t>
            </a:r>
            <a:r>
              <a:rPr lang="en-US" dirty="0" err="1"/>
              <a:t>analysing</a:t>
            </a:r>
            <a:r>
              <a:rPr lang="en-US" dirty="0"/>
              <a:t> lots of outputs from a signal generator</a:t>
            </a:r>
          </a:p>
          <a:p>
            <a:r>
              <a:rPr lang="en-US" dirty="0"/>
              <a:t>When the number 1 is output- An error is indicated</a:t>
            </a:r>
          </a:p>
          <a:p>
            <a:r>
              <a:rPr lang="en-US" dirty="0"/>
              <a:t>Human Trial. Which row of the excel sheet outputs the number 1? </a:t>
            </a:r>
          </a:p>
        </p:txBody>
      </p:sp>
      <p:pic>
        <p:nvPicPr>
          <p:cNvPr id="4" name="Screen Recording 2023-09-29 at 10.48.26">
            <a:hlinkClick r:id="" action="ppaction://media"/>
            <a:extLst>
              <a:ext uri="{FF2B5EF4-FFF2-40B4-BE49-F238E27FC236}">
                <a16:creationId xmlns:a16="http://schemas.microsoft.com/office/drawing/2014/main" id="{0484E758-391A-6F9F-09A9-EAA0E933564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6888.8747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8935" y="4421395"/>
            <a:ext cx="4577969" cy="21363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308033-F7E9-2384-EE60-035F07CE1F86}"/>
              </a:ext>
            </a:extLst>
          </p:cNvPr>
          <p:cNvSpPr txBox="1"/>
          <p:nvPr/>
        </p:nvSpPr>
        <p:spPr>
          <a:xfrm>
            <a:off x="6406130" y="4875269"/>
            <a:ext cx="3959417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Answer: Row 84 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(20.51 seconds into video)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A9D9B-E2A1-6AFB-5346-0F21DA1ACE5E}"/>
              </a:ext>
            </a:extLst>
          </p:cNvPr>
          <p:cNvSpPr txBox="1"/>
          <p:nvPr/>
        </p:nvSpPr>
        <p:spPr>
          <a:xfrm>
            <a:off x="5181885" y="5839636"/>
            <a:ext cx="6407909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FF0000"/>
                </a:solidFill>
                <a:sym typeface="Gill Sans"/>
              </a:rPr>
              <a:t>Moral of the story…</a:t>
            </a:r>
            <a:br>
              <a:rPr lang="en-US" sz="2000" dirty="0">
                <a:solidFill>
                  <a:srgbClr val="FF0000"/>
                </a:solidFill>
                <a:sym typeface="Gill Sans"/>
              </a:rPr>
            </a:br>
            <a:r>
              <a:rPr lang="en-US" sz="2000" dirty="0">
                <a:solidFill>
                  <a:srgbClr val="FF0000"/>
                </a:solidFill>
                <a:sym typeface="Gill Sans"/>
              </a:rPr>
              <a:t>We can get python to just detect and tell us via for loops </a:t>
            </a:r>
            <a:r>
              <a:rPr lang="en-US" sz="2000" dirty="0" err="1">
                <a:solidFill>
                  <a:srgbClr val="FF0000"/>
                </a:solidFill>
                <a:sym typeface="Gill Sans"/>
              </a:rPr>
              <a:t>etc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35B99B-F149-072F-48B2-2081B3E2B8CA}"/>
              </a:ext>
            </a:extLst>
          </p:cNvPr>
          <p:cNvSpPr txBox="1"/>
          <p:nvPr/>
        </p:nvSpPr>
        <p:spPr>
          <a:xfrm>
            <a:off x="6615461" y="4372566"/>
            <a:ext cx="321786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Next click shows answer</a:t>
            </a:r>
          </a:p>
        </p:txBody>
      </p:sp>
    </p:spTree>
    <p:extLst>
      <p:ext uri="{BB962C8B-B14F-4D97-AF65-F5344CB8AC3E}">
        <p14:creationId xmlns:p14="http://schemas.microsoft.com/office/powerpoint/2010/main" val="2897975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6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for - tast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 - taster</a:t>
            </a:r>
          </a:p>
        </p:txBody>
      </p:sp>
      <p:sp>
        <p:nvSpPr>
          <p:cNvPr id="264" name="reminder of our powers of 2 example :…"/>
          <p:cNvSpPr txBox="1">
            <a:spLocks noGrp="1"/>
          </p:cNvSpPr>
          <p:nvPr>
            <p:ph type="body" idx="1"/>
          </p:nvPr>
        </p:nvSpPr>
        <p:spPr>
          <a:xfrm>
            <a:off x="419101" y="1946672"/>
            <a:ext cx="11610974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reminder of our powers of 2 example 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counter, value = 0, 1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n = input("value for index?")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n = int(n)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print("current value </a:t>
            </a:r>
            <a:r>
              <a:rPr dirty="0" err="1"/>
              <a:t>is"+str</a:t>
            </a:r>
            <a:r>
              <a:rPr dirty="0"/>
              <a:t>(value))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while (counter&lt;n):</a:t>
            </a:r>
          </a:p>
          <a:p>
            <a:pPr marL="0" lvl="6" indent="197339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value = 2*value;   # or  value *= 2;</a:t>
            </a:r>
          </a:p>
          <a:p>
            <a:pPr marL="0" lvl="6" indent="197339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print("current value </a:t>
            </a:r>
            <a:r>
              <a:rPr dirty="0" err="1"/>
              <a:t>is"+str</a:t>
            </a:r>
            <a:r>
              <a:rPr dirty="0"/>
              <a:t>(value))</a:t>
            </a:r>
          </a:p>
          <a:p>
            <a:pPr marL="0" lvl="6" indent="197339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counter+=1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for - taster"/>
          <p:cNvSpPr txBox="1">
            <a:spLocks noGrp="1"/>
          </p:cNvSpPr>
          <p:nvPr>
            <p:ph type="title"/>
          </p:nvPr>
        </p:nvSpPr>
        <p:spPr>
          <a:xfrm>
            <a:off x="2752725" y="73819"/>
            <a:ext cx="4905375" cy="1434703"/>
          </a:xfrm>
          <a:prstGeom prst="rect">
            <a:avLst/>
          </a:prstGeom>
        </p:spPr>
        <p:txBody>
          <a:bodyPr/>
          <a:lstStyle/>
          <a:p>
            <a:r>
              <a:t>for - taster</a:t>
            </a:r>
          </a:p>
        </p:txBody>
      </p:sp>
      <p:sp>
        <p:nvSpPr>
          <p:cNvPr id="269" name="done with a for loop to show the improved clarity - and thus less error prone:…"/>
          <p:cNvSpPr txBox="1">
            <a:spLocks noGrp="1"/>
          </p:cNvSpPr>
          <p:nvPr>
            <p:ph type="body" idx="1"/>
          </p:nvPr>
        </p:nvSpPr>
        <p:spPr>
          <a:xfrm>
            <a:off x="276225" y="1403747"/>
            <a:ext cx="11839575" cy="4671482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done with a for loop to show the improved clarity - and thus less error prone: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value = 1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n = input("value for index?")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n = int(n)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for number in range(n):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value *= 2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print("current value </a:t>
            </a:r>
            <a:r>
              <a:rPr err="1"/>
              <a:t>is"+str</a:t>
            </a:r>
            <a:r>
              <a:t>(value))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no counter variable to get wrong !</a:t>
            </a:r>
          </a:p>
          <a:p>
            <a:pPr marL="401822"/>
            <a:r>
              <a:t>this is even better if the range is defined by the data set and not by a counting variable.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uples, lists, dictionarie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tuples, lists, dictionaries</a:t>
            </a:r>
          </a:p>
        </p:txBody>
      </p:sp>
      <p:sp>
        <p:nvSpPr>
          <p:cNvPr id="274" name="counting ranges defined by data 🙂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counting ranges defined by data 🙂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uples"/>
          <p:cNvSpPr txBox="1">
            <a:spLocks noGrp="1"/>
          </p:cNvSpPr>
          <p:nvPr>
            <p:ph type="title"/>
          </p:nvPr>
        </p:nvSpPr>
        <p:spPr>
          <a:xfrm>
            <a:off x="2895600" y="73819"/>
            <a:ext cx="4991100" cy="1488281"/>
          </a:xfrm>
          <a:prstGeom prst="rect">
            <a:avLst/>
          </a:prstGeom>
        </p:spPr>
        <p:txBody>
          <a:bodyPr/>
          <a:lstStyle/>
          <a:p>
            <a:r>
              <a:rPr lang="en-GB"/>
              <a:t>T</a:t>
            </a:r>
            <a:r>
              <a:rPr err="1"/>
              <a:t>uples</a:t>
            </a:r>
            <a:endParaRPr/>
          </a:p>
        </p:txBody>
      </p:sp>
      <p:sp>
        <p:nvSpPr>
          <p:cNvPr id="277" name="you've actually seen these before:…"/>
          <p:cNvSpPr txBox="1">
            <a:spLocks noGrp="1"/>
          </p:cNvSpPr>
          <p:nvPr>
            <p:ph type="body" idx="1"/>
          </p:nvPr>
        </p:nvSpPr>
        <p:spPr>
          <a:xfrm>
            <a:off x="581025" y="1641872"/>
            <a:ext cx="11325225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you've actually seen these before: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counter, value = 0, 1          </a:t>
            </a:r>
            <a:r>
              <a:rPr>
                <a:solidFill>
                  <a:srgbClr val="0433FF"/>
                </a:solidFill>
              </a:rPr>
              <a:t># tuple, two elements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dimensions3D = (16, 12, 8)     </a:t>
            </a:r>
            <a:r>
              <a:rPr>
                <a:solidFill>
                  <a:srgbClr val="0433FF"/>
                </a:solidFill>
              </a:rPr>
              <a:t># or just 16, 12, 8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round brackets, which are optional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counter, value integers, dimensions3D a tuple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for dim in dimensions3D: </a:t>
            </a:r>
            <a:r>
              <a:rPr>
                <a:solidFill>
                  <a:srgbClr val="0433FF"/>
                </a:solidFill>
              </a:rPr>
              <a:t>      # easy to use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    </a:t>
            </a:r>
            <a:r>
              <a:t>print(dim)</a:t>
            </a:r>
          </a:p>
          <a:p>
            <a:pPr marL="401822"/>
            <a:r>
              <a:t>you don't need items to be the same type: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personal_details</a:t>
            </a:r>
            <a:r>
              <a:t> = '</a:t>
            </a:r>
            <a:r>
              <a:rPr err="1"/>
              <a:t>ann</a:t>
            </a:r>
            <a:r>
              <a:t>', 10, 'female', 2.0</a:t>
            </a:r>
          </a:p>
          <a:p>
            <a:pPr marL="401822"/>
            <a:r>
              <a:t>remember, </a:t>
            </a:r>
            <a:r>
              <a:rPr>
                <a:solidFill>
                  <a:srgbClr val="FF2600"/>
                </a:solidFill>
              </a:rPr>
              <a:t>round</a:t>
            </a:r>
            <a:r>
              <a:t> brackets or no brackets.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uples"/>
          <p:cNvSpPr txBox="1">
            <a:spLocks noGrp="1"/>
          </p:cNvSpPr>
          <p:nvPr>
            <p:ph type="title"/>
          </p:nvPr>
        </p:nvSpPr>
        <p:spPr>
          <a:xfrm>
            <a:off x="1095375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</a:t>
            </a:r>
            <a:r>
              <a:rPr err="1"/>
              <a:t>uples</a:t>
            </a:r>
            <a:endParaRPr/>
          </a:p>
        </p:txBody>
      </p:sp>
      <p:sp>
        <p:nvSpPr>
          <p:cNvPr id="282" name="almost everything we do below with lists we can do with tuples.…"/>
          <p:cNvSpPr txBox="1">
            <a:spLocks noGrp="1"/>
          </p:cNvSpPr>
          <p:nvPr>
            <p:ph type="body" idx="1"/>
          </p:nvPr>
        </p:nvSpPr>
        <p:spPr>
          <a:xfrm>
            <a:off x="1095375" y="1670447"/>
            <a:ext cx="10001250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almost everything we do below with lists we can do with tuples.</a:t>
            </a:r>
          </a:p>
          <a:p>
            <a:pPr marL="401822"/>
            <a:r>
              <a:t>however, tuples are </a:t>
            </a:r>
            <a:r>
              <a:rPr i="1"/>
              <a:t>immutable</a:t>
            </a:r>
            <a:r>
              <a:t>, and so you can only change them by making a new altered copy and scrubbing the old one.</a:t>
            </a:r>
          </a:p>
          <a:p>
            <a:pPr marL="401822"/>
            <a:r>
              <a:t>so they are great for lists that you know will never change, but are a memory and time hog for anything which will be regularly updated... for that we need </a:t>
            </a:r>
            <a:r>
              <a:rPr i="1"/>
              <a:t>lists</a:t>
            </a:r>
            <a:r>
              <a:t> !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lis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L</a:t>
            </a:r>
            <a:r>
              <a:rPr err="1"/>
              <a:t>ists</a:t>
            </a:r>
            <a:endParaRPr/>
          </a:p>
        </p:txBody>
      </p:sp>
      <p:sp>
        <p:nvSpPr>
          <p:cNvPr id="287" name="square brackets:…"/>
          <p:cNvSpPr txBox="1">
            <a:spLocks noGrp="1"/>
          </p:cNvSpPr>
          <p:nvPr>
            <p:ph type="body" idx="1"/>
          </p:nvPr>
        </p:nvSpPr>
        <p:spPr>
          <a:xfrm>
            <a:off x="400050" y="1660922"/>
            <a:ext cx="11582399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square brackets: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small_numbers</a:t>
            </a:r>
            <a:r>
              <a:t> = [0, 1]          </a:t>
            </a:r>
            <a:r>
              <a:rPr>
                <a:solidFill>
                  <a:srgbClr val="0433FF"/>
                </a:solidFill>
              </a:rPr>
              <a:t># list, two elements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dimensions3D = [16, 12, 8]     </a:t>
            </a:r>
            <a:r>
              <a:rPr>
                <a:solidFill>
                  <a:srgbClr val="0433FF"/>
                </a:solidFill>
              </a:rPr>
              <a:t>#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square brackets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for dim in dimensions3D: </a:t>
            </a:r>
            <a:r>
              <a:rPr>
                <a:solidFill>
                  <a:srgbClr val="0433FF"/>
                </a:solidFill>
              </a:rPr>
              <a:t>      # use again is easy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    </a:t>
            </a:r>
            <a:r>
              <a:t>print(dim)</a:t>
            </a:r>
          </a:p>
          <a:p>
            <a:pPr marL="401822"/>
            <a:r>
              <a:t>again you don't need them to be the same: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personal_details</a:t>
            </a:r>
            <a:r>
              <a:t> = ['</a:t>
            </a:r>
            <a:r>
              <a:rPr err="1"/>
              <a:t>ann</a:t>
            </a:r>
            <a:r>
              <a:t>', 10, 'female', 2.0]</a:t>
            </a:r>
          </a:p>
          <a:p>
            <a:pPr marL="401822"/>
            <a:r>
              <a:t>remember, </a:t>
            </a:r>
            <a:r>
              <a:rPr>
                <a:solidFill>
                  <a:srgbClr val="FF2600"/>
                </a:solidFill>
              </a:rPr>
              <a:t>square</a:t>
            </a:r>
            <a:r>
              <a:t> brackets.</a:t>
            </a:r>
            <a:br>
              <a:rPr/>
            </a:br>
            <a:r>
              <a:t>and being mutable, means flexibility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lists - useful actions"/>
          <p:cNvSpPr txBox="1">
            <a:spLocks noGrp="1"/>
          </p:cNvSpPr>
          <p:nvPr>
            <p:ph type="title"/>
          </p:nvPr>
        </p:nvSpPr>
        <p:spPr>
          <a:xfrm>
            <a:off x="1447800" y="-25048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t>lists - useful actions </a:t>
            </a:r>
          </a:p>
        </p:txBody>
      </p:sp>
      <p:sp>
        <p:nvSpPr>
          <p:cNvPr id="292" name="creating a list and finding its size - len():…"/>
          <p:cNvSpPr txBox="1">
            <a:spLocks noGrp="1"/>
          </p:cNvSpPr>
          <p:nvPr>
            <p:ph type="body" idx="1"/>
          </p:nvPr>
        </p:nvSpPr>
        <p:spPr>
          <a:xfrm>
            <a:off x="781050" y="1689452"/>
            <a:ext cx="11410950" cy="4819695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creating a list and finding its size - </a:t>
            </a:r>
            <a:r>
              <a:rPr sz="2531" err="1">
                <a:latin typeface="Courier"/>
                <a:ea typeface="Courier"/>
                <a:cs typeface="Courier"/>
                <a:sym typeface="Courier"/>
              </a:rPr>
              <a:t>len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()</a:t>
            </a:r>
            <a:r>
              <a:t>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shopping = ['apple', 'pear', 'prune', 'date']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print('I have', </a:t>
            </a:r>
            <a:r>
              <a:rPr err="1"/>
              <a:t>len</a:t>
            </a:r>
            <a:r>
              <a:t>(shopping), 'things to buy')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</a:t>
            </a:r>
            <a:r>
              <a:rPr err="1">
                <a:solidFill>
                  <a:srgbClr val="0433FF"/>
                </a:solidFill>
              </a:rPr>
              <a:t>len</a:t>
            </a:r>
            <a:r>
              <a:rPr>
                <a:solidFill>
                  <a:srgbClr val="0433FF"/>
                </a:solidFill>
              </a:rPr>
              <a:t> returns an integer</a:t>
            </a:r>
          </a:p>
          <a:p>
            <a:pPr marL="401822"/>
            <a:r>
              <a:t>accessing over a list we've seen: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for item in shopping:</a:t>
            </a:r>
            <a:endParaRPr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    </a:t>
            </a:r>
            <a:r>
              <a:t>print(item, end='')</a:t>
            </a:r>
          </a:p>
          <a:p>
            <a:pPr marL="401822"/>
            <a:r>
              <a:t>accessing an element means you have to know where it is: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   </a:t>
            </a:r>
            <a:r>
              <a:t>print(shopping[0])     </a:t>
            </a:r>
            <a:r>
              <a:rPr>
                <a:solidFill>
                  <a:srgbClr val="0433FF"/>
                </a:solidFill>
              </a:rPr>
              <a:t># will print apple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   </a:t>
            </a:r>
            <a:r>
              <a:t>shopping[2] = 'kiwi'</a:t>
            </a:r>
            <a:r>
              <a:rPr>
                <a:solidFill>
                  <a:srgbClr val="0433FF"/>
                </a:solidFill>
              </a:rPr>
              <a:t>   # swap out prune, get kiwi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lists - useful actions"/>
          <p:cNvSpPr txBox="1">
            <a:spLocks noGrp="1"/>
          </p:cNvSpPr>
          <p:nvPr>
            <p:ph type="title"/>
          </p:nvPr>
        </p:nvSpPr>
        <p:spPr>
          <a:xfrm>
            <a:off x="2457450" y="121444"/>
            <a:ext cx="7277100" cy="1488281"/>
          </a:xfrm>
          <a:prstGeom prst="rect">
            <a:avLst/>
          </a:prstGeom>
        </p:spPr>
        <p:txBody>
          <a:bodyPr/>
          <a:lstStyle/>
          <a:p>
            <a:r>
              <a:t>lists - useful actions</a:t>
            </a:r>
          </a:p>
        </p:txBody>
      </p:sp>
      <p:sp>
        <p:nvSpPr>
          <p:cNvPr id="297" name="adding an element to the end of a list :…"/>
          <p:cNvSpPr txBox="1">
            <a:spLocks noGrp="1"/>
          </p:cNvSpPr>
          <p:nvPr>
            <p:ph type="body" idx="1"/>
          </p:nvPr>
        </p:nvSpPr>
        <p:spPr>
          <a:xfrm>
            <a:off x="428625" y="1746647"/>
            <a:ext cx="11525249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adding an element to the end of a list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shopping = ['apple', 'pear', 'prune', 'date']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shopping.append</a:t>
            </a:r>
            <a:r>
              <a:t>('mango')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print('I have', </a:t>
            </a:r>
            <a:r>
              <a:rPr err="1"/>
              <a:t>len</a:t>
            </a:r>
            <a:r>
              <a:t>(shopping), 'things to buy')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</a:t>
            </a:r>
            <a:r>
              <a:rPr err="1">
                <a:solidFill>
                  <a:srgbClr val="0433FF"/>
                </a:solidFill>
              </a:rPr>
              <a:t>len</a:t>
            </a:r>
            <a:r>
              <a:rPr>
                <a:solidFill>
                  <a:srgbClr val="0433FF"/>
                </a:solidFill>
              </a:rPr>
              <a:t> returns an integer = 5 now</a:t>
            </a:r>
          </a:p>
          <a:p>
            <a:pPr marL="401822"/>
            <a:r>
              <a:t>adding an element to the middle: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shopping.insert</a:t>
            </a:r>
            <a:r>
              <a:t>(0, 'lime')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lime is inserted into the 0th position</a:t>
            </a:r>
            <a:br>
              <a:rPr>
                <a:solidFill>
                  <a:srgbClr val="0433FF"/>
                </a:solidFill>
              </a:rPr>
            </a:br>
            <a:r>
              <a:rPr>
                <a:solidFill>
                  <a:srgbClr val="0433FF"/>
                </a:solidFill>
              </a:rPr>
              <a:t># everything else shifts up one place (6 things!)</a:t>
            </a:r>
          </a:p>
          <a:p>
            <a:pPr marL="401822"/>
            <a:r>
              <a:t>deleting an element: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   </a:t>
            </a:r>
            <a:r>
              <a:t>del shopping[0]</a:t>
            </a:r>
            <a:r>
              <a:rPr>
                <a:solidFill>
                  <a:srgbClr val="0433FF"/>
                </a:solidFill>
              </a:rPr>
              <a:t>  # the lime is chucked! (back to 5)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lists - useful ac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lists - useful actions</a:t>
            </a:r>
          </a:p>
        </p:txBody>
      </p:sp>
      <p:sp>
        <p:nvSpPr>
          <p:cNvPr id="302" name="if you don't know where an element is in the list you can still get rid of it :…"/>
          <p:cNvSpPr txBox="1">
            <a:spLocks noGrp="1"/>
          </p:cNvSpPr>
          <p:nvPr>
            <p:ph type="body" idx="1"/>
          </p:nvPr>
        </p:nvSpPr>
        <p:spPr>
          <a:xfrm>
            <a:off x="342901" y="1946672"/>
            <a:ext cx="11782424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if you don't know where an element is in the list you can still get rid of it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shopping = ['apple', 'pear', 'prune', 'date']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shopping.remove</a:t>
            </a:r>
            <a:r>
              <a:t>('pear')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print('I have', </a:t>
            </a:r>
            <a:r>
              <a:rPr err="1"/>
              <a:t>len</a:t>
            </a:r>
            <a:r>
              <a:t>(shopping), 'things to buy')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</a:t>
            </a:r>
            <a:r>
              <a:rPr err="1">
                <a:solidFill>
                  <a:srgbClr val="0433FF"/>
                </a:solidFill>
              </a:rPr>
              <a:t>len</a:t>
            </a:r>
            <a:r>
              <a:rPr>
                <a:solidFill>
                  <a:srgbClr val="0433FF"/>
                </a:solidFill>
              </a:rPr>
              <a:t> returns an integer = 3 now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yes, if there are duplicates, it zaps the 1st one.</a:t>
            </a:r>
          </a:p>
          <a:p>
            <a:pPr marL="401822"/>
            <a:r>
              <a:t>often you want to remove and work with an element: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last_item</a:t>
            </a:r>
            <a:r>
              <a:t> = </a:t>
            </a:r>
            <a:r>
              <a:rPr err="1"/>
              <a:t>shopping.pop</a:t>
            </a:r>
            <a:r>
              <a:t>()</a:t>
            </a:r>
            <a:r>
              <a:rPr>
                <a:solidFill>
                  <a:srgbClr val="0433FF"/>
                </a:solidFill>
              </a:rPr>
              <a:t>    # pop off the list</a:t>
            </a:r>
            <a:br>
              <a:rPr>
                <a:solidFill>
                  <a:srgbClr val="0433FF"/>
                </a:solidFill>
              </a:rPr>
            </a:br>
            <a:r>
              <a:rPr err="1"/>
              <a:t>first_item</a:t>
            </a:r>
            <a:r>
              <a:t> = </a:t>
            </a:r>
            <a:r>
              <a:rPr err="1"/>
              <a:t>shopping.pop</a:t>
            </a:r>
            <a:r>
              <a:t>(0)</a:t>
            </a:r>
            <a:r>
              <a:rPr>
                <a:solidFill>
                  <a:srgbClr val="0433FF"/>
                </a:solidFill>
              </a:rPr>
              <a:t>  # pop off the list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lists - useful actions"/>
          <p:cNvSpPr txBox="1">
            <a:spLocks noGrp="1"/>
          </p:cNvSpPr>
          <p:nvPr>
            <p:ph type="title"/>
          </p:nvPr>
        </p:nvSpPr>
        <p:spPr>
          <a:xfrm>
            <a:off x="1381125" y="-5953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t>lists - useful actions</a:t>
            </a:r>
          </a:p>
        </p:txBody>
      </p:sp>
      <p:sp>
        <p:nvSpPr>
          <p:cNvPr id="307" name="a few useful methods for alpha lists :…"/>
          <p:cNvSpPr txBox="1">
            <a:spLocks noGrp="1"/>
          </p:cNvSpPr>
          <p:nvPr>
            <p:ph type="body" idx="1"/>
          </p:nvPr>
        </p:nvSpPr>
        <p:spPr>
          <a:xfrm>
            <a:off x="552450" y="1708547"/>
            <a:ext cx="11791949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a few useful methods for alpha lists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shopping = ['apple', 'pear', 'prune', 'date']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shopping.sort</a:t>
            </a:r>
            <a:r>
              <a:t>()    </a:t>
            </a:r>
            <a:r>
              <a:rPr>
                <a:solidFill>
                  <a:srgbClr val="0433FF"/>
                </a:solidFill>
              </a:rPr>
              <a:t># alphabetical sort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shopping.reverse</a:t>
            </a:r>
            <a:r>
              <a:t>() </a:t>
            </a:r>
            <a:r>
              <a:rPr>
                <a:solidFill>
                  <a:srgbClr val="0433FF"/>
                </a:solidFill>
              </a:rPr>
              <a:t># reverse the current order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print(sorted(shopping))  # doesn't change the list,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# gets a new temporary sorted list -&gt; print</a:t>
            </a:r>
            <a:endParaRPr>
              <a:solidFill>
                <a:srgbClr val="0433FF"/>
              </a:solidFill>
            </a:endParaRPr>
          </a:p>
          <a:p>
            <a:pPr marL="401822"/>
            <a:r>
              <a:t>and for numerical lists: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numbers = [1, 2, 3, 5, 7, 11, 13, 17]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smallest = min(numbers)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largest = max(numbers)</a:t>
            </a:r>
            <a:endParaRPr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total = sum(numbers)</a:t>
            </a:r>
            <a:endParaRPr>
              <a:solidFill>
                <a:srgbClr val="0433FF"/>
              </a:solidFill>
            </a:endParaRP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lists - useful actions"/>
          <p:cNvSpPr txBox="1">
            <a:spLocks noGrp="1"/>
          </p:cNvSpPr>
          <p:nvPr>
            <p:ph type="title"/>
          </p:nvPr>
        </p:nvSpPr>
        <p:spPr>
          <a:xfrm>
            <a:off x="2686050" y="0"/>
            <a:ext cx="7115175" cy="1621631"/>
          </a:xfrm>
          <a:prstGeom prst="rect">
            <a:avLst/>
          </a:prstGeom>
        </p:spPr>
        <p:txBody>
          <a:bodyPr/>
          <a:lstStyle/>
          <a:p>
            <a:r>
              <a:t>lists - useful actions</a:t>
            </a:r>
          </a:p>
        </p:txBody>
      </p:sp>
      <p:sp>
        <p:nvSpPr>
          <p:cNvPr id="312" name="concatenation works as you'd expect :…"/>
          <p:cNvSpPr txBox="1">
            <a:spLocks noGrp="1"/>
          </p:cNvSpPr>
          <p:nvPr>
            <p:ph type="body" idx="1"/>
          </p:nvPr>
        </p:nvSpPr>
        <p:spPr>
          <a:xfrm>
            <a:off x="266700" y="1508522"/>
            <a:ext cx="11858625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concatenation works as you'd expect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shopping = ['apple', 'pear', 'prune', 'date']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numbers = [1, 2, 3, 5, 7, 11, 13, 17]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numbers = numbers + [23, 27]</a:t>
            </a:r>
            <a:r>
              <a:rPr>
                <a:solidFill>
                  <a:srgbClr val="0433FF"/>
                </a:solidFill>
              </a:rPr>
              <a:t> # list concatenation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shopping = shopping + ['lime', 'mango']</a:t>
            </a:r>
          </a:p>
          <a:p>
            <a:pPr marL="401822"/>
            <a:r>
              <a:t>and most importantly to get a range of numbers: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myList</a:t>
            </a:r>
            <a:r>
              <a:t> = </a:t>
            </a:r>
            <a:r>
              <a:rPr lang="en-GB"/>
              <a:t>list(</a:t>
            </a:r>
            <a:r>
              <a:t>range(6)</a:t>
            </a:r>
            <a:r>
              <a:rPr lang="en-GB"/>
              <a:t>)</a:t>
            </a:r>
            <a:r>
              <a:t>  </a:t>
            </a:r>
            <a:r>
              <a:rPr>
                <a:solidFill>
                  <a:srgbClr val="0433FF"/>
                </a:solidFill>
              </a:rPr>
              <a:t># 0, 1, 2, 3, 4, 5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range( &lt;start=0&gt;, stop, &lt;step&gt; 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start and step optional, default to 0, 1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stop value itself is </a:t>
            </a:r>
            <a:r>
              <a:rPr>
                <a:solidFill>
                  <a:srgbClr val="FF2600"/>
                </a:solidFill>
              </a:rPr>
              <a:t>excluded</a:t>
            </a:r>
            <a:r>
              <a:rPr>
                <a:solidFill>
                  <a:srgbClr val="0433FF"/>
                </a:solidFill>
              </a:rPr>
              <a:t>.</a:t>
            </a:r>
          </a:p>
          <a:p>
            <a:pPr marL="401822"/>
            <a:r>
              <a:rPr lang="en-GB"/>
              <a:t>range actually a ‘generator’ producing on call. 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260FAA-9617-715A-4735-FE3A93E07D26}"/>
              </a:ext>
            </a:extLst>
          </p:cNvPr>
          <p:cNvSpPr/>
          <p:nvPr/>
        </p:nvSpPr>
        <p:spPr>
          <a:xfrm>
            <a:off x="8119197" y="2090617"/>
            <a:ext cx="3811979" cy="2341010"/>
          </a:xfrm>
          <a:prstGeom prst="rect">
            <a:avLst/>
          </a:prstGeom>
          <a:solidFill>
            <a:srgbClr val="00355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316" name="ranges"/>
          <p:cNvSpPr txBox="1">
            <a:spLocks noGrp="1"/>
          </p:cNvSpPr>
          <p:nvPr>
            <p:ph type="title"/>
          </p:nvPr>
        </p:nvSpPr>
        <p:spPr>
          <a:xfrm>
            <a:off x="1190625" y="-117872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R</a:t>
            </a:r>
            <a:r>
              <a:rPr dirty="0" err="1"/>
              <a:t>anges</a:t>
            </a:r>
            <a:endParaRPr dirty="0"/>
          </a:p>
        </p:txBody>
      </p:sp>
      <p:sp>
        <p:nvSpPr>
          <p:cNvPr id="317" name="and just to emphasise the power of ranges :…"/>
          <p:cNvSpPr txBox="1">
            <a:spLocks noGrp="1"/>
          </p:cNvSpPr>
          <p:nvPr>
            <p:ph type="body" idx="1"/>
          </p:nvPr>
        </p:nvSpPr>
        <p:spPr>
          <a:xfrm>
            <a:off x="361951" y="1546622"/>
            <a:ext cx="8687046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400" dirty="0"/>
              <a:t>and just to </a:t>
            </a:r>
            <a:r>
              <a:rPr sz="2400" dirty="0" err="1"/>
              <a:t>emphasise</a:t>
            </a:r>
            <a:r>
              <a:rPr sz="2400" dirty="0"/>
              <a:t> the power of ranges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800" dirty="0"/>
              <a:t>squares = []          </a:t>
            </a:r>
            <a:r>
              <a:rPr sz="1800" dirty="0">
                <a:solidFill>
                  <a:srgbClr val="0433FF"/>
                </a:solidFill>
              </a:rPr>
              <a:t># empty list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800" dirty="0"/>
              <a:t>for n in range(10):   </a:t>
            </a:r>
            <a:r>
              <a:rPr sz="1800" dirty="0">
                <a:solidFill>
                  <a:srgbClr val="0433FF"/>
                </a:solidFill>
              </a:rPr>
              <a:t># numbers 0 to 9 (exclude 10)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800" dirty="0"/>
              <a:t>    square = n**2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800" dirty="0"/>
              <a:t>    </a:t>
            </a:r>
            <a:r>
              <a:rPr sz="1800" dirty="0" err="1"/>
              <a:t>squares.append</a:t>
            </a:r>
            <a:r>
              <a:rPr sz="1800" dirty="0"/>
              <a:t>(square)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1800" dirty="0"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800" dirty="0">
                <a:solidFill>
                  <a:srgbClr val="0433FF"/>
                </a:solidFill>
              </a:rPr>
              <a:t># list now contains </a:t>
            </a:r>
            <a:r>
              <a:rPr lang="en-GB" sz="1800" dirty="0">
                <a:solidFill>
                  <a:srgbClr val="0433FF"/>
                </a:solidFill>
              </a:rPr>
              <a:t>0</a:t>
            </a:r>
            <a:r>
              <a:rPr sz="1800" dirty="0">
                <a:solidFill>
                  <a:srgbClr val="0433FF"/>
                </a:solidFill>
              </a:rPr>
              <a:t>, </a:t>
            </a:r>
            <a:r>
              <a:rPr lang="en-GB" sz="1800" dirty="0">
                <a:solidFill>
                  <a:srgbClr val="0433FF"/>
                </a:solidFill>
              </a:rPr>
              <a:t>1, </a:t>
            </a:r>
            <a:r>
              <a:rPr sz="1800" dirty="0">
                <a:solidFill>
                  <a:srgbClr val="0433FF"/>
                </a:solidFill>
              </a:rPr>
              <a:t>4, 9, 16,... </a:t>
            </a:r>
            <a:r>
              <a:rPr lang="en-GB" sz="1800" dirty="0">
                <a:solidFill>
                  <a:srgbClr val="0433FF"/>
                </a:solidFill>
              </a:rPr>
              <a:t>81</a:t>
            </a:r>
            <a:endParaRPr sz="1800" dirty="0"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1800" dirty="0"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800" dirty="0"/>
              <a:t>squares = list(range(1,11)</a:t>
            </a:r>
            <a:r>
              <a:rPr lang="en-GB" sz="1800" dirty="0"/>
              <a:t>)</a:t>
            </a:r>
            <a:r>
              <a:rPr sz="1800" dirty="0"/>
              <a:t>   </a:t>
            </a:r>
            <a:r>
              <a:rPr sz="1800" dirty="0">
                <a:solidFill>
                  <a:srgbClr val="0433FF"/>
                </a:solidFill>
              </a:rPr>
              <a:t># alternately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800" dirty="0"/>
              <a:t>for n in squares: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1800" dirty="0"/>
              <a:t>    squares[n-1] = squares[n-1]**2</a:t>
            </a:r>
          </a:p>
          <a:p>
            <a:pPr marL="401822"/>
            <a:r>
              <a:rPr dirty="0"/>
              <a:t>yes, negative step numbers do allow you to count downwards.</a:t>
            </a:r>
          </a:p>
        </p:txBody>
      </p:sp>
      <p:pic>
        <p:nvPicPr>
          <p:cNvPr id="1026" name="Picture 2" descr="Python's .append()">
            <a:extLst>
              <a:ext uri="{FF2B5EF4-FFF2-40B4-BE49-F238E27FC236}">
                <a16:creationId xmlns:a16="http://schemas.microsoft.com/office/drawing/2014/main" id="{30052891-F767-173A-5951-B1D101511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961" y="2511432"/>
            <a:ext cx="3608449" cy="171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2BF8AE-ADC5-1505-D674-02E03464DCF2}"/>
              </a:ext>
            </a:extLst>
          </p:cNvPr>
          <p:cNvSpPr txBox="1"/>
          <p:nvPr/>
        </p:nvSpPr>
        <p:spPr>
          <a:xfrm>
            <a:off x="9318102" y="2024907"/>
            <a:ext cx="106458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.append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opying and slic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</a:t>
            </a:r>
            <a:r>
              <a:rPr err="1"/>
              <a:t>opying</a:t>
            </a:r>
            <a:r>
              <a:t> and slicing</a:t>
            </a:r>
          </a:p>
        </p:txBody>
      </p:sp>
      <p:sp>
        <p:nvSpPr>
          <p:cNvPr id="322" name="copy a whole list by copying every element:…"/>
          <p:cNvSpPr txBox="1">
            <a:spLocks noGrp="1"/>
          </p:cNvSpPr>
          <p:nvPr>
            <p:ph type="body" sz="half" idx="1"/>
          </p:nvPr>
        </p:nvSpPr>
        <p:spPr>
          <a:xfrm>
            <a:off x="419100" y="1651992"/>
            <a:ext cx="11449049" cy="320527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copy a whole list by copying every element: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newlist</a:t>
            </a:r>
            <a:r>
              <a:t> = </a:t>
            </a:r>
            <a:r>
              <a:rPr err="1"/>
              <a:t>oldlist</a:t>
            </a:r>
            <a:r>
              <a:t>[:]    </a:t>
            </a:r>
            <a:r>
              <a:rPr>
                <a:solidFill>
                  <a:srgbClr val="0433FF"/>
                </a:solidFill>
              </a:rPr>
              <a:t># python</a:t>
            </a:r>
          </a:p>
          <a:p>
            <a:pPr marL="401822"/>
            <a:r>
              <a:t>index and slice information below: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slice [&lt;</a:t>
            </a:r>
            <a:r>
              <a:rPr err="1"/>
              <a:t>start_slice</a:t>
            </a:r>
            <a:r>
              <a:t>&gt;:&lt;</a:t>
            </a:r>
            <a:r>
              <a:rPr err="1"/>
              <a:t>end_slice</a:t>
            </a:r>
            <a:r>
              <a:t>&gt;:&lt;step&gt;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newlist</a:t>
            </a:r>
            <a:r>
              <a:t> = </a:t>
            </a:r>
            <a:r>
              <a:rPr err="1"/>
              <a:t>oldlist</a:t>
            </a:r>
            <a:r>
              <a:t>[:-1]        </a:t>
            </a:r>
            <a:r>
              <a:rPr>
                <a:solidFill>
                  <a:srgbClr val="0433FF"/>
                </a:solidFill>
              </a:rPr>
              <a:t># </a:t>
            </a:r>
            <a:r>
              <a:rPr err="1">
                <a:solidFill>
                  <a:srgbClr val="0433FF"/>
                </a:solidFill>
              </a:rPr>
              <a:t>pytho</a:t>
            </a:r>
            <a:endParaRPr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newlist</a:t>
            </a:r>
            <a:r>
              <a:t> = </a:t>
            </a:r>
            <a:r>
              <a:rPr err="1"/>
              <a:t>oldlist</a:t>
            </a:r>
            <a:r>
              <a:t>[1:3]        </a:t>
            </a:r>
            <a:r>
              <a:rPr>
                <a:solidFill>
                  <a:srgbClr val="0433FF"/>
                </a:solidFill>
              </a:rPr>
              <a:t># </a:t>
            </a:r>
            <a:r>
              <a:rPr err="1">
                <a:solidFill>
                  <a:srgbClr val="0433FF"/>
                </a:solidFill>
              </a:rPr>
              <a:t>yt</a:t>
            </a:r>
            <a:endParaRPr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newlist</a:t>
            </a:r>
            <a:r>
              <a:t> = </a:t>
            </a:r>
            <a:r>
              <a:rPr err="1"/>
              <a:t>oldlist</a:t>
            </a:r>
            <a:r>
              <a:t>[::2]        </a:t>
            </a:r>
            <a:r>
              <a:rPr>
                <a:solidFill>
                  <a:srgbClr val="0433FF"/>
                </a:solidFill>
              </a:rPr>
              <a:t># </a:t>
            </a:r>
            <a:r>
              <a:rPr err="1">
                <a:solidFill>
                  <a:srgbClr val="0433FF"/>
                </a:solidFill>
              </a:rPr>
              <a:t>pto</a:t>
            </a:r>
            <a:endParaRPr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newlist</a:t>
            </a:r>
            <a:r>
              <a:t> = </a:t>
            </a:r>
            <a:r>
              <a:rPr err="1"/>
              <a:t>oldlist</a:t>
            </a:r>
            <a:r>
              <a:t>[-1:-3:-1]   </a:t>
            </a:r>
            <a:r>
              <a:rPr>
                <a:solidFill>
                  <a:srgbClr val="0433FF"/>
                </a:solidFill>
              </a:rPr>
              <a:t># no</a:t>
            </a:r>
          </a:p>
        </p:txBody>
      </p:sp>
      <p:graphicFrame>
        <p:nvGraphicFramePr>
          <p:cNvPr id="323" name="Table" descr="table of list indices for indexing and slicing arrays in Python"/>
          <p:cNvGraphicFramePr/>
          <p:nvPr/>
        </p:nvGraphicFramePr>
        <p:xfrm>
          <a:off x="2412504" y="5000625"/>
          <a:ext cx="7366988" cy="1771649"/>
        </p:xfrm>
        <a:graphic>
          <a:graphicData uri="http://schemas.openxmlformats.org/drawingml/2006/table">
            <a:tbl>
              <a:tblPr/>
              <a:tblGrid>
                <a:gridCol w="892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07181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+index</a:t>
                      </a:r>
                    </a:p>
                  </a:txBody>
                  <a:tcPr marL="35719" marR="35719" marT="35719" marB="35719" anchor="ctr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3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4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5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81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-index</a:t>
                      </a:r>
                    </a:p>
                  </a:txBody>
                  <a:tcPr marL="35719" marR="35719" marT="35719" marB="35719" anchor="ctr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-6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-5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-4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-3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-2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-1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181"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p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y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t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h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o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n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181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+slice</a:t>
                      </a:r>
                    </a:p>
                  </a:txBody>
                  <a:tcPr marL="35719" marR="35719" marT="35719" marB="35719" anchor="ctr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3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4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5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6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-slice</a:t>
                      </a:r>
                    </a:p>
                  </a:txBody>
                  <a:tcPr marL="35719" marR="35719" marT="35719" marB="35719" anchor="ctr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-6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-5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-4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-3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-2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-1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accessing el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A</a:t>
            </a:r>
            <a:r>
              <a:rPr err="1"/>
              <a:t>ccessing</a:t>
            </a:r>
            <a:r>
              <a:t> elements</a:t>
            </a:r>
          </a:p>
        </p:txBody>
      </p:sp>
      <p:sp>
        <p:nvSpPr>
          <p:cNvPr id="328" name="once you've got slicing, indexing is ok:…"/>
          <p:cNvSpPr txBox="1">
            <a:spLocks noGrp="1"/>
          </p:cNvSpPr>
          <p:nvPr>
            <p:ph type="body" sz="half" idx="1"/>
          </p:nvPr>
        </p:nvSpPr>
        <p:spPr>
          <a:xfrm>
            <a:off x="638175" y="1719156"/>
            <a:ext cx="11287125" cy="320527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once you've got slicing, indexing is ok: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oldlist</a:t>
            </a:r>
            <a:r>
              <a:t>[0]     </a:t>
            </a:r>
            <a:r>
              <a:rPr>
                <a:solidFill>
                  <a:srgbClr val="0433FF"/>
                </a:solidFill>
              </a:rPr>
              <a:t># p first element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oldlist</a:t>
            </a:r>
            <a:r>
              <a:t>[-1]    </a:t>
            </a:r>
            <a:r>
              <a:rPr>
                <a:solidFill>
                  <a:srgbClr val="0433FF"/>
                </a:solidFill>
              </a:rPr>
              <a:t># n last element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just count from beginning or end as you see fit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433FF"/>
              </a:solidFill>
            </a:endParaRPr>
          </a:p>
          <a:p>
            <a:pPr marL="401822"/>
            <a:r>
              <a:t>this works with tuples, dictionaries (just a minute) and even strings.</a:t>
            </a:r>
          </a:p>
        </p:txBody>
      </p:sp>
      <p:graphicFrame>
        <p:nvGraphicFramePr>
          <p:cNvPr id="329" name="Table" descr="table of list indices for indexing and slicing arrays in Python"/>
          <p:cNvGraphicFramePr/>
          <p:nvPr/>
        </p:nvGraphicFramePr>
        <p:xfrm>
          <a:off x="2412504" y="5000625"/>
          <a:ext cx="7366988" cy="1771649"/>
        </p:xfrm>
        <a:graphic>
          <a:graphicData uri="http://schemas.openxmlformats.org/drawingml/2006/table">
            <a:tbl>
              <a:tblPr/>
              <a:tblGrid>
                <a:gridCol w="892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530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07181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+index</a:t>
                      </a:r>
                    </a:p>
                  </a:txBody>
                  <a:tcPr marL="35719" marR="35719" marT="35719" marB="35719" anchor="ctr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3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4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5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81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-index</a:t>
                      </a:r>
                    </a:p>
                  </a:txBody>
                  <a:tcPr marL="35719" marR="35719" marT="35719" marB="35719" anchor="ctr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-6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-5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-4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-3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-2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-1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181"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p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y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t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h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o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n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 b="1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181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+slice</a:t>
                      </a:r>
                    </a:p>
                  </a:txBody>
                  <a:tcPr marL="35719" marR="35719" marT="35719" marB="35719" anchor="ctr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3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4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5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6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-slice</a:t>
                      </a:r>
                    </a:p>
                  </a:txBody>
                  <a:tcPr marL="35719" marR="35719" marT="35719" marB="35719" anchor="ctr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-6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-5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-4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-3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-2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-1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for example: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 example: 2</a:t>
            </a:r>
          </a:p>
        </p:txBody>
      </p:sp>
      <p:sp>
        <p:nvSpPr>
          <p:cNvPr id="334" name="already have a number of examples of running over the values in a list        for eachThing in myList:…"/>
          <p:cNvSpPr txBox="1">
            <a:spLocks noGrp="1"/>
          </p:cNvSpPr>
          <p:nvPr>
            <p:ph type="body" idx="1"/>
          </p:nvPr>
        </p:nvSpPr>
        <p:spPr>
          <a:xfrm>
            <a:off x="323851" y="1679972"/>
            <a:ext cx="11725274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already have a number of examples of running over the values in a list </a:t>
            </a:r>
            <a:br>
              <a:rPr/>
            </a:br>
            <a:r>
              <a:t>      </a:t>
            </a:r>
            <a:r>
              <a:rPr lang="en-GB" sz="1687" err="1">
                <a:latin typeface="Courier"/>
                <a:ea typeface="Courier"/>
                <a:cs typeface="Courier"/>
                <a:sym typeface="Courier"/>
              </a:rPr>
              <a:t>myList</a:t>
            </a:r>
            <a:r>
              <a:rPr lang="en-GB" sz="1687">
                <a:latin typeface="Courier"/>
                <a:ea typeface="Courier"/>
                <a:cs typeface="Courier"/>
                <a:sym typeface="Courier"/>
              </a:rPr>
              <a:t> = [11, 18, 9, 12, 23, 4, 17] </a:t>
            </a:r>
            <a:br>
              <a:rPr lang="en-GB" sz="1687">
                <a:latin typeface="Courier"/>
                <a:ea typeface="Courier"/>
                <a:cs typeface="Courier"/>
                <a:sym typeface="Courier"/>
              </a:rPr>
            </a:br>
            <a:r>
              <a:rPr lang="en-GB" sz="1687">
                <a:latin typeface="Courier"/>
                <a:ea typeface="Courier"/>
                <a:cs typeface="Courier"/>
                <a:sym typeface="Courier"/>
              </a:rPr>
              <a:t>     f</a:t>
            </a:r>
            <a:r>
              <a:rPr sz="1687">
                <a:latin typeface="Courier"/>
                <a:ea typeface="Courier"/>
                <a:cs typeface="Courier"/>
                <a:sym typeface="Courier"/>
              </a:rPr>
              <a:t>or each in </a:t>
            </a:r>
            <a:r>
              <a:rPr sz="1687" err="1">
                <a:latin typeface="Courier"/>
                <a:ea typeface="Courier"/>
                <a:cs typeface="Courier"/>
                <a:sym typeface="Courier"/>
              </a:rPr>
              <a:t>myList</a:t>
            </a:r>
            <a:r>
              <a:rPr sz="1687">
                <a:latin typeface="Courier"/>
                <a:ea typeface="Courier"/>
                <a:cs typeface="Courier"/>
                <a:sym typeface="Courier"/>
              </a:rPr>
              <a:t>:</a:t>
            </a:r>
            <a:br>
              <a:rPr lang="en-GB" sz="1687">
                <a:latin typeface="Courier"/>
                <a:ea typeface="Courier"/>
                <a:cs typeface="Courier"/>
                <a:sym typeface="Courier"/>
              </a:rPr>
            </a:br>
            <a:r>
              <a:rPr lang="en-GB" sz="1687">
                <a:latin typeface="Courier"/>
                <a:ea typeface="Courier"/>
                <a:cs typeface="Courier"/>
                <a:sym typeface="Courier"/>
              </a:rPr>
              <a:t>        if each &gt; 15 :</a:t>
            </a:r>
            <a:br>
              <a:rPr lang="en-GB" sz="1687">
                <a:latin typeface="Courier"/>
                <a:ea typeface="Courier"/>
                <a:cs typeface="Courier"/>
                <a:sym typeface="Courier"/>
              </a:rPr>
            </a:br>
            <a:r>
              <a:rPr lang="en-GB" sz="1687">
                <a:latin typeface="Courier"/>
                <a:ea typeface="Courier"/>
                <a:cs typeface="Courier"/>
                <a:sym typeface="Courier"/>
              </a:rPr>
              <a:t>           print(each)</a:t>
            </a:r>
          </a:p>
          <a:p>
            <a:pPr marL="401822"/>
            <a:r>
              <a:t>can also run over the indices of a list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myList</a:t>
            </a:r>
            <a:r>
              <a:t> = [11, 18, 9, 12, 23, 4, 17]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for index in range(</a:t>
            </a:r>
            <a:r>
              <a:rPr err="1"/>
              <a:t>len</a:t>
            </a:r>
            <a:r>
              <a:t>(</a:t>
            </a:r>
            <a:r>
              <a:rPr err="1"/>
              <a:t>myList</a:t>
            </a:r>
            <a:r>
              <a:t>)):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val</a:t>
            </a:r>
            <a:r>
              <a:t> = </a:t>
            </a:r>
            <a:r>
              <a:rPr err="1"/>
              <a:t>myList</a:t>
            </a:r>
            <a:r>
              <a:t>[index]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if </a:t>
            </a:r>
            <a:r>
              <a:rPr err="1"/>
              <a:t>val</a:t>
            </a:r>
            <a:r>
              <a:t>&gt;15:</a:t>
            </a:r>
          </a:p>
          <a:p>
            <a:pPr marL="0" lvl="6" indent="197339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val</a:t>
            </a:r>
            <a:r>
              <a:t>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print("are all the values over 15")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for example: 3"/>
          <p:cNvSpPr txBox="1">
            <a:spLocks noGrp="1"/>
          </p:cNvSpPr>
          <p:nvPr>
            <p:ph type="title"/>
          </p:nvPr>
        </p:nvSpPr>
        <p:spPr>
          <a:xfrm>
            <a:off x="1257300" y="-88106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t>for example: 3</a:t>
            </a:r>
          </a:p>
        </p:txBody>
      </p:sp>
      <p:sp>
        <p:nvSpPr>
          <p:cNvPr id="339" name="sum the first 20 odd numbers :…"/>
          <p:cNvSpPr txBox="1">
            <a:spLocks noGrp="1"/>
          </p:cNvSpPr>
          <p:nvPr>
            <p:ph type="body" idx="1"/>
          </p:nvPr>
        </p:nvSpPr>
        <p:spPr>
          <a:xfrm>
            <a:off x="338137" y="1403747"/>
            <a:ext cx="11768138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/>
              <a:t>sum the first 20 odd numbers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odds = list(range(1,40,2))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print(sum(odds))      </a:t>
            </a:r>
            <a:r>
              <a:rPr sz="2200">
                <a:solidFill>
                  <a:srgbClr val="0433FF"/>
                </a:solidFill>
              </a:rPr>
              <a:t># oops, bit too easy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# how about without knowing that the last is 39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sum = 0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for num in range(1,21):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 sum += (2*num-1)  </a:t>
            </a:r>
            <a:r>
              <a:rPr sz="2200">
                <a:solidFill>
                  <a:srgbClr val="0433FF"/>
                </a:solidFill>
              </a:rPr>
              <a:t># generate odd number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print(sum)</a:t>
            </a:r>
            <a:endParaRPr lang="en-GB" sz="220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lang="en-GB" sz="220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2200"/>
              <a:t># or if you ‘think’ from 0 to 19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2200"/>
              <a:t>sum = 0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2200"/>
              <a:t>for </a:t>
            </a:r>
            <a:r>
              <a:rPr lang="en-GB" sz="2200" err="1"/>
              <a:t>num</a:t>
            </a:r>
            <a:r>
              <a:rPr lang="en-GB" sz="2200"/>
              <a:t> in range(20):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2200"/>
              <a:t>     sum += (2*num+1)  </a:t>
            </a:r>
            <a:r>
              <a:rPr lang="en-GB" sz="2200">
                <a:solidFill>
                  <a:srgbClr val="0433FF"/>
                </a:solidFill>
              </a:rPr>
              <a:t># generate odd number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2200"/>
              <a:t>print(sum)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for example: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 example: 3</a:t>
            </a:r>
          </a:p>
        </p:txBody>
      </p:sp>
      <p:sp>
        <p:nvSpPr>
          <p:cNvPr id="344" name="calculate compound interest :…"/>
          <p:cNvSpPr txBox="1">
            <a:spLocks noGrp="1"/>
          </p:cNvSpPr>
          <p:nvPr>
            <p:ph type="body" idx="1"/>
          </p:nvPr>
        </p:nvSpPr>
        <p:spPr>
          <a:xfrm>
            <a:off x="1483518" y="1864519"/>
            <a:ext cx="9517857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calculate compound interest :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principal, rate = 1000.0, .06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print("year     Amount")   # header of table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for year in range(10):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amount = principal * pow(1.0+rate,year)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print("{:3}    {:8.2f}".format(year, amount))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401822"/>
            <a:r>
              <a:t>all of these take up about half the space of some other programming languages I could mention.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for example: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 example: 3</a:t>
            </a:r>
          </a:p>
        </p:txBody>
      </p:sp>
      <p:sp>
        <p:nvSpPr>
          <p:cNvPr id="349" name="there are also things that lists are just wonderful for :…"/>
          <p:cNvSpPr txBox="1">
            <a:spLocks noGrp="1"/>
          </p:cNvSpPr>
          <p:nvPr>
            <p:ph type="body" idx="1"/>
          </p:nvPr>
        </p:nvSpPr>
        <p:spPr>
          <a:xfrm>
            <a:off x="752475" y="1718072"/>
            <a:ext cx="11210925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there are also things that lists are just wonderful for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shopping = ['apple', 'pear', 'prune', 'date']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myItem</a:t>
            </a:r>
            <a:r>
              <a:rPr dirty="0"/>
              <a:t> = 'pear'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if </a:t>
            </a:r>
            <a:r>
              <a:rPr dirty="0" err="1"/>
              <a:t>MyItem</a:t>
            </a:r>
            <a:r>
              <a:rPr dirty="0"/>
              <a:t> in shopping: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print("I've already got one")</a:t>
            </a:r>
          </a:p>
          <a:p>
            <a:pPr marL="401822"/>
            <a:r>
              <a:rPr dirty="0"/>
              <a:t>and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shopping = ['apple', 'pear', 'date', 'date',]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killItem</a:t>
            </a:r>
            <a:r>
              <a:rPr dirty="0"/>
              <a:t> = 'date'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while </a:t>
            </a:r>
            <a:r>
              <a:rPr dirty="0" err="1"/>
              <a:t>killItem</a:t>
            </a:r>
            <a:r>
              <a:rPr dirty="0"/>
              <a:t> in shopping: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</a:t>
            </a:r>
            <a:r>
              <a:rPr dirty="0" err="1"/>
              <a:t>shopping.remove</a:t>
            </a:r>
            <a:r>
              <a:rPr dirty="0"/>
              <a:t>(</a:t>
            </a:r>
            <a:r>
              <a:rPr dirty="0" err="1"/>
              <a:t>killItem</a:t>
            </a:r>
            <a:r>
              <a:rPr dirty="0"/>
              <a:t>)       </a:t>
            </a:r>
            <a:r>
              <a:rPr dirty="0">
                <a:solidFill>
                  <a:srgbClr val="0433FF"/>
                </a:solidFill>
              </a:rPr>
              <a:t># gets '</a:t>
            </a:r>
            <a:r>
              <a:rPr dirty="0" err="1">
                <a:solidFill>
                  <a:srgbClr val="0433FF"/>
                </a:solidFill>
              </a:rPr>
              <a:t>em</a:t>
            </a:r>
            <a:r>
              <a:rPr dirty="0">
                <a:solidFill>
                  <a:srgbClr val="0433FF"/>
                </a:solidFill>
              </a:rPr>
              <a:t> all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ED6D-FC1C-1B31-B11D-934020DAA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178594"/>
            <a:ext cx="9810750" cy="1074134"/>
          </a:xfrm>
        </p:spPr>
        <p:txBody>
          <a:bodyPr/>
          <a:lstStyle/>
          <a:p>
            <a:r>
              <a:rPr lang="en-US" dirty="0"/>
              <a:t>Apps that use Python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4D631D-88BF-8886-82A3-CA949CEA9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79" y="4021376"/>
            <a:ext cx="1694688" cy="169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A821F-7FC9-FC77-FDA4-2B3CB91CF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030" y="1554480"/>
            <a:ext cx="5340096" cy="2697980"/>
          </a:xfrm>
        </p:spPr>
        <p:txBody>
          <a:bodyPr/>
          <a:lstStyle/>
          <a:p>
            <a:pPr marL="223234" indent="0">
              <a:buNone/>
            </a:pPr>
            <a:r>
              <a:rPr lang="en-GB" sz="2400" b="1" i="0" u="none" strike="noStrike" dirty="0">
                <a:solidFill>
                  <a:srgbClr val="212529"/>
                </a:solidFill>
                <a:effectLst/>
                <a:latin typeface="SSP Local"/>
              </a:rPr>
              <a:t>Facebook</a:t>
            </a:r>
            <a:r>
              <a:rPr lang="en-GB" sz="2400" b="0" i="0" u="none" strike="noStrike" dirty="0">
                <a:solidFill>
                  <a:srgbClr val="212529"/>
                </a:solidFill>
                <a:effectLst/>
                <a:latin typeface="SSP Local"/>
              </a:rPr>
              <a:t> and subsidiaries like </a:t>
            </a:r>
            <a:r>
              <a:rPr lang="en-GB" sz="2400" b="1" i="0" u="none" strike="noStrike" dirty="0">
                <a:solidFill>
                  <a:srgbClr val="212529"/>
                </a:solidFill>
                <a:effectLst/>
                <a:latin typeface="SSP Local"/>
              </a:rPr>
              <a:t>Instagram</a:t>
            </a:r>
            <a:r>
              <a:rPr lang="en-GB" sz="2400" b="0" i="0" u="none" strike="noStrike" dirty="0">
                <a:solidFill>
                  <a:srgbClr val="212529"/>
                </a:solidFill>
                <a:effectLst/>
                <a:latin typeface="SSP Local"/>
              </a:rPr>
              <a:t> use Python for various elements of their infrastructure. Instagram is built entirely using Python and its </a:t>
            </a:r>
            <a:r>
              <a:rPr lang="en-GB" sz="2400" b="0" i="0" u="none" strike="noStrike" dirty="0">
                <a:solidFill>
                  <a:srgbClr val="212529"/>
                </a:solidFill>
                <a:effectLst/>
                <a:latin typeface="SSP Local"/>
                <a:hlinkClick r:id="rId3"/>
              </a:rPr>
              <a:t>Django framework</a:t>
            </a:r>
            <a:r>
              <a:rPr lang="en-GB" sz="2400" b="0" i="0" u="none" strike="noStrike" dirty="0">
                <a:solidFill>
                  <a:srgbClr val="212529"/>
                </a:solidFill>
                <a:effectLst/>
                <a:latin typeface="SSP Local"/>
              </a:rPr>
              <a:t>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B73971E-AE36-37A9-70FC-143A259BD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008" y="3983472"/>
            <a:ext cx="2829560" cy="177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screenshot of a news article&#10;&#10;Description automatically generated">
            <a:extLst>
              <a:ext uri="{FF2B5EF4-FFF2-40B4-BE49-F238E27FC236}">
                <a16:creationId xmlns:a16="http://schemas.microsoft.com/office/drawing/2014/main" id="{555880F0-6C4E-D106-8D67-1FC0B280EE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237" y="3957240"/>
            <a:ext cx="4230371" cy="16873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113394-97E0-3EE4-49D6-33E972D7D4FC}"/>
              </a:ext>
            </a:extLst>
          </p:cNvPr>
          <p:cNvSpPr txBox="1"/>
          <p:nvPr/>
        </p:nvSpPr>
        <p:spPr>
          <a:xfrm>
            <a:off x="5837173" y="5716064"/>
            <a:ext cx="6099048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Mark </a:t>
            </a:r>
            <a:r>
              <a:rPr lang="en-US" dirty="0" err="1"/>
              <a:t>Zucherbergs</a:t>
            </a:r>
            <a:r>
              <a:rPr lang="en-US" dirty="0"/>
              <a:t> first creation of </a:t>
            </a:r>
            <a:r>
              <a:rPr lang="en-US" dirty="0" err="1"/>
              <a:t>Facemash</a:t>
            </a:r>
            <a:r>
              <a:rPr lang="en-US" dirty="0"/>
              <a:t> (Social Network film) used Python to go viral…</a:t>
            </a:r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thetruefuss</a:t>
            </a:r>
            <a:r>
              <a:rPr lang="en-US" dirty="0"/>
              <a:t>/</a:t>
            </a:r>
            <a:r>
              <a:rPr lang="en-US" dirty="0" err="1"/>
              <a:t>facemash</a:t>
            </a:r>
            <a:r>
              <a:rPr lang="en-US" dirty="0"/>
              <a:t>#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D77D63C-1E87-7D2E-6346-5A9C9ECB3F4B}"/>
              </a:ext>
            </a:extLst>
          </p:cNvPr>
          <p:cNvSpPr txBox="1">
            <a:spLocks/>
          </p:cNvSpPr>
          <p:nvPr/>
        </p:nvSpPr>
        <p:spPr>
          <a:xfrm>
            <a:off x="255779" y="5698157"/>
            <a:ext cx="5340096" cy="107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marL="625056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1pPr>
            <a:lvl2pPr marL="937584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2pPr>
            <a:lvl3pPr marL="1250112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3pPr>
            <a:lvl4pPr marL="1562640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4pPr>
            <a:lvl5pPr marL="1875168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5pPr>
            <a:lvl6pPr marL="2125190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6pPr>
            <a:lvl7pPr marL="2375212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7pPr>
            <a:lvl8pPr marL="2625235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8pPr>
            <a:lvl9pPr marL="2875257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223234" indent="0">
              <a:buFontTx/>
              <a:buNone/>
            </a:pPr>
            <a:r>
              <a:rPr lang="en-GB" sz="2000" b="1" kern="0" dirty="0">
                <a:solidFill>
                  <a:srgbClr val="212529"/>
                </a:solidFill>
                <a:latin typeface="SSP Local"/>
              </a:rPr>
              <a:t>FYI these are old images but Python is still used today for these apps too…</a:t>
            </a:r>
            <a:endParaRPr lang="en-GB" sz="2000" kern="0" dirty="0">
              <a:solidFill>
                <a:srgbClr val="212529"/>
              </a:solidFill>
              <a:latin typeface="SSP Local"/>
            </a:endParaRPr>
          </a:p>
        </p:txBody>
      </p:sp>
      <p:pic>
        <p:nvPicPr>
          <p:cNvPr id="2054" name="Picture 6" descr="What can we learn about design from Netflix? | by Monica Galvan | UX Planet">
            <a:extLst>
              <a:ext uri="{FF2B5EF4-FFF2-40B4-BE49-F238E27FC236}">
                <a16:creationId xmlns:a16="http://schemas.microsoft.com/office/drawing/2014/main" id="{34F491BF-C4A5-3013-38C5-933EFA472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846" y="1692795"/>
            <a:ext cx="3084576" cy="173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82F153-E39E-44F9-B62C-39137CE48177}"/>
              </a:ext>
            </a:extLst>
          </p:cNvPr>
          <p:cNvSpPr txBox="1">
            <a:spLocks/>
          </p:cNvSpPr>
          <p:nvPr/>
        </p:nvSpPr>
        <p:spPr>
          <a:xfrm>
            <a:off x="8988644" y="1323396"/>
            <a:ext cx="2773498" cy="2697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marL="625056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1pPr>
            <a:lvl2pPr marL="937584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2pPr>
            <a:lvl3pPr marL="1250112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3pPr>
            <a:lvl4pPr marL="1562640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4pPr>
            <a:lvl5pPr marL="1875168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5pPr>
            <a:lvl6pPr marL="2125190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6pPr>
            <a:lvl7pPr marL="2375212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7pPr>
            <a:lvl8pPr marL="2625235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8pPr>
            <a:lvl9pPr marL="2875257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223234" indent="0">
              <a:buFontTx/>
              <a:buNone/>
            </a:pPr>
            <a:endParaRPr lang="en-GB" sz="2400" kern="0" dirty="0">
              <a:solidFill>
                <a:srgbClr val="212529"/>
              </a:solidFill>
              <a:latin typeface="SSP Local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5CEE72A-F5CA-6856-F1F6-0A106294F5B5}"/>
              </a:ext>
            </a:extLst>
          </p:cNvPr>
          <p:cNvSpPr txBox="1">
            <a:spLocks/>
          </p:cNvSpPr>
          <p:nvPr/>
        </p:nvSpPr>
        <p:spPr>
          <a:xfrm>
            <a:off x="8378753" y="1672037"/>
            <a:ext cx="3615217" cy="1736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 marL="625056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1pPr>
            <a:lvl2pPr marL="937584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2pPr>
            <a:lvl3pPr marL="1250112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3pPr>
            <a:lvl4pPr marL="1562640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4pPr>
            <a:lvl5pPr marL="1875168" marR="0" indent="-401822" algn="l" defTabSz="410751" rtl="0" latinLnBrk="0">
              <a:lnSpc>
                <a:spcPct val="100000"/>
              </a:lnSpc>
              <a:spcBef>
                <a:spcPts val="1687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5pPr>
            <a:lvl6pPr marL="2125190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6pPr>
            <a:lvl7pPr marL="2375212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7pPr>
            <a:lvl8pPr marL="2625235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8pPr>
            <a:lvl9pPr marL="2875257" marR="0" indent="-401822" algn="l" defTabSz="410751" rtl="0" latinLnBrk="0">
              <a:lnSpc>
                <a:spcPct val="100000"/>
              </a:lnSpc>
              <a:spcBef>
                <a:spcPts val="3375"/>
              </a:spcBef>
              <a:spcAft>
                <a:spcPts val="0"/>
              </a:spcAft>
              <a:buClrTx/>
              <a:buSzPct val="171000"/>
              <a:buFontTx/>
              <a:buChar char="•"/>
              <a:tabLst/>
              <a:defRPr sz="2953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223234" indent="0">
              <a:buFontTx/>
              <a:buNone/>
            </a:pPr>
            <a:r>
              <a:rPr lang="en-GB" sz="1600" kern="0" dirty="0">
                <a:solidFill>
                  <a:srgbClr val="212529"/>
                </a:solidFill>
                <a:latin typeface="SSP Local"/>
              </a:rPr>
              <a:t>Netflix uses python for sever side data analysis and back-end apps</a:t>
            </a:r>
            <a:br>
              <a:rPr lang="en-GB" sz="1600" kern="0" dirty="0">
                <a:solidFill>
                  <a:srgbClr val="212529"/>
                </a:solidFill>
                <a:latin typeface="SSP Local"/>
              </a:rPr>
            </a:br>
            <a:br>
              <a:rPr lang="en-GB" sz="1600" kern="0" dirty="0">
                <a:solidFill>
                  <a:srgbClr val="212529"/>
                </a:solidFill>
                <a:latin typeface="SSP Local"/>
              </a:rPr>
            </a:br>
            <a:r>
              <a:rPr lang="en-GB" sz="1600" kern="0" dirty="0">
                <a:solidFill>
                  <a:srgbClr val="212529"/>
                </a:solidFill>
                <a:latin typeface="SSP Local"/>
              </a:rPr>
              <a:t>These will figure out what your favourite programs are or what recommendations should be made to you</a:t>
            </a:r>
          </a:p>
        </p:txBody>
      </p:sp>
    </p:spTree>
    <p:extLst>
      <p:ext uri="{BB962C8B-B14F-4D97-AF65-F5344CB8AC3E}">
        <p14:creationId xmlns:p14="http://schemas.microsoft.com/office/powerpoint/2010/main" val="3164171993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dictionarie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D</a:t>
            </a:r>
            <a:r>
              <a:rPr dirty="0" err="1"/>
              <a:t>ictionaries</a:t>
            </a:r>
            <a:endParaRPr dirty="0"/>
          </a:p>
        </p:txBody>
      </p:sp>
      <p:sp>
        <p:nvSpPr>
          <p:cNvPr id="354" name="Double-click to edit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dictionar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D</a:t>
            </a:r>
            <a:r>
              <a:rPr err="1"/>
              <a:t>ictionaries</a:t>
            </a:r>
            <a:endParaRPr/>
          </a:p>
        </p:txBody>
      </p:sp>
      <p:sp>
        <p:nvSpPr>
          <p:cNvPr id="357" name="dictionaries are lists of key : value pairs…"/>
          <p:cNvSpPr txBox="1">
            <a:spLocks noGrp="1"/>
          </p:cNvSpPr>
          <p:nvPr>
            <p:ph type="body" idx="1"/>
          </p:nvPr>
        </p:nvSpPr>
        <p:spPr>
          <a:xfrm>
            <a:off x="723901" y="1862138"/>
            <a:ext cx="11249024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dictionaries are lists of key : value pairs</a:t>
            </a:r>
          </a:p>
          <a:p>
            <a:pPr marL="401822"/>
            <a:r>
              <a:t>use curly brackets (and that's all the brackets we have).</a:t>
            </a:r>
          </a:p>
          <a:p>
            <a:pPr marL="401822"/>
            <a:r>
              <a:t>keys must be immutable and unique. </a:t>
            </a:r>
            <a:br>
              <a:rPr/>
            </a:br>
            <a:r>
              <a:t>Values can be duplicates without problem.</a:t>
            </a:r>
          </a:p>
          <a:p>
            <a:pPr marL="401822"/>
            <a:r>
              <a:t>make a dictionary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fav_lang</a:t>
            </a:r>
            <a:r>
              <a:t> = {'</a:t>
            </a:r>
            <a:r>
              <a:rPr err="1"/>
              <a:t>fred</a:t>
            </a:r>
            <a:r>
              <a:t>' : 'python',  '</a:t>
            </a:r>
            <a:r>
              <a:rPr err="1"/>
              <a:t>anne</a:t>
            </a:r>
            <a:r>
              <a:t>' : 'c',</a:t>
            </a:r>
            <a:br>
              <a:rPr/>
            </a:br>
            <a:r>
              <a:t>            'bob' : 'swift', '</a:t>
            </a:r>
            <a:r>
              <a:rPr err="1"/>
              <a:t>alec</a:t>
            </a:r>
            <a:r>
              <a:t>' : '</a:t>
            </a:r>
            <a:r>
              <a:rPr err="1"/>
              <a:t>perl</a:t>
            </a:r>
            <a:r>
              <a:t>' }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dictionar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D</a:t>
            </a:r>
            <a:r>
              <a:rPr err="1"/>
              <a:t>ictionaries</a:t>
            </a:r>
            <a:endParaRPr/>
          </a:p>
        </p:txBody>
      </p:sp>
      <p:sp>
        <p:nvSpPr>
          <p:cNvPr id="362" name="make a dictionary…"/>
          <p:cNvSpPr txBox="1">
            <a:spLocks noGrp="1"/>
          </p:cNvSpPr>
          <p:nvPr>
            <p:ph type="body" idx="1"/>
          </p:nvPr>
        </p:nvSpPr>
        <p:spPr>
          <a:xfrm>
            <a:off x="142876" y="1479947"/>
            <a:ext cx="12049124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make a dictionary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fav_lang</a:t>
            </a:r>
            <a:r>
              <a:t> = {'</a:t>
            </a:r>
            <a:r>
              <a:rPr err="1"/>
              <a:t>fred</a:t>
            </a:r>
            <a:r>
              <a:t>' : 'python',  '</a:t>
            </a:r>
            <a:r>
              <a:rPr err="1"/>
              <a:t>anne</a:t>
            </a:r>
            <a:r>
              <a:t>' : 'c',</a:t>
            </a:r>
            <a:br>
              <a:rPr/>
            </a:br>
            <a:r>
              <a:t>            'bob' : 'swift', '</a:t>
            </a:r>
            <a:r>
              <a:rPr err="1"/>
              <a:t>alec</a:t>
            </a:r>
            <a:r>
              <a:t>' : '</a:t>
            </a:r>
            <a:r>
              <a:rPr err="1"/>
              <a:t>perl</a:t>
            </a:r>
            <a:r>
              <a:t>' }</a:t>
            </a:r>
            <a:br>
              <a:rPr/>
            </a:br>
            <a:r>
              <a:rPr lang="en-GB"/>
              <a:t>    </a:t>
            </a:r>
            <a:r>
              <a:rPr err="1"/>
              <a:t>empty_dict</a:t>
            </a:r>
            <a:r>
              <a:t> = {}</a:t>
            </a:r>
          </a:p>
          <a:p>
            <a:pPr marL="401822"/>
            <a:r>
              <a:t>access a dictionary with a key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fav_lang</a:t>
            </a:r>
            <a:r>
              <a:t> = {'</a:t>
            </a:r>
            <a:r>
              <a:rPr err="1"/>
              <a:t>fred</a:t>
            </a:r>
            <a:r>
              <a:t>' : 'python',  '</a:t>
            </a:r>
            <a:r>
              <a:rPr err="1"/>
              <a:t>anne</a:t>
            </a:r>
            <a:r>
              <a:t>' : 'c',</a:t>
            </a:r>
            <a:br>
              <a:rPr/>
            </a:br>
            <a:r>
              <a:t>            'bob' : 'swift', '</a:t>
            </a:r>
            <a:r>
              <a:rPr err="1"/>
              <a:t>alec</a:t>
            </a:r>
            <a:r>
              <a:t>' : '</a:t>
            </a:r>
            <a:r>
              <a:rPr err="1"/>
              <a:t>perl</a:t>
            </a:r>
            <a:r>
              <a:t>' }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fav_lang</a:t>
            </a:r>
            <a:r>
              <a:t>['</a:t>
            </a:r>
            <a:r>
              <a:rPr err="1"/>
              <a:t>fred</a:t>
            </a:r>
            <a:r>
              <a:t>'])      </a:t>
            </a:r>
            <a:r>
              <a:rPr>
                <a:solidFill>
                  <a:srgbClr val="0433FF"/>
                </a:solidFill>
              </a:rPr>
              <a:t># python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fav_lang.get</a:t>
            </a:r>
            <a:r>
              <a:t>('</a:t>
            </a:r>
            <a:r>
              <a:rPr err="1"/>
              <a:t>fred</a:t>
            </a:r>
            <a:r>
              <a:t>'))  </a:t>
            </a:r>
            <a:r>
              <a:rPr>
                <a:solidFill>
                  <a:srgbClr val="0433FF"/>
                </a:solidFill>
              </a:rPr>
              <a:t># python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fav_lang</a:t>
            </a:r>
            <a:r>
              <a:t>['bob'] = 'ruby'     </a:t>
            </a:r>
            <a:r>
              <a:rPr>
                <a:solidFill>
                  <a:srgbClr val="0433FF"/>
                </a:solidFill>
              </a:rPr>
              <a:t># modifying swift-&gt;ruby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del </a:t>
            </a:r>
            <a:r>
              <a:rPr err="1"/>
              <a:t>fav_lang</a:t>
            </a:r>
            <a:r>
              <a:t>['</a:t>
            </a:r>
            <a:r>
              <a:rPr err="1"/>
              <a:t>alec</a:t>
            </a:r>
            <a:r>
              <a:t>']         </a:t>
            </a:r>
            <a:r>
              <a:rPr>
                <a:solidFill>
                  <a:srgbClr val="0433FF"/>
                </a:solidFill>
              </a:rPr>
              <a:t># deleting pair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dictionar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D</a:t>
            </a:r>
            <a:r>
              <a:rPr err="1"/>
              <a:t>ictionaries</a:t>
            </a:r>
            <a:endParaRPr/>
          </a:p>
        </p:txBody>
      </p:sp>
      <p:sp>
        <p:nvSpPr>
          <p:cNvPr id="367" name="adding to a dictionary…"/>
          <p:cNvSpPr txBox="1">
            <a:spLocks noGrp="1"/>
          </p:cNvSpPr>
          <p:nvPr>
            <p:ph type="body" idx="1"/>
          </p:nvPr>
        </p:nvSpPr>
        <p:spPr>
          <a:xfrm>
            <a:off x="200025" y="1479351"/>
            <a:ext cx="11791950" cy="489653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/>
              <a:t>adding to a dictionary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fav_lang</a:t>
            </a:r>
            <a:r>
              <a:rPr sz="2200"/>
              <a:t> = {'</a:t>
            </a:r>
            <a:r>
              <a:rPr sz="2200" err="1"/>
              <a:t>fred</a:t>
            </a:r>
            <a:r>
              <a:rPr sz="2200"/>
              <a:t>' : 'python',  '</a:t>
            </a:r>
            <a:r>
              <a:rPr sz="2200" err="1"/>
              <a:t>anne</a:t>
            </a:r>
            <a:r>
              <a:rPr sz="2200"/>
              <a:t>' : 'c',</a:t>
            </a:r>
            <a:br>
              <a:rPr sz="2200"/>
            </a:br>
            <a:r>
              <a:rPr sz="2200"/>
              <a:t>            'bob' : 'swift', '</a:t>
            </a:r>
            <a:r>
              <a:rPr sz="2200" err="1"/>
              <a:t>alec</a:t>
            </a:r>
            <a:r>
              <a:rPr sz="2200"/>
              <a:t>' : '</a:t>
            </a:r>
            <a:r>
              <a:rPr sz="2200" err="1"/>
              <a:t>perl</a:t>
            </a:r>
            <a:r>
              <a:rPr sz="2200"/>
              <a:t>' }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fav_lang</a:t>
            </a:r>
            <a:r>
              <a:rPr sz="2200"/>
              <a:t>['</a:t>
            </a:r>
            <a:r>
              <a:rPr sz="2200" err="1"/>
              <a:t>steve</a:t>
            </a:r>
            <a:r>
              <a:rPr sz="2200"/>
              <a:t>'] = 'forth'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# note that the keys and values can be numbers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# and the keys and values can be heterogeneous</a:t>
            </a:r>
          </a:p>
          <a:p>
            <a:pPr marL="401822"/>
            <a:r>
              <a:rPr sz="2200"/>
              <a:t>looping through dictionaries -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for name, lang in </a:t>
            </a:r>
            <a:r>
              <a:rPr sz="2200" err="1"/>
              <a:t>fav_lang.items</a:t>
            </a:r>
            <a:r>
              <a:rPr sz="2200"/>
              <a:t>():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print(</a:t>
            </a:r>
            <a:r>
              <a:rPr sz="2200" err="1"/>
              <a:t>name,lang</a:t>
            </a:r>
            <a:r>
              <a:rPr sz="2200"/>
              <a:t>)     </a:t>
            </a:r>
            <a:r>
              <a:rPr sz="2200">
                <a:solidFill>
                  <a:srgbClr val="0433FF"/>
                </a:solidFill>
              </a:rPr>
              <a:t># both key and value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for name in </a:t>
            </a:r>
            <a:r>
              <a:rPr sz="2200" err="1"/>
              <a:t>fav_lang.keys</a:t>
            </a:r>
            <a:r>
              <a:rPr sz="2200"/>
              <a:t>():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print(name)          </a:t>
            </a:r>
            <a:r>
              <a:rPr sz="2200">
                <a:solidFill>
                  <a:srgbClr val="0433FF"/>
                </a:solidFill>
              </a:rPr>
              <a:t># keys only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for lang in </a:t>
            </a:r>
            <a:r>
              <a:rPr sz="2200" err="1"/>
              <a:t>fav_lang.values</a:t>
            </a:r>
            <a:r>
              <a:rPr sz="2200"/>
              <a:t>():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print(lang)          </a:t>
            </a:r>
            <a:r>
              <a:rPr sz="2200">
                <a:solidFill>
                  <a:srgbClr val="0433FF"/>
                </a:solidFill>
              </a:rPr>
              <a:t># values only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>
                <a:solidFill>
                  <a:srgbClr val="0433FF"/>
                </a:solidFill>
              </a:rPr>
              <a:t># all these are unsorted - python doesn't order them</a:t>
            </a:r>
            <a:r>
              <a:rPr>
                <a:solidFill>
                  <a:srgbClr val="0433FF"/>
                </a:solidFill>
              </a:rPr>
              <a:t> </a:t>
            </a:r>
            <a:r>
              <a:t>   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dictionaries"/>
          <p:cNvSpPr txBox="1">
            <a:spLocks noGrp="1"/>
          </p:cNvSpPr>
          <p:nvPr>
            <p:ph type="title"/>
          </p:nvPr>
        </p:nvSpPr>
        <p:spPr>
          <a:xfrm>
            <a:off x="1190625" y="-44649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</a:t>
            </a:r>
            <a:r>
              <a:rPr err="1"/>
              <a:t>ictionaries</a:t>
            </a:r>
            <a:endParaRPr/>
          </a:p>
        </p:txBody>
      </p:sp>
      <p:sp>
        <p:nvSpPr>
          <p:cNvPr id="372" name="all the stuff that was useful in lists - length of dictionary, being able to pop and add items, etc) available in dictionaries…"/>
          <p:cNvSpPr txBox="1">
            <a:spLocks noGrp="1"/>
          </p:cNvSpPr>
          <p:nvPr>
            <p:ph type="body" idx="1"/>
          </p:nvPr>
        </p:nvSpPr>
        <p:spPr>
          <a:xfrm>
            <a:off x="381001" y="1669851"/>
            <a:ext cx="11706224" cy="489653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all the stuff that was useful in lists - length of dictionary, being able to pop and add items, </a:t>
            </a:r>
            <a:r>
              <a:rPr err="1"/>
              <a:t>etc</a:t>
            </a:r>
            <a:r>
              <a:t>) available in dictionaries </a:t>
            </a:r>
          </a:p>
          <a:p>
            <a:pPr marL="401822"/>
            <a:r>
              <a:t>unordered, so slicing isn't useful !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for name, lang in </a:t>
            </a:r>
            <a:r>
              <a:rPr err="1"/>
              <a:t>fav_lang.items</a:t>
            </a:r>
            <a:r>
              <a:t>():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</a:t>
            </a:r>
            <a:r>
              <a:rPr err="1"/>
              <a:t>name,lang</a:t>
            </a:r>
            <a:r>
              <a:t>)     </a:t>
            </a:r>
            <a:r>
              <a:rPr>
                <a:solidFill>
                  <a:srgbClr val="0433FF"/>
                </a:solidFill>
              </a:rPr>
              <a:t># both key and value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for name in </a:t>
            </a:r>
            <a:r>
              <a:rPr err="1"/>
              <a:t>fav_lang.keys</a:t>
            </a:r>
            <a:r>
              <a:t>():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print(name)          </a:t>
            </a:r>
            <a:r>
              <a:rPr>
                <a:solidFill>
                  <a:srgbClr val="0433FF"/>
                </a:solidFill>
              </a:rPr>
              <a:t># keys only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for lang in </a:t>
            </a:r>
            <a:r>
              <a:rPr err="1"/>
              <a:t>fav_lang.values</a:t>
            </a:r>
            <a:r>
              <a:t>():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print(lang)          </a:t>
            </a:r>
            <a:r>
              <a:rPr>
                <a:solidFill>
                  <a:srgbClr val="0433FF"/>
                </a:solidFill>
              </a:rPr>
              <a:t># values only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# all these are unsorted - python doesn't order them </a:t>
            </a:r>
            <a:r>
              <a:t>   </a:t>
            </a: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7A13-F4DF-2187-4413-3B26CE42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178594"/>
            <a:ext cx="9810750" cy="1098115"/>
          </a:xfrm>
        </p:spPr>
        <p:txBody>
          <a:bodyPr/>
          <a:lstStyle/>
          <a:p>
            <a:r>
              <a:rPr lang="en-US" dirty="0"/>
              <a:t>Dictionary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7C82-D3ED-202C-3C0F-9A0CAE6AACC4}"/>
              </a:ext>
            </a:extLst>
          </p:cNvPr>
          <p:cNvSpPr txBox="1"/>
          <p:nvPr/>
        </p:nvSpPr>
        <p:spPr>
          <a:xfrm>
            <a:off x="456165" y="1860638"/>
            <a:ext cx="6098874" cy="3693319"/>
          </a:xfrm>
          <a:prstGeom prst="rect">
            <a:avLst/>
          </a:prstGeom>
          <a:noFill/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#Setup the dictionary- You need to say what country and its capital</a:t>
            </a:r>
          </a:p>
          <a:p>
            <a:r>
              <a:rPr lang="en-US" dirty="0" err="1"/>
              <a:t>country_capitals</a:t>
            </a:r>
            <a:r>
              <a:rPr lang="en-US" dirty="0"/>
              <a:t> = {</a:t>
            </a:r>
          </a:p>
          <a:p>
            <a:r>
              <a:rPr lang="en-US" dirty="0"/>
              <a:t>  "United States": "Washington D.C.", </a:t>
            </a:r>
          </a:p>
          <a:p>
            <a:r>
              <a:rPr lang="en-US" dirty="0"/>
              <a:t>  "Italy": "Rome", </a:t>
            </a:r>
          </a:p>
          <a:p>
            <a:r>
              <a:rPr lang="en-US" dirty="0"/>
              <a:t>  "England": "London"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country_capitals</a:t>
            </a:r>
            <a:r>
              <a:rPr lang="en-US" dirty="0"/>
              <a:t>["United States"])  # Washington D.C.</a:t>
            </a:r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country_capitals</a:t>
            </a:r>
            <a:r>
              <a:rPr lang="en-US" dirty="0"/>
              <a:t>["England"]) # London</a:t>
            </a:r>
          </a:p>
          <a:p>
            <a:endParaRPr lang="en-US" dirty="0"/>
          </a:p>
          <a:p>
            <a:r>
              <a:rPr lang="en-US" dirty="0"/>
              <a:t>Answer outputs Washington D.C and London</a:t>
            </a:r>
          </a:p>
        </p:txBody>
      </p:sp>
      <p:pic>
        <p:nvPicPr>
          <p:cNvPr id="1028" name="Picture 4" descr="U.S. Capitol dome">
            <a:extLst>
              <a:ext uri="{FF2B5EF4-FFF2-40B4-BE49-F238E27FC236}">
                <a16:creationId xmlns:a16="http://schemas.microsoft.com/office/drawing/2014/main" id="{9DC88C8D-7176-9F18-1E22-43053F2C5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576" y="1860639"/>
            <a:ext cx="5109510" cy="215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ndon: A History">
            <a:extLst>
              <a:ext uri="{FF2B5EF4-FFF2-40B4-BE49-F238E27FC236}">
                <a16:creationId xmlns:a16="http://schemas.microsoft.com/office/drawing/2014/main" id="{D8875AAA-7BFE-BD0A-34AD-AED9A7286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576" y="4242592"/>
            <a:ext cx="5102352" cy="231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546714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8F30531-16BE-1D4A-839A-4165196E5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5652120" y="4237877"/>
            <a:chExt cx="3413095" cy="85415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2BC779-2AC3-3641-A89B-2FE2861B804B}"/>
                </a:ext>
              </a:extLst>
            </p:cNvPr>
            <p:cNvSpPr txBox="1"/>
            <p:nvPr/>
          </p:nvSpPr>
          <p:spPr>
            <a:xfrm>
              <a:off x="5652120" y="4237877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6B7AFC7-4175-6442-9F4D-48AB39DA3335}"/>
                </a:ext>
              </a:extLst>
            </p:cNvPr>
            <p:cNvSpPr txBox="1"/>
            <p:nvPr/>
          </p:nvSpPr>
          <p:spPr>
            <a:xfrm>
              <a:off x="6365423" y="4630365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F23C76-7323-9246-828B-CE7B4F0B6ACB}"/>
                </a:ext>
              </a:extLst>
            </p:cNvPr>
            <p:cNvGrpSpPr/>
            <p:nvPr/>
          </p:nvGrpSpPr>
          <p:grpSpPr>
            <a:xfrm>
              <a:off x="5868144" y="4759697"/>
              <a:ext cx="870873" cy="246401"/>
              <a:chOff x="-704667" y="465075"/>
              <a:chExt cx="718929" cy="20341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DA074F8-3E2D-4044-BD93-0EE72365F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468635" y="466885"/>
                <a:ext cx="242653" cy="2016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B162D4C-911F-884F-8B17-FF2DA1BA81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187338" y="466885"/>
                <a:ext cx="201600" cy="2016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43EFC0B-FA40-FC40-8378-CA0BB8B802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704667" y="465075"/>
                <a:ext cx="197388" cy="197388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br>
              <a:rPr lang="en-GB">
                <a:solidFill>
                  <a:schemeClr val="bg1"/>
                </a:solidFill>
              </a:rPr>
            </a:br>
            <a:br>
              <a:rPr lang="en-GB">
                <a:solidFill>
                  <a:schemeClr val="bg1"/>
                </a:solidFill>
              </a:rPr>
            </a:br>
            <a:r>
              <a:rPr lang="en-GB">
                <a:solidFill>
                  <a:schemeClr val="bg1"/>
                </a:solidFill>
              </a:rPr>
              <a:t>Thank you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C3477AF0C32F4CAC49E6EEAF05E6C3" ma:contentTypeVersion="12" ma:contentTypeDescription="Create a new document." ma:contentTypeScope="" ma:versionID="1ba8c17be94dcb5b75e979095227705f">
  <xsd:schema xmlns:xsd="http://www.w3.org/2001/XMLSchema" xmlns:xs="http://www.w3.org/2001/XMLSchema" xmlns:p="http://schemas.microsoft.com/office/2006/metadata/properties" xmlns:ns2="81be7cfd-548d-4303-8097-97bebd0ee4cc" xmlns:ns3="b234acbb-5041-4803-ac76-ed67d5f310b1" targetNamespace="http://schemas.microsoft.com/office/2006/metadata/properties" ma:root="true" ma:fieldsID="06216d9f205773ea0cf57edb98145fa9" ns2:_="" ns3:_="">
    <xsd:import namespace="81be7cfd-548d-4303-8097-97bebd0ee4cc"/>
    <xsd:import namespace="b234acbb-5041-4803-ac76-ed67d5f310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e7cfd-548d-4303-8097-97bebd0ee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34acbb-5041-4803-ac76-ed67d5f310b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f04b43c-2349-433e-a3f0-740142a8de10}" ma:internalName="TaxCatchAll" ma:showField="CatchAllData" ma:web="b234acbb-5041-4803-ac76-ed67d5f310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be7cfd-548d-4303-8097-97bebd0ee4cc">
      <Terms xmlns="http://schemas.microsoft.com/office/infopath/2007/PartnerControls"/>
    </lcf76f155ced4ddcb4097134ff3c332f>
    <TaxCatchAll xmlns="b234acbb-5041-4803-ac76-ed67d5f310b1" xsi:nil="true"/>
  </documentManagement>
</p:properties>
</file>

<file path=customXml/itemProps1.xml><?xml version="1.0" encoding="utf-8"?>
<ds:datastoreItem xmlns:ds="http://schemas.openxmlformats.org/officeDocument/2006/customXml" ds:itemID="{CFF8FB15-F7AC-408D-8D9A-2EA29735DF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08A3E2-5378-47CC-B328-03A331FC1F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be7cfd-548d-4303-8097-97bebd0ee4cc"/>
    <ds:schemaRef ds:uri="b234acbb-5041-4803-ac76-ed67d5f310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855FB9-22C2-482E-A3FB-CDF5FB3C4AD4}">
  <ds:schemaRefs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b234acbb-5041-4803-ac76-ed67d5f310b1"/>
    <ds:schemaRef ds:uri="81be7cfd-548d-4303-8097-97bebd0ee4cc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</TotalTime>
  <Words>5604</Words>
  <Application>Microsoft Office PowerPoint</Application>
  <PresentationFormat>Widescreen</PresentationFormat>
  <Paragraphs>681</Paragraphs>
  <Slides>59</Slides>
  <Notes>37</Notes>
  <HiddenSlides>1</HiddenSlides>
  <MMClips>2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1" baseType="lpstr">
      <vt:lpstr>Office Theme</vt:lpstr>
      <vt:lpstr>White</vt:lpstr>
      <vt:lpstr>Professor David Flynn </vt:lpstr>
      <vt:lpstr>Loops and Control</vt:lpstr>
      <vt:lpstr>Statements</vt:lpstr>
      <vt:lpstr>Statements</vt:lpstr>
      <vt:lpstr>Compound Statements</vt:lpstr>
      <vt:lpstr>Functions &amp; variable scope</vt:lpstr>
      <vt:lpstr>Class Question…</vt:lpstr>
      <vt:lpstr>Decision making</vt:lpstr>
      <vt:lpstr>if statements</vt:lpstr>
      <vt:lpstr>if statements</vt:lpstr>
      <vt:lpstr>if statements</vt:lpstr>
      <vt:lpstr>if statements</vt:lpstr>
      <vt:lpstr>if statements</vt:lpstr>
      <vt:lpstr>if statements</vt:lpstr>
      <vt:lpstr>Money Management Example</vt:lpstr>
      <vt:lpstr>While Loops</vt:lpstr>
      <vt:lpstr>Loops</vt:lpstr>
      <vt:lpstr>While</vt:lpstr>
      <vt:lpstr>While</vt:lpstr>
      <vt:lpstr>Loops</vt:lpstr>
      <vt:lpstr>While = sentinel</vt:lpstr>
      <vt:lpstr>Getting out early !</vt:lpstr>
      <vt:lpstr>Doing other stuff !</vt:lpstr>
      <vt:lpstr>Summary Example</vt:lpstr>
      <vt:lpstr>First Newton’s Method</vt:lpstr>
      <vt:lpstr>Newton’s Method</vt:lpstr>
      <vt:lpstr>Square root by Newton</vt:lpstr>
      <vt:lpstr>√ by Newton, 2</vt:lpstr>
      <vt:lpstr>For loops</vt:lpstr>
      <vt:lpstr>for</vt:lpstr>
      <vt:lpstr>PowerPoint Presentation</vt:lpstr>
      <vt:lpstr>Example 1- Level Easy</vt:lpstr>
      <vt:lpstr>Example 2- Level Difficult</vt:lpstr>
      <vt:lpstr>for - taster</vt:lpstr>
      <vt:lpstr>for - taster</vt:lpstr>
      <vt:lpstr>tuples, lists, dictionaries</vt:lpstr>
      <vt:lpstr>Tuples</vt:lpstr>
      <vt:lpstr>Tuples</vt:lpstr>
      <vt:lpstr>Lists</vt:lpstr>
      <vt:lpstr>lists - useful actions </vt:lpstr>
      <vt:lpstr>lists - useful actions</vt:lpstr>
      <vt:lpstr>lists - useful actions</vt:lpstr>
      <vt:lpstr>lists - useful actions</vt:lpstr>
      <vt:lpstr>lists - useful actions</vt:lpstr>
      <vt:lpstr>Ranges</vt:lpstr>
      <vt:lpstr>Copying and slicing</vt:lpstr>
      <vt:lpstr>Accessing elements</vt:lpstr>
      <vt:lpstr>for example: 2</vt:lpstr>
      <vt:lpstr>for example: 3</vt:lpstr>
      <vt:lpstr>for example: 3</vt:lpstr>
      <vt:lpstr>for example: 3</vt:lpstr>
      <vt:lpstr>Apps that use Python</vt:lpstr>
      <vt:lpstr>Dictionaries</vt:lpstr>
      <vt:lpstr>Dictionaries</vt:lpstr>
      <vt:lpstr>Dictionaries</vt:lpstr>
      <vt:lpstr>Dictionaries</vt:lpstr>
      <vt:lpstr>Dictionaries</vt:lpstr>
      <vt:lpstr>Dictionary Example</vt:lpstr>
      <vt:lpstr>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Howard</dc:creator>
  <cp:lastModifiedBy>Daniel Mitchell (PGR)</cp:lastModifiedBy>
  <cp:revision>5</cp:revision>
  <dcterms:created xsi:type="dcterms:W3CDTF">2021-01-06T14:22:07Z</dcterms:created>
  <dcterms:modified xsi:type="dcterms:W3CDTF">2026-09-15T13:54:45Z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0x01010074C3477AF0C32F4CAC49E6EEAF05E6C3</vt:lpwstr>
  </property>
  <property fmtid="{D5CDD505-2E9C-101B-9397-08002B2CF9AE}" pid="3" name="MediaServiceImageTags">
    <vt:lpwstr/>
  </property>
</Properties>
</file>